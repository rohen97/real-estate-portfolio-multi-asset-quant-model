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IBM Plex Sans" panose="020B0503050203000203" pitchFamily="34" charset="0"/>
      <p:regular r:id="rId25"/>
    </p:embeddedFont>
    <p:embeddedFont>
      <p:font typeface="IBM Plex Sans Light" panose="020B0403050203000203" pitchFamily="34" charset="0"/>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lineChart>
        <c:grouping val="standard"/>
        <c:varyColors val="0"/>
        <c:ser>
          <c:idx val="0"/>
          <c:order val="0"/>
          <c:tx>
            <c:strRef>
              <c:f>Sheet1!$B$1</c:f>
              <c:strCache>
                <c:ptCount val="1"/>
                <c:pt idx="0">
                  <c:v>Residential</c:v>
                </c:pt>
              </c:strCache>
            </c:strRef>
          </c:tx>
          <c:spPr>
            <a:ln w="31750">
              <a:solidFill>
                <a:srgbClr val="0F62FE"/>
              </a:solidFill>
            </a:ln>
          </c:spPr>
          <c:marker>
            <c:symbol val="none"/>
          </c:marker>
          <c:cat>
            <c:strRef>
              <c:f>Sheet1!$A$2:$A$23</c:f>
              <c:strCache>
                <c:ptCount val="22"/>
                <c:pt idx="0">
                  <c:v>2021 Q1</c:v>
                </c:pt>
                <c:pt idx="4">
                  <c:v>2022 Q1</c:v>
                </c:pt>
                <c:pt idx="8">
                  <c:v>2023 Q1</c:v>
                </c:pt>
                <c:pt idx="12">
                  <c:v>2024 Q1</c:v>
                </c:pt>
                <c:pt idx="16">
                  <c:v>2025 Q1</c:v>
                </c:pt>
                <c:pt idx="20">
                  <c:v>2026 Q1</c:v>
                </c:pt>
              </c:strCache>
            </c:strRef>
          </c:cat>
          <c:val>
            <c:numRef>
              <c:f>Sheet1!$B$2:$B$23</c:f>
              <c:numCache>
                <c:formatCode>General</c:formatCode>
                <c:ptCount val="22"/>
                <c:pt idx="0">
                  <c:v>100</c:v>
                </c:pt>
                <c:pt idx="1">
                  <c:v>100.80147965474724</c:v>
                </c:pt>
                <c:pt idx="2">
                  <c:v>101.91122071516648</c:v>
                </c:pt>
                <c:pt idx="3">
                  <c:v>107.02836004932183</c:v>
                </c:pt>
                <c:pt idx="4">
                  <c:v>107.76818742293466</c:v>
                </c:pt>
                <c:pt idx="5">
                  <c:v>111.52897657213319</c:v>
                </c:pt>
                <c:pt idx="6">
                  <c:v>115.78298397040692</c:v>
                </c:pt>
                <c:pt idx="7">
                  <c:v>116.27620221948212</c:v>
                </c:pt>
                <c:pt idx="8">
                  <c:v>120.09864364981506</c:v>
                </c:pt>
                <c:pt idx="9">
                  <c:v>119.85203452527745</c:v>
                </c:pt>
                <c:pt idx="10">
                  <c:v>120.83847102342789</c:v>
                </c:pt>
                <c:pt idx="11">
                  <c:v>124.22934648581997</c:v>
                </c:pt>
                <c:pt idx="12">
                  <c:v>125.95561035758325</c:v>
                </c:pt>
                <c:pt idx="13">
                  <c:v>127.06535141800248</c:v>
                </c:pt>
                <c:pt idx="14">
                  <c:v>126.20221948212085</c:v>
                </c:pt>
                <c:pt idx="15">
                  <c:v>129.09987669543773</c:v>
                </c:pt>
                <c:pt idx="16">
                  <c:v>130.14796547472255</c:v>
                </c:pt>
                <c:pt idx="17">
                  <c:v>131.44266337854501</c:v>
                </c:pt>
                <c:pt idx="18">
                  <c:v>132.61405672009866</c:v>
                </c:pt>
                <c:pt idx="19">
                  <c:v>133.41553637484589</c:v>
                </c:pt>
                <c:pt idx="20">
                  <c:v>134.58692971639951</c:v>
                </c:pt>
                <c:pt idx="21">
                  <c:v>135.26510480887794</c:v>
                </c:pt>
              </c:numCache>
            </c:numRef>
          </c:val>
          <c:smooth val="0"/>
          <c:extLst>
            <c:ext xmlns:c16="http://schemas.microsoft.com/office/drawing/2014/chart" uri="{C3380CC4-5D6E-409C-BE32-E72D297353CC}">
              <c16:uniqueId val="{00000000-5C02-4529-BC15-D4CBAE2E6F38}"/>
            </c:ext>
          </c:extLst>
        </c:ser>
        <c:ser>
          <c:idx val="1"/>
          <c:order val="1"/>
          <c:tx>
            <c:strRef>
              <c:f>Sheet1!$C$1</c:f>
              <c:strCache>
                <c:ptCount val="1"/>
                <c:pt idx="0">
                  <c:v>Office</c:v>
                </c:pt>
              </c:strCache>
            </c:strRef>
          </c:tx>
          <c:spPr>
            <a:ln w="31750">
              <a:solidFill>
                <a:srgbClr val="008578"/>
              </a:solidFill>
            </a:ln>
          </c:spPr>
          <c:marker>
            <c:symbol val="none"/>
          </c:marker>
          <c:cat>
            <c:strRef>
              <c:f>Sheet1!$A$2:$A$23</c:f>
              <c:strCache>
                <c:ptCount val="22"/>
                <c:pt idx="0">
                  <c:v>2021 Q1</c:v>
                </c:pt>
                <c:pt idx="4">
                  <c:v>2022 Q1</c:v>
                </c:pt>
                <c:pt idx="8">
                  <c:v>2023 Q1</c:v>
                </c:pt>
                <c:pt idx="12">
                  <c:v>2024 Q1</c:v>
                </c:pt>
                <c:pt idx="16">
                  <c:v>2025 Q1</c:v>
                </c:pt>
                <c:pt idx="20">
                  <c:v>2026 Q1</c:v>
                </c:pt>
              </c:strCache>
            </c:strRef>
          </c:cat>
          <c:val>
            <c:numRef>
              <c:f>Sheet1!$C$2:$C$23</c:f>
              <c:numCache>
                <c:formatCode>General</c:formatCode>
                <c:ptCount val="22"/>
                <c:pt idx="0">
                  <c:v>100</c:v>
                </c:pt>
                <c:pt idx="1">
                  <c:v>100.91666666666666</c:v>
                </c:pt>
                <c:pt idx="2">
                  <c:v>98.5</c:v>
                </c:pt>
                <c:pt idx="3">
                  <c:v>96.749999999999986</c:v>
                </c:pt>
                <c:pt idx="4">
                  <c:v>101</c:v>
                </c:pt>
                <c:pt idx="5">
                  <c:v>95.833333333333343</c:v>
                </c:pt>
                <c:pt idx="6">
                  <c:v>93.25</c:v>
                </c:pt>
                <c:pt idx="7">
                  <c:v>96.666666666666671</c:v>
                </c:pt>
                <c:pt idx="8">
                  <c:v>96.666666666666671</c:v>
                </c:pt>
                <c:pt idx="9">
                  <c:v>97.666666666666671</c:v>
                </c:pt>
                <c:pt idx="10">
                  <c:v>98.416666666666657</c:v>
                </c:pt>
                <c:pt idx="11">
                  <c:v>92.583333333333329</c:v>
                </c:pt>
                <c:pt idx="12">
                  <c:v>91.499999999999986</c:v>
                </c:pt>
                <c:pt idx="13">
                  <c:v>94.333333333333343</c:v>
                </c:pt>
                <c:pt idx="14">
                  <c:v>94.916666666666671</c:v>
                </c:pt>
                <c:pt idx="15">
                  <c:v>94.25</c:v>
                </c:pt>
                <c:pt idx="16">
                  <c:v>94.083333333333343</c:v>
                </c:pt>
                <c:pt idx="17">
                  <c:v>93.083333333333343</c:v>
                </c:pt>
                <c:pt idx="18">
                  <c:v>92.916666666666671</c:v>
                </c:pt>
                <c:pt idx="19">
                  <c:v>92.25</c:v>
                </c:pt>
                <c:pt idx="20">
                  <c:v>92.416666666666671</c:v>
                </c:pt>
                <c:pt idx="21">
                  <c:v>92.75</c:v>
                </c:pt>
              </c:numCache>
            </c:numRef>
          </c:val>
          <c:smooth val="0"/>
          <c:extLst>
            <c:ext xmlns:c16="http://schemas.microsoft.com/office/drawing/2014/chart" uri="{C3380CC4-5D6E-409C-BE32-E72D297353CC}">
              <c16:uniqueId val="{00000001-5C02-4529-BC15-D4CBAE2E6F38}"/>
            </c:ext>
          </c:extLst>
        </c:ser>
        <c:ser>
          <c:idx val="2"/>
          <c:order val="2"/>
          <c:tx>
            <c:strRef>
              <c:f>Sheet1!$D$1</c:f>
              <c:strCache>
                <c:ptCount val="1"/>
                <c:pt idx="0">
                  <c:v>Retail</c:v>
                </c:pt>
              </c:strCache>
            </c:strRef>
          </c:tx>
          <c:spPr>
            <a:ln w="31750">
              <a:solidFill>
                <a:srgbClr val="D58A28"/>
              </a:solidFill>
            </a:ln>
          </c:spPr>
          <c:marker>
            <c:symbol val="none"/>
          </c:marker>
          <c:cat>
            <c:strRef>
              <c:f>Sheet1!$A$2:$A$23</c:f>
              <c:strCache>
                <c:ptCount val="22"/>
                <c:pt idx="0">
                  <c:v>2021 Q1</c:v>
                </c:pt>
                <c:pt idx="4">
                  <c:v>2022 Q1</c:v>
                </c:pt>
                <c:pt idx="8">
                  <c:v>2023 Q1</c:v>
                </c:pt>
                <c:pt idx="12">
                  <c:v>2024 Q1</c:v>
                </c:pt>
                <c:pt idx="16">
                  <c:v>2025 Q1</c:v>
                </c:pt>
                <c:pt idx="20">
                  <c:v>2026 Q1</c:v>
                </c:pt>
              </c:strCache>
            </c:strRef>
          </c:cat>
          <c:val>
            <c:numRef>
              <c:f>Sheet1!$D$2:$D$23</c:f>
              <c:numCache>
                <c:formatCode>General</c:formatCode>
                <c:ptCount val="22"/>
                <c:pt idx="0">
                  <c:v>100</c:v>
                </c:pt>
                <c:pt idx="1">
                  <c:v>97.153700189753323</c:v>
                </c:pt>
                <c:pt idx="2">
                  <c:v>97.153700189753323</c:v>
                </c:pt>
                <c:pt idx="3">
                  <c:v>98.956356736242881</c:v>
                </c:pt>
                <c:pt idx="4">
                  <c:v>97.533206831119529</c:v>
                </c:pt>
                <c:pt idx="5">
                  <c:v>96.394686907020869</c:v>
                </c:pt>
                <c:pt idx="6">
                  <c:v>93.263757115749513</c:v>
                </c:pt>
                <c:pt idx="7">
                  <c:v>91.271347248576845</c:v>
                </c:pt>
                <c:pt idx="8">
                  <c:v>90.417457305502836</c:v>
                </c:pt>
                <c:pt idx="9">
                  <c:v>90.702087286527501</c:v>
                </c:pt>
                <c:pt idx="10">
                  <c:v>91.271347248576845</c:v>
                </c:pt>
                <c:pt idx="11">
                  <c:v>92.409867172675519</c:v>
                </c:pt>
                <c:pt idx="12">
                  <c:v>94.117647058823522</c:v>
                </c:pt>
                <c:pt idx="13">
                  <c:v>92.979127134724848</c:v>
                </c:pt>
                <c:pt idx="14">
                  <c:v>94.592030360531311</c:v>
                </c:pt>
                <c:pt idx="15">
                  <c:v>93.358633776091082</c:v>
                </c:pt>
                <c:pt idx="16">
                  <c:v>95.161290322580641</c:v>
                </c:pt>
                <c:pt idx="17">
                  <c:v>95.256166982922196</c:v>
                </c:pt>
                <c:pt idx="18">
                  <c:v>94.592030360531311</c:v>
                </c:pt>
                <c:pt idx="19">
                  <c:v>96.204933586337759</c:v>
                </c:pt>
                <c:pt idx="20">
                  <c:v>98.292220113851982</c:v>
                </c:pt>
                <c:pt idx="21">
                  <c:v>99.051233396584436</c:v>
                </c:pt>
              </c:numCache>
            </c:numRef>
          </c:val>
          <c:smooth val="0"/>
          <c:extLst>
            <c:ext xmlns:c16="http://schemas.microsoft.com/office/drawing/2014/chart" uri="{C3380CC4-5D6E-409C-BE32-E72D297353CC}">
              <c16:uniqueId val="{00000002-5C02-4529-BC15-D4CBAE2E6F38}"/>
            </c:ext>
          </c:extLst>
        </c:ser>
        <c:ser>
          <c:idx val="3"/>
          <c:order val="3"/>
          <c:tx>
            <c:strRef>
              <c:f>Sheet1!$E$1</c:f>
              <c:strCache>
                <c:ptCount val="1"/>
                <c:pt idx="0">
                  <c:v>Industrial</c:v>
                </c:pt>
              </c:strCache>
            </c:strRef>
          </c:tx>
          <c:spPr>
            <a:ln w="31750">
              <a:solidFill>
                <a:srgbClr val="8A3FFC"/>
              </a:solidFill>
            </a:ln>
          </c:spPr>
          <c:marker>
            <c:symbol val="none"/>
          </c:marker>
          <c:cat>
            <c:strRef>
              <c:f>Sheet1!$A$2:$A$23</c:f>
              <c:strCache>
                <c:ptCount val="22"/>
                <c:pt idx="0">
                  <c:v>2021 Q1</c:v>
                </c:pt>
                <c:pt idx="4">
                  <c:v>2022 Q1</c:v>
                </c:pt>
                <c:pt idx="8">
                  <c:v>2023 Q1</c:v>
                </c:pt>
                <c:pt idx="12">
                  <c:v>2024 Q1</c:v>
                </c:pt>
                <c:pt idx="16">
                  <c:v>2025 Q1</c:v>
                </c:pt>
                <c:pt idx="20">
                  <c:v>2026 Q1</c:v>
                </c:pt>
              </c:strCache>
            </c:strRef>
          </c:cat>
          <c:val>
            <c:numRef>
              <c:f>Sheet1!$E$2:$E$23</c:f>
              <c:numCache>
                <c:formatCode>General</c:formatCode>
                <c:ptCount val="22"/>
                <c:pt idx="0">
                  <c:v>100</c:v>
                </c:pt>
                <c:pt idx="1">
                  <c:v>101.8161180476731</c:v>
                </c:pt>
                <c:pt idx="2">
                  <c:v>101.92962542565267</c:v>
                </c:pt>
                <c:pt idx="3">
                  <c:v>103.40522133938705</c:v>
                </c:pt>
                <c:pt idx="4">
                  <c:v>105.56186152099886</c:v>
                </c:pt>
                <c:pt idx="5">
                  <c:v>107.15096481271284</c:v>
                </c:pt>
                <c:pt idx="6">
                  <c:v>109.30760499432463</c:v>
                </c:pt>
                <c:pt idx="7">
                  <c:v>111.12372304199774</c:v>
                </c:pt>
                <c:pt idx="8">
                  <c:v>112.82633371169129</c:v>
                </c:pt>
                <c:pt idx="9">
                  <c:v>114.52894438138482</c:v>
                </c:pt>
                <c:pt idx="10">
                  <c:v>116.11804767309874</c:v>
                </c:pt>
                <c:pt idx="11">
                  <c:v>116.79909194097617</c:v>
                </c:pt>
                <c:pt idx="12">
                  <c:v>116.57207718501704</c:v>
                </c:pt>
                <c:pt idx="13">
                  <c:v>117.93416572077187</c:v>
                </c:pt>
                <c:pt idx="14">
                  <c:v>118.5017026106697</c:v>
                </c:pt>
                <c:pt idx="15">
                  <c:v>120.88535754824063</c:v>
                </c:pt>
                <c:pt idx="16">
                  <c:v>122.70147559591373</c:v>
                </c:pt>
                <c:pt idx="17">
                  <c:v>124.40408626560726</c:v>
                </c:pt>
                <c:pt idx="18">
                  <c:v>125.19863791146426</c:v>
                </c:pt>
                <c:pt idx="19">
                  <c:v>126.90124858115779</c:v>
                </c:pt>
                <c:pt idx="20">
                  <c:v>128.37684449489217</c:v>
                </c:pt>
                <c:pt idx="21">
                  <c:v>129.17139614074915</c:v>
                </c:pt>
              </c:numCache>
            </c:numRef>
          </c:val>
          <c:smooth val="0"/>
          <c:extLst>
            <c:ext xmlns:c16="http://schemas.microsoft.com/office/drawing/2014/chart" uri="{C3380CC4-5D6E-409C-BE32-E72D297353CC}">
              <c16:uniqueId val="{00000003-5C02-4529-BC15-D4CBAE2E6F38}"/>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low"/>
        <c:spPr>
          <a:ln>
            <a:solidFill>
              <a:srgbClr val="D7E0EA"/>
            </a:solidFill>
          </a:ln>
        </c:spPr>
        <c:txPr>
          <a:bodyPr/>
          <a:lstStyle/>
          <a:p>
            <a:pPr>
              <a:defRPr sz="1200">
                <a:solidFill>
                  <a:srgbClr val="5B6573"/>
                </a:solidFill>
                <a:latin typeface="IBM Plex Sans"/>
              </a:defRPr>
            </a:pPr>
            <a:endParaRPr lang="en-US"/>
          </a:p>
        </c:txPr>
        <c:crossAx val="2140495176"/>
        <c:crosses val="autoZero"/>
        <c:auto val="1"/>
        <c:lblAlgn val="ctr"/>
        <c:lblOffset val="100"/>
        <c:noMultiLvlLbl val="0"/>
      </c:catAx>
      <c:valAx>
        <c:axId val="2140495176"/>
        <c:scaling>
          <c:orientation val="minMax"/>
          <c:max val="170"/>
          <c:min val="80"/>
        </c:scaling>
        <c:delete val="0"/>
        <c:axPos val="l"/>
        <c:majorGridlines>
          <c:spPr>
            <a:ln w="6350">
              <a:solidFill>
                <a:srgbClr val="D7E0EA"/>
              </a:solidFill>
            </a:ln>
          </c:spPr>
        </c:majorGridlines>
        <c:numFmt formatCode="0" sourceLinked="0"/>
        <c:majorTickMark val="none"/>
        <c:minorTickMark val="none"/>
        <c:tickLblPos val="nextTo"/>
        <c:spPr>
          <a:ln>
            <a:solidFill>
              <a:srgbClr val="D7E0EA"/>
            </a:solidFill>
          </a:ln>
        </c:spPr>
        <c:txPr>
          <a:bodyPr/>
          <a:lstStyle/>
          <a:p>
            <a:pPr>
              <a:defRPr sz="1200">
                <a:solidFill>
                  <a:srgbClr val="5B6573"/>
                </a:solidFill>
                <a:latin typeface="IBM Plex Sans"/>
              </a:defRPr>
            </a:pPr>
            <a:endParaRPr lang="en-US"/>
          </a:p>
        </c:txPr>
        <c:crossAx val="2118791784"/>
        <c:crosses val="autoZero"/>
        <c:crossBetween val="between"/>
        <c:majorUnit val="30"/>
      </c:valAx>
    </c:plotArea>
    <c:legend>
      <c:legendPos val="b"/>
      <c:overlay val="0"/>
      <c:txPr>
        <a:bodyPr/>
        <a:lstStyle/>
        <a:p>
          <a:pPr>
            <a:defRPr sz="1200">
              <a:latin typeface="IBM Plex Sans"/>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pt idx="0">
                  <c:v>Area</c:v>
                </c:pt>
              </c:strCache>
            </c:strRef>
          </c:tx>
          <c:spPr>
            <a:solidFill>
              <a:srgbClr val="0F62FE"/>
            </a:solidFill>
            <a:ln>
              <a:noFill/>
            </a:ln>
          </c:spPr>
          <c:invertIfNegative val="0"/>
          <c:dLbls>
            <c:numFmt formatCode="#,##0" sourceLinked="0"/>
            <c:spPr>
              <a:noFill/>
              <a:ln>
                <a:noFill/>
              </a:ln>
              <a:effectLst/>
            </c:spPr>
            <c:txPr>
              <a:bodyPr/>
              <a:lstStyle/>
              <a:p>
                <a:pPr>
                  <a:defRPr sz="1400">
                    <a:solidFill>
                      <a:srgbClr val="202A38"/>
                    </a:solidFill>
                    <a:latin typeface="IBM Plex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Existing
assumed GFA</c:v>
                </c:pt>
                <c:pt idx="1">
                  <c:v>GPR-based
ceiling</c:v>
                </c:pt>
                <c:pt idx="2">
                  <c:v>Adjusted
capacity</c:v>
                </c:pt>
              </c:strCache>
            </c:strRef>
          </c:cat>
          <c:val>
            <c:numRef>
              <c:f>Sheet1!$B$2:$B$4</c:f>
              <c:numCache>
                <c:formatCode>General</c:formatCode>
                <c:ptCount val="3"/>
                <c:pt idx="0">
                  <c:v>7862.4</c:v>
                </c:pt>
                <c:pt idx="1">
                  <c:v>10920</c:v>
                </c:pt>
                <c:pt idx="2">
                  <c:v>10046.4</c:v>
                </c:pt>
              </c:numCache>
            </c:numRef>
          </c:val>
          <c:extLst>
            <c:ext xmlns:c16="http://schemas.microsoft.com/office/drawing/2014/chart" uri="{C3380CC4-5D6E-409C-BE32-E72D297353CC}">
              <c16:uniqueId val="{00000000-60E7-4E31-B24B-D3CCA2C63E7E}"/>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7E0EA"/>
            </a:solidFill>
          </a:ln>
        </c:spPr>
        <c:txPr>
          <a:bodyPr/>
          <a:lstStyle/>
          <a:p>
            <a:pPr>
              <a:defRPr sz="1200">
                <a:solidFill>
                  <a:srgbClr val="5B6573"/>
                </a:solidFill>
                <a:latin typeface="IBM Plex Sans"/>
              </a:defRPr>
            </a:pPr>
            <a:endParaRPr lang="en-US"/>
          </a:p>
        </c:txPr>
        <c:crossAx val="-2113994440"/>
        <c:crosses val="autoZero"/>
        <c:auto val="1"/>
        <c:lblAlgn val="ctr"/>
        <c:lblOffset val="100"/>
        <c:noMultiLvlLbl val="0"/>
      </c:catAx>
      <c:valAx>
        <c:axId val="-2113994440"/>
        <c:scaling>
          <c:orientation val="minMax"/>
          <c:max val="12000"/>
          <c:min val="0"/>
        </c:scaling>
        <c:delete val="0"/>
        <c:axPos val="l"/>
        <c:majorGridlines>
          <c:spPr>
            <a:ln w="6350">
              <a:solidFill>
                <a:srgbClr val="D7E0EA"/>
              </a:solidFill>
            </a:ln>
          </c:spPr>
        </c:majorGridlines>
        <c:numFmt formatCode="#,##0" sourceLinked="0"/>
        <c:majorTickMark val="none"/>
        <c:minorTickMark val="none"/>
        <c:tickLblPos val="nextTo"/>
        <c:spPr>
          <a:ln>
            <a:solidFill>
              <a:srgbClr val="D7E0EA"/>
            </a:solidFill>
          </a:ln>
        </c:spPr>
        <c:txPr>
          <a:bodyPr/>
          <a:lstStyle/>
          <a:p>
            <a:pPr>
              <a:defRPr sz="1200">
                <a:solidFill>
                  <a:srgbClr val="5B6573"/>
                </a:solidFill>
                <a:latin typeface="IBM Plex Sans"/>
              </a:defRPr>
            </a:pPr>
            <a:endParaRPr lang="en-US"/>
          </a:p>
        </c:txPr>
        <c:crossAx val="-2068027336"/>
        <c:crosses val="autoZero"/>
        <c:crossBetween val="between"/>
        <c:majorUnit val="4000"/>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pt idx="0">
                  <c:v>NPV</c:v>
                </c:pt>
              </c:strCache>
            </c:strRef>
          </c:tx>
          <c:spPr>
            <a:solidFill>
              <a:srgbClr val="0F62FE"/>
            </a:solidFill>
            <a:ln>
              <a:noFill/>
            </a:ln>
          </c:spPr>
          <c:invertIfNegative val="0"/>
          <c:dPt>
            <c:idx val="0"/>
            <c:invertIfNegative val="0"/>
            <c:bubble3D val="0"/>
            <c:spPr>
              <a:solidFill>
                <a:srgbClr val="0F62FE"/>
              </a:solidFill>
            </c:spPr>
            <c:extLst>
              <c:ext xmlns:c16="http://schemas.microsoft.com/office/drawing/2014/chart" uri="{C3380CC4-5D6E-409C-BE32-E72D297353CC}">
                <c16:uniqueId val="{00000001-E4E1-4D5A-857D-90773F90DDD7}"/>
              </c:ext>
            </c:extLst>
          </c:dPt>
          <c:dPt>
            <c:idx val="1"/>
            <c:invertIfNegative val="0"/>
            <c:bubble3D val="0"/>
            <c:spPr>
              <a:solidFill>
                <a:srgbClr val="A6C8FF"/>
              </a:solidFill>
            </c:spPr>
            <c:extLst>
              <c:ext xmlns:c16="http://schemas.microsoft.com/office/drawing/2014/chart" uri="{C3380CC4-5D6E-409C-BE32-E72D297353CC}">
                <c16:uniqueId val="{00000003-E4E1-4D5A-857D-90773F90DDD7}"/>
              </c:ext>
            </c:extLst>
          </c:dPt>
          <c:dPt>
            <c:idx val="2"/>
            <c:invertIfNegative val="0"/>
            <c:bubble3D val="0"/>
            <c:spPr>
              <a:solidFill>
                <a:srgbClr val="C63D45"/>
              </a:solidFill>
            </c:spPr>
            <c:extLst>
              <c:ext xmlns:c16="http://schemas.microsoft.com/office/drawing/2014/chart" uri="{C3380CC4-5D6E-409C-BE32-E72D297353CC}">
                <c16:uniqueId val="{00000005-E4E1-4D5A-857D-90773F90DDD7}"/>
              </c:ext>
            </c:extLst>
          </c:dPt>
          <c:dLbls>
            <c:numFmt formatCode="0.0" sourceLinked="0"/>
            <c:spPr>
              <a:noFill/>
              <a:ln>
                <a:noFill/>
              </a:ln>
              <a:effectLst/>
            </c:spPr>
            <c:txPr>
              <a:bodyPr/>
              <a:lstStyle/>
              <a:p>
                <a:pPr>
                  <a:defRPr sz="1400">
                    <a:solidFill>
                      <a:srgbClr val="202A38"/>
                    </a:solidFill>
                    <a:latin typeface="IBM Plex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Redevelop</c:v>
                </c:pt>
                <c:pt idx="1">
                  <c:v>Hold</c:v>
                </c:pt>
                <c:pt idx="2">
                  <c:v>Incremental</c:v>
                </c:pt>
              </c:strCache>
            </c:strRef>
          </c:cat>
          <c:val>
            <c:numRef>
              <c:f>Sheet1!$B$2:$B$4</c:f>
              <c:numCache>
                <c:formatCode>General</c:formatCode>
                <c:ptCount val="3"/>
                <c:pt idx="0">
                  <c:v>-40.154801999999997</c:v>
                </c:pt>
                <c:pt idx="1">
                  <c:v>-3.1323859999999999</c:v>
                </c:pt>
                <c:pt idx="2">
                  <c:v>-37.022416</c:v>
                </c:pt>
              </c:numCache>
            </c:numRef>
          </c:val>
          <c:extLst>
            <c:ext xmlns:c16="http://schemas.microsoft.com/office/drawing/2014/chart" uri="{C3380CC4-5D6E-409C-BE32-E72D297353CC}">
              <c16:uniqueId val="{00000006-E4E1-4D5A-857D-90773F90DDD7}"/>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7E0EA"/>
            </a:solidFill>
          </a:ln>
        </c:spPr>
        <c:txPr>
          <a:bodyPr/>
          <a:lstStyle/>
          <a:p>
            <a:pPr>
              <a:defRPr sz="1200">
                <a:solidFill>
                  <a:srgbClr val="5B6573"/>
                </a:solidFill>
                <a:latin typeface="IBM Plex Sans"/>
              </a:defRPr>
            </a:pPr>
            <a:endParaRPr lang="en-US"/>
          </a:p>
        </c:txPr>
        <c:crossAx val="-2113994440"/>
        <c:crosses val="autoZero"/>
        <c:auto val="1"/>
        <c:lblAlgn val="ctr"/>
        <c:lblOffset val="100"/>
        <c:noMultiLvlLbl val="0"/>
      </c:catAx>
      <c:valAx>
        <c:axId val="-2113994440"/>
        <c:scaling>
          <c:orientation val="minMax"/>
          <c:max val="0"/>
          <c:min val="-50"/>
        </c:scaling>
        <c:delete val="0"/>
        <c:axPos val="l"/>
        <c:majorGridlines>
          <c:spPr>
            <a:ln w="6350">
              <a:solidFill>
                <a:srgbClr val="D7E0EA"/>
              </a:solidFill>
            </a:ln>
          </c:spPr>
        </c:majorGridlines>
        <c:numFmt formatCode="0.0" sourceLinked="0"/>
        <c:majorTickMark val="none"/>
        <c:minorTickMark val="none"/>
        <c:tickLblPos val="nextTo"/>
        <c:spPr>
          <a:ln>
            <a:solidFill>
              <a:srgbClr val="D7E0EA"/>
            </a:solidFill>
          </a:ln>
        </c:spPr>
        <c:txPr>
          <a:bodyPr/>
          <a:lstStyle/>
          <a:p>
            <a:pPr>
              <a:defRPr sz="1200">
                <a:solidFill>
                  <a:srgbClr val="5B6573"/>
                </a:solidFill>
                <a:latin typeface="IBM Plex Sans"/>
              </a:defRPr>
            </a:pPr>
            <a:endParaRPr lang="en-US"/>
          </a:p>
        </c:txPr>
        <c:crossAx val="-2068027336"/>
        <c:crosses val="autoZero"/>
        <c:crossBetween val="between"/>
        <c:majorUnit val="10"/>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bar"/>
        <c:grouping val="stacked"/>
        <c:varyColors val="1"/>
        <c:ser>
          <c:idx val="0"/>
          <c:order val="0"/>
          <c:tx>
            <c:strRef>
              <c:f>Sheet1!$B$1</c:f>
              <c:strCache>
                <c:ptCount val="1"/>
                <c:pt idx="0">
                  <c:v>Sell</c:v>
                </c:pt>
              </c:strCache>
            </c:strRef>
          </c:tx>
          <c:spPr>
            <a:solidFill>
              <a:srgbClr val="0F62FE"/>
            </a:solidFill>
            <a:ln>
              <a:noFill/>
            </a:ln>
          </c:spPr>
          <c:invertIfNegative val="0"/>
          <c:cat>
            <c:strRef>
              <c:f>Sheet1!$A$2:$A$3</c:f>
              <c:strCache>
                <c:ptCount val="2"/>
                <c:pt idx="0">
                  <c:v>Independent ranks</c:v>
                </c:pt>
                <c:pt idx="1">
                  <c:v>Constrained plan</c:v>
                </c:pt>
              </c:strCache>
            </c:strRef>
          </c:cat>
          <c:val>
            <c:numRef>
              <c:f>Sheet1!$B$2:$B$3</c:f>
              <c:numCache>
                <c:formatCode>General</c:formatCode>
                <c:ptCount val="2"/>
                <c:pt idx="0">
                  <c:v>8</c:v>
                </c:pt>
                <c:pt idx="1">
                  <c:v>3</c:v>
                </c:pt>
              </c:numCache>
            </c:numRef>
          </c:val>
          <c:extLst>
            <c:ext xmlns:c16="http://schemas.microsoft.com/office/drawing/2014/chart" uri="{C3380CC4-5D6E-409C-BE32-E72D297353CC}">
              <c16:uniqueId val="{00000000-09FA-4072-81E4-EB51070C074B}"/>
            </c:ext>
          </c:extLst>
        </c:ser>
        <c:ser>
          <c:idx val="1"/>
          <c:order val="1"/>
          <c:tx>
            <c:strRef>
              <c:f>Sheet1!$C$1</c:f>
              <c:strCache>
                <c:ptCount val="1"/>
                <c:pt idx="0">
                  <c:v>Hold</c:v>
                </c:pt>
              </c:strCache>
            </c:strRef>
          </c:tx>
          <c:spPr>
            <a:solidFill>
              <a:srgbClr val="A6C8FF"/>
            </a:solidFill>
            <a:ln>
              <a:noFill/>
            </a:ln>
          </c:spPr>
          <c:invertIfNegative val="0"/>
          <c:cat>
            <c:strRef>
              <c:f>Sheet1!$A$2:$A$3</c:f>
              <c:strCache>
                <c:ptCount val="2"/>
                <c:pt idx="0">
                  <c:v>Independent ranks</c:v>
                </c:pt>
                <c:pt idx="1">
                  <c:v>Constrained plan</c:v>
                </c:pt>
              </c:strCache>
            </c:strRef>
          </c:cat>
          <c:val>
            <c:numRef>
              <c:f>Sheet1!$C$2:$C$3</c:f>
              <c:numCache>
                <c:formatCode>General</c:formatCode>
                <c:ptCount val="2"/>
                <c:pt idx="0">
                  <c:v>2</c:v>
                </c:pt>
                <c:pt idx="1">
                  <c:v>7</c:v>
                </c:pt>
              </c:numCache>
            </c:numRef>
          </c:val>
          <c:extLst>
            <c:ext xmlns:c16="http://schemas.microsoft.com/office/drawing/2014/chart" uri="{C3380CC4-5D6E-409C-BE32-E72D297353CC}">
              <c16:uniqueId val="{00000001-09FA-4072-81E4-EB51070C074B}"/>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l"/>
        <c:numFmt formatCode="General" sourceLinked="0"/>
        <c:majorTickMark val="none"/>
        <c:minorTickMark val="none"/>
        <c:tickLblPos val="low"/>
        <c:spPr>
          <a:ln>
            <a:solidFill>
              <a:srgbClr val="D7E0EA"/>
            </a:solidFill>
          </a:ln>
        </c:spPr>
        <c:txPr>
          <a:bodyPr/>
          <a:lstStyle/>
          <a:p>
            <a:pPr>
              <a:defRPr sz="1200">
                <a:solidFill>
                  <a:srgbClr val="5B6573"/>
                </a:solidFill>
                <a:latin typeface="IBM Plex Sans"/>
              </a:defRPr>
            </a:pPr>
            <a:endParaRPr lang="en-US"/>
          </a:p>
        </c:txPr>
        <c:crossAx val="-2113994440"/>
        <c:crosses val="autoZero"/>
        <c:auto val="1"/>
        <c:lblAlgn val="ctr"/>
        <c:lblOffset val="100"/>
        <c:noMultiLvlLbl val="0"/>
      </c:catAx>
      <c:valAx>
        <c:axId val="-2113994440"/>
        <c:scaling>
          <c:orientation val="minMax"/>
          <c:max val="10"/>
          <c:min val="0"/>
        </c:scaling>
        <c:delete val="0"/>
        <c:axPos val="b"/>
        <c:majorGridlines>
          <c:spPr>
            <a:ln w="6350">
              <a:solidFill>
                <a:srgbClr val="D7E0EA"/>
              </a:solidFill>
            </a:ln>
          </c:spPr>
        </c:majorGridlines>
        <c:numFmt formatCode="0" sourceLinked="0"/>
        <c:majorTickMark val="none"/>
        <c:minorTickMark val="none"/>
        <c:tickLblPos val="nextTo"/>
        <c:spPr>
          <a:ln>
            <a:solidFill>
              <a:srgbClr val="D7E0EA"/>
            </a:solidFill>
          </a:ln>
        </c:spPr>
        <c:txPr>
          <a:bodyPr/>
          <a:lstStyle/>
          <a:p>
            <a:pPr>
              <a:defRPr sz="1200">
                <a:solidFill>
                  <a:srgbClr val="5B6573"/>
                </a:solidFill>
                <a:latin typeface="IBM Plex Sans"/>
              </a:defRPr>
            </a:pPr>
            <a:endParaRPr lang="en-US"/>
          </a:p>
        </c:txPr>
        <c:crossAx val="-2068027336"/>
        <c:crosses val="autoZero"/>
        <c:crossBetween val="between"/>
        <c:majorUnit val="2"/>
      </c:valAx>
    </c:plotArea>
    <c:legend>
      <c:legendPos val="b"/>
      <c:overlay val="0"/>
      <c:txPr>
        <a:bodyPr/>
        <a:lstStyle/>
        <a:p>
          <a:pPr>
            <a:defRPr sz="1200">
              <a:latin typeface="IBM Plex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pt idx="0">
                  <c:v>NPV</c:v>
                </c:pt>
              </c:strCache>
            </c:strRef>
          </c:tx>
          <c:spPr>
            <a:solidFill>
              <a:srgbClr val="0F62FE"/>
            </a:solidFill>
            <a:ln>
              <a:noFill/>
            </a:ln>
          </c:spPr>
          <c:invertIfNegative val="0"/>
          <c:dPt>
            <c:idx val="0"/>
            <c:invertIfNegative val="0"/>
            <c:bubble3D val="0"/>
            <c:spPr>
              <a:solidFill>
                <a:srgbClr val="0F62FE"/>
              </a:solidFill>
            </c:spPr>
            <c:extLst>
              <c:ext xmlns:c16="http://schemas.microsoft.com/office/drawing/2014/chart" uri="{C3380CC4-5D6E-409C-BE32-E72D297353CC}">
                <c16:uniqueId val="{00000001-0C14-401A-A19D-87B7EE9EF117}"/>
              </c:ext>
            </c:extLst>
          </c:dPt>
          <c:dPt>
            <c:idx val="1"/>
            <c:invertIfNegative val="0"/>
            <c:bubble3D val="0"/>
            <c:spPr>
              <a:solidFill>
                <a:srgbClr val="C63D45"/>
              </a:solidFill>
            </c:spPr>
            <c:extLst>
              <c:ext xmlns:c16="http://schemas.microsoft.com/office/drawing/2014/chart" uri="{C3380CC4-5D6E-409C-BE32-E72D297353CC}">
                <c16:uniqueId val="{00000003-0C14-401A-A19D-87B7EE9EF117}"/>
              </c:ext>
            </c:extLst>
          </c:dPt>
          <c:dPt>
            <c:idx val="2"/>
            <c:invertIfNegative val="0"/>
            <c:bubble3D val="0"/>
            <c:spPr>
              <a:solidFill>
                <a:srgbClr val="008578"/>
              </a:solidFill>
            </c:spPr>
            <c:extLst>
              <c:ext xmlns:c16="http://schemas.microsoft.com/office/drawing/2014/chart" uri="{C3380CC4-5D6E-409C-BE32-E72D297353CC}">
                <c16:uniqueId val="{00000005-0C14-401A-A19D-87B7EE9EF117}"/>
              </c:ext>
            </c:extLst>
          </c:dPt>
          <c:dLbls>
            <c:numFmt formatCode="0.0" sourceLinked="0"/>
            <c:spPr>
              <a:noFill/>
              <a:ln>
                <a:noFill/>
              </a:ln>
              <a:effectLst/>
            </c:spPr>
            <c:txPr>
              <a:bodyPr/>
              <a:lstStyle/>
              <a:p>
                <a:pPr>
                  <a:defRPr sz="1400">
                    <a:solidFill>
                      <a:srgbClr val="202A38"/>
                    </a:solidFill>
                    <a:latin typeface="IBM Plex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Base
50% weight</c:v>
                </c:pt>
                <c:pt idx="1">
                  <c:v>Downside
25% weight</c:v>
                </c:pt>
                <c:pt idx="2">
                  <c:v>Upside
25% weight</c:v>
                </c:pt>
              </c:strCache>
            </c:strRef>
          </c:cat>
          <c:val>
            <c:numRef>
              <c:f>Sheet1!$B$2:$B$4</c:f>
              <c:numCache>
                <c:formatCode>General</c:formatCode>
                <c:ptCount val="3"/>
                <c:pt idx="0">
                  <c:v>9.9792799999999993</c:v>
                </c:pt>
                <c:pt idx="1">
                  <c:v>-11.281396000000001</c:v>
                </c:pt>
                <c:pt idx="2">
                  <c:v>21.857028</c:v>
                </c:pt>
              </c:numCache>
            </c:numRef>
          </c:val>
          <c:extLst>
            <c:ext xmlns:c16="http://schemas.microsoft.com/office/drawing/2014/chart" uri="{C3380CC4-5D6E-409C-BE32-E72D297353CC}">
              <c16:uniqueId val="{00000006-0C14-401A-A19D-87B7EE9EF117}"/>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7E0EA"/>
            </a:solidFill>
          </a:ln>
        </c:spPr>
        <c:txPr>
          <a:bodyPr/>
          <a:lstStyle/>
          <a:p>
            <a:pPr>
              <a:defRPr sz="1200">
                <a:solidFill>
                  <a:srgbClr val="5B6573"/>
                </a:solidFill>
                <a:latin typeface="IBM Plex Sans"/>
              </a:defRPr>
            </a:pPr>
            <a:endParaRPr lang="en-US"/>
          </a:p>
        </c:txPr>
        <c:crossAx val="-2113994440"/>
        <c:crosses val="autoZero"/>
        <c:auto val="1"/>
        <c:lblAlgn val="ctr"/>
        <c:lblOffset val="100"/>
        <c:noMultiLvlLbl val="0"/>
      </c:catAx>
      <c:valAx>
        <c:axId val="-2113994440"/>
        <c:scaling>
          <c:orientation val="minMax"/>
          <c:max val="30"/>
          <c:min val="-15"/>
        </c:scaling>
        <c:delete val="0"/>
        <c:axPos val="l"/>
        <c:majorGridlines>
          <c:spPr>
            <a:ln w="6350">
              <a:solidFill>
                <a:srgbClr val="D7E0EA"/>
              </a:solidFill>
            </a:ln>
          </c:spPr>
        </c:majorGridlines>
        <c:numFmt formatCode="0.0" sourceLinked="0"/>
        <c:majorTickMark val="none"/>
        <c:minorTickMark val="none"/>
        <c:tickLblPos val="nextTo"/>
        <c:spPr>
          <a:ln>
            <a:solidFill>
              <a:srgbClr val="D7E0EA"/>
            </a:solidFill>
          </a:ln>
        </c:spPr>
        <c:txPr>
          <a:bodyPr/>
          <a:lstStyle/>
          <a:p>
            <a:pPr>
              <a:defRPr sz="1200">
                <a:solidFill>
                  <a:srgbClr val="5B6573"/>
                </a:solidFill>
                <a:latin typeface="IBM Plex Sans"/>
              </a:defRPr>
            </a:pPr>
            <a:endParaRPr lang="en-US"/>
          </a:p>
        </c:txPr>
        <c:crossAx val="-2068027336"/>
        <c:crosses val="autoZero"/>
        <c:crossBetween val="between"/>
        <c:majorUnit val="15"/>
      </c:valAx>
    </c:plotArea>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pt idx="0">
                  <c:v>Expected NPV</c:v>
                </c:pt>
              </c:strCache>
            </c:strRef>
          </c:tx>
          <c:spPr>
            <a:solidFill>
              <a:srgbClr val="0F62FE"/>
            </a:solidFill>
            <a:ln>
              <a:noFill/>
            </a:ln>
          </c:spPr>
          <c:invertIfNegative val="0"/>
          <c:dLbls>
            <c:numFmt formatCode="0.0" sourceLinked="0"/>
            <c:spPr>
              <a:noFill/>
              <a:ln>
                <a:noFill/>
              </a:ln>
              <a:effectLst/>
            </c:spPr>
            <c:txPr>
              <a:bodyPr/>
              <a:lstStyle/>
              <a:p>
                <a:pPr>
                  <a:defRPr sz="1400">
                    <a:solidFill>
                      <a:srgbClr val="202A38"/>
                    </a:solidFill>
                    <a:latin typeface="IBM Plex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Base</c:v>
                </c:pt>
                <c:pt idx="1">
                  <c:v>Stress</c:v>
                </c:pt>
                <c:pt idx="2">
                  <c:v>Structural change</c:v>
                </c:pt>
              </c:strCache>
            </c:strRef>
          </c:cat>
          <c:val>
            <c:numRef>
              <c:f>Sheet1!$B$2:$B$4</c:f>
              <c:numCache>
                <c:formatCode>General</c:formatCode>
                <c:ptCount val="3"/>
                <c:pt idx="0">
                  <c:v>79.800700000000006</c:v>
                </c:pt>
                <c:pt idx="1">
                  <c:v>66.954800000000006</c:v>
                </c:pt>
                <c:pt idx="2">
                  <c:v>68.095200000000006</c:v>
                </c:pt>
              </c:numCache>
            </c:numRef>
          </c:val>
          <c:extLst>
            <c:ext xmlns:c16="http://schemas.microsoft.com/office/drawing/2014/chart" uri="{C3380CC4-5D6E-409C-BE32-E72D297353CC}">
              <c16:uniqueId val="{00000000-9116-49ED-BB39-65D79A0B0FA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7E0EA"/>
            </a:solidFill>
          </a:ln>
        </c:spPr>
        <c:txPr>
          <a:bodyPr/>
          <a:lstStyle/>
          <a:p>
            <a:pPr>
              <a:defRPr sz="1200">
                <a:solidFill>
                  <a:srgbClr val="5B6573"/>
                </a:solidFill>
                <a:latin typeface="IBM Plex Sans"/>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w="6350">
              <a:solidFill>
                <a:srgbClr val="D7E0EA"/>
              </a:solidFill>
            </a:ln>
          </c:spPr>
        </c:majorGridlines>
        <c:numFmt formatCode="0.0" sourceLinked="0"/>
        <c:majorTickMark val="none"/>
        <c:minorTickMark val="none"/>
        <c:tickLblPos val="nextTo"/>
        <c:spPr>
          <a:ln>
            <a:solidFill>
              <a:srgbClr val="D7E0EA"/>
            </a:solidFill>
          </a:ln>
        </c:spPr>
        <c:txPr>
          <a:bodyPr/>
          <a:lstStyle/>
          <a:p>
            <a:pPr>
              <a:defRPr sz="1200">
                <a:solidFill>
                  <a:srgbClr val="5B6573"/>
                </a:solidFill>
                <a:latin typeface="IBM Plex Sans"/>
              </a:defRPr>
            </a:pPr>
            <a:endParaRPr lang="en-US"/>
          </a:p>
        </c:txPr>
        <c:crossAx val="-2068027336"/>
        <c:crosses val="autoZero"/>
        <c:crossBetween val="between"/>
        <c:majorUnit val="25"/>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2422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Client presentation inspired only by slides 1–18 of the supplied POC PDF. Original branding and diagrams. Demonstration capability is implemented; asset underwriting is fictional, and investment alpha is unvalidated.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client value proposition is an integrated review workflow. No measured productivity saving or financial uplift is claimed. Five implemented action types are Hold, Retrofit, Repurpose, Redevelop and Sell.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common portfolio-review challenges, not findings about a specific prospective client. Ask how leases, costs and planning records are currently reconciled, whether asset proposals share a baseline, and how portfolio income and liquidity constraints enter the decision. The model offers a consistent comparison process; quantify any time saving during the pilot rather than assuming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implemented public demonstration contains 10 fictional assets, 5 action types and 15 dashboard sections. The stages are an explanation of the existing modelling workflow, not a claim that client-system integration or autonomous approvals are complete. Each stage can be inspected through the dashboard and detailed report. A real client pilot starts by validating asset-level source records.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presentation adaptation of the implemented dashboard, constructed entirely from editable shapes and text. It is not a screenshot or an additional product feature. The 70.0851% income retention and S$9.947621m incremental NPV refer to the saved core multi-period portfolio. All 10 assets require additional evidence. Public Pages serves saved results; new calculations require a connected backend.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Official observations: https://data.gov.sg/datasets/d_da00b36ca8c831322fa0bb2a3378a476/view</a:t>
            </a:r>
          </a:p>
          <a:p>
            <a:r>
              <a:t>https://data.gov.sg/datasets/d_620ad30cf4aca7c1c25eb2eff9e4bedc/view</a:t>
            </a:r>
          </a:p>
          <a:p>
            <a:r>
              <a:t>https://data.gov.sg/datasets/d_620ad30cf4aca7c1c25eb2eff9e4bedc/view</a:t>
            </a:r>
          </a:p>
          <a:p>
            <a:r>
              <a:t>https://data.gov.sg/datasets/d_dce35e6697eadb9884f2e02af764e468/view</a:t>
            </a:r>
          </a:p>
          <a:p>
            <a:r>
              <a:t>Every plotted series has the same 2021-Q1 origin and common completed-quarter history. These are regional/national aggregate indices, not appraisals or asset-level forecasts. Downloaded histories may be revised and are not point-in-time investment backtest inputs.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columns are distinct output families, not four additive sources of return. URA Master Plan describes permissible land use and density; project permission and detailed controls still require verification. Primary references: https://www.ura.gov.sg/land-planning/master-plan/ and https://www.ura.gov.sg/guidelines/development-control/. In the public snapshot legal fields and polygons are fictional fixtures. The ML challenger is a separate diagnostics pathway; run_asset does not consume the prediction file. The advanced engine passes selected screening-envelope GFA into monthly redevelopment cash flows. Those detailed cash flows and NPVs are not substituted into the core action templates used by selection and optimisation. Do not describe ML class disagreement as planning approval or immediately capitalise a screening residual as incremental return.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packages/zoning/challenger.py trains separate core, subtype and GPR-band LightGBM classifiers. Outputs include top-three class probabilities, entropy and abstention, with spatial validation and temperature calibration code. packages/zoning/change_model.py is a distinct classifier with target changed; its current output has no explicit investment horizon or validated public probability. A real deployment needs dated change labels, forecast horizon, leakage checks and appropriate holdout evaluation. Current public /zoning/prediction routes all state synthetic_fixture_not_model; trained=false; abstain=true; future change status=not_estimated. Any stored illustrative numeric confidence or change value is not a model estimate. Prediction scripts export diagnostics; their outputs are not consumed by the main cash-flow/action-ranking pipeline or automatically wired into underwriting_readiness. Operational use today is analyst review of the displayed discrepancy. A forecast-driven valuation connection remains further implementation and validation work.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Fictional DEMO-001: site2600sqm; assumed GPR4.2; current GFA7862.4sqm; statutory proxy10920sqm; physical screen10920sqm; de-facto/economic screen10046.4sqm; unused2184sqm. Core screen flags plot ratio and site coverage. These bars are different quantities, not a waterfall or additive areas. Adjusted capacity is the core heuristic margin/capacity screen, not granted approval. The separately constructed advanced envelope yields10774.19sqm under different geometry/efficiency assumptions and feeds the monthly development valuation; it is not the same number as core adjusted capacity. The monthly incremental redevelopment NPV is -37.022416m; assessed LBC is still missing. This monthly NPV is not fed into the main ranking. The core annual Redevelop template gives a separate -11.374m result. The S$4.44m simple capacity residual is a diagnostic excluded from additive action returns. The core annual ranking prefers Sell, but this is driven by assumed cash flows and sale economics, not an ML prediction. The operational signal remains Data Required / Monitor. Data sources: /portfolio and /assets/DEMO-001/advanced-analysis.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table explains how a user should use the information, rather than asserting a currently automatic connection from ML into recommendations. Both the ML diagnostics and detailed zoning-based redevelopment NPVs remain outside the core action-ranking and optimisation path. The implemented action universe contains Hold, Retrofit, Repurpose, Redevelop and Sell for assets already in the portfolio. Core ranking maximises expected incremental NPV minus the CVaR penalty; portfolio optimisation enforces shared constraints. ML output currently supports a separate analyst review; the main engine does not consume its scores. Verified zoning and title are part of underwriting readiness, but discrepancies are not automatically propagated from the ML prediction file into that gate. Data Required / Monitor is an evidence status, not an investment recommendation to Hold. Acquisition signal explicitly states Not assessed: transaction price and benchmark evidence required. A Buy recommendation would need a separately implemented and tested purchase underwriting comparison. Zoning forecasts can motivate due diligence and sensitivity cases; they do not justify taking action before evidence and economics have been established.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common financial principle is action value less the value of retaining the same asset. Annual core and monthly development engines retain distinct assumptions and timing. Hold incremental value is zero by construction, which does not mean the property has no absolute risk. Core annual and monthly development outputs must not be interchanged. Model source: packages/actions/real_options.py, detailed_cashflow.py and packages/valuation/engine.py.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/portfolio DEMO-001 actions, 5,000 stored scenario observations per action. Loss CVaR95 is the mean worst 5% of max(0, -incremental NPV), using exact tail weights. Zero Hold incremental risk is relative to Hold itself. The independent screening preference is Sell, but all asset-level economics and probabilities are fictional. Plot coordinates are exact values and all graph elements are editable shapes. Raw values are included in decision_data.json.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/assets/DEMO-001/advanced-analysis.redevelopment_cashflow. Expected project NPV -40.154802, Hold investment NPV -3.132386, incremental NPV -37.022416 SGD m. These monthly project cash flows remain separate from the core annual action engine in slide 12; they are not substituted into its rankings or the optimiser. Assessed Land Betterment Charge is missing. Negative redevelopment results already arise before resolving that unknown; this does not establish feasibility or a price for a real site.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Saved /snapshots/optimise. 8 Sell / 2 Hold are independent core rankings; 3 Sell / 7 Hold is the constrained multi-period solution. Sales: DEMO-001, DEMO-003, DEMO-009. Retained NOI=(25.84-7.73)/25.84=70.0851%. Expected NPV9.947621, receipts167.70, CVaR20.025108, objective3.940089 SGD m at penalty0.3. Sale receipts are capital release, not investment profit.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reproducible sensitivity analysis in analysis/decision_data.json. Total capital500m, liquidity50m, maximum8 concurrent projects, development share0.45, risk penalty0.3, common aligned scenarios. Minimum NOI ratios50%,60%,70%,80%,90%,100%. The saved snapshot uses max_projects20; both limits are nonbinding here. Every displayed plan passed the model constraint audit. These are discrete policy reruns; connecting lines guide the eye and do not imply every intermediate plan is feasible or interpolated.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/snapshots/two-stage. Three assumed cases and weights0.50/0.25/0.25 produce expected incremental NPV7.633548m. The negative downside reflects stressed sale receipts and NPV consistently. These cases are a different scenario set from the core 128-scenario optimisation and should not be presented as a reduction in risk relative to that model. No probability calibration to realised market outcomes is claimed.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Twin outputs: constrained NPV79.8007/66.9548/68.0952m; sales6/6/2; receipts420.7940/267.3002/367.5736m. The different action counts reflect asset size and environment-specific income constraints. Synthetic performance does not establish accuracy on real assets. Predictive interval coverage and regret diagnostics are available in the full report; the displayed NPV is model expectation, not realised return.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Implementation has data readiness/status fields and portfolio constraint audits; all public demo assets are Data Required / Monitor. Assess title, planning, assessed LBC, lease evidence and observed financials before real decisions. Human review is the operating model; public visitors cannot write review signoffs or decision records. Client access control, approvals integration and durable audit storage need a client deployment scope.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revised forecast pipeline separates chronological training, calibration and holdout periods and compares against a naive benchmark. Public forecast cards are formula fixtures, not fitted production model results. Asset-specific alpha hypotheses and decision-policy uplift require verified dated data, transaction costs, unseen outcomes and an agreed counterfactual baseline. These are proposed evaluation steps, not completed client results.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Implemented React/Vite frontend, FastAPI calculation service, Python valuation/scenario/optimisation packages, cached official indices and versioned public snapshots. All 15 public tabs work in GitHub Pages. Docker build and Render blueprint tested; a Render account connection is still required to provision the public backend. The private client production scope must address identity/access, tenancy, durable audit, monitoring and data integration; do not represent these as delivered features.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proposed client pilot, not a claimed existing engagement or contractual offer. Agree asset selection, data access, decision mandate, baseline and acceptance thresholds with the client. Model tests already completed:154 backend passed,3 skipped due missing private data;7 frontend passed;TypeScript/build and Linux container passed;all15 public tabs and local calculation controls checked. These are software checks, not evidence of real-world investment outperformance.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close: bring the data owner, portfolio manager and investment decision maker into one scoped pilot discussion. Public dashboard and detailed report links are live as of25September2026. The 49-page report has28figures and16tables. The demonstration uses fictional underwriting, official aggregate market context, and does not establish validated alpha.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rohen97.github.io/Real-Estate-Portfolio-Multi-Asset-Quant-Model/"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rohen97.github.io/Real-Estate-Portfolio-Multi-Asset-Quant-Model/"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hyperlink" Target="https://rohen97.github.io/Real-Estate-Portfolio-Multi-Asset-Quant-Model/reports/Real_Estate_Dashboard_Interpretation_Repor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172200" y="0"/>
            <a:ext cx="6025896" cy="685800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438912"/>
            <a:ext cx="5212080" cy="274320"/>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REAL ESTATE  /  CLIENT DEMONSTRATION</a:t>
            </a:r>
          </a:p>
        </p:txBody>
      </p:sp>
      <p:sp>
        <p:nvSpPr>
          <p:cNvPr id="4" name="TextBox 3"/>
          <p:cNvSpPr txBox="1"/>
          <p:nvPr/>
        </p:nvSpPr>
        <p:spPr>
          <a:xfrm>
            <a:off x="530352" y="2039112"/>
            <a:ext cx="5577840" cy="1508760"/>
          </a:xfrm>
          <a:prstGeom prst="rect">
            <a:avLst/>
          </a:prstGeom>
          <a:noFill/>
          <a:effectLst/>
        </p:spPr>
        <p:txBody>
          <a:bodyPr wrap="square" lIns="0" tIns="0" rIns="0" bIns="0">
            <a:spAutoFit/>
          </a:bodyPr>
          <a:lstStyle/>
          <a:p>
            <a:pPr algn="l">
              <a:lnSpc>
                <a:spcPct val="108000"/>
              </a:lnSpc>
              <a:spcAft>
                <a:spcPts val="400"/>
              </a:spcAft>
              <a:defRPr sz="4400" b="0">
                <a:solidFill>
                  <a:srgbClr val="202A38"/>
                </a:solidFill>
                <a:latin typeface="IBM Plex Sans Light"/>
              </a:defRPr>
            </a:pPr>
            <a:r>
              <a:rPr sz="4400" b="0">
                <a:solidFill>
                  <a:srgbClr val="202A38"/>
                </a:solidFill>
                <a:latin typeface="IBM Plex Sans Light"/>
              </a:rPr>
              <a:t>Portfolio</a:t>
            </a:r>
          </a:p>
          <a:p>
            <a:pPr algn="l">
              <a:lnSpc>
                <a:spcPct val="108000"/>
              </a:lnSpc>
              <a:spcAft>
                <a:spcPts val="400"/>
              </a:spcAft>
              <a:defRPr sz="4400" b="0">
                <a:solidFill>
                  <a:srgbClr val="202A38"/>
                </a:solidFill>
                <a:latin typeface="IBM Plex Sans Light"/>
              </a:defRPr>
            </a:pPr>
            <a:r>
              <a:rPr sz="4400" b="0">
                <a:solidFill>
                  <a:srgbClr val="202A38"/>
                </a:solidFill>
                <a:latin typeface="IBM Plex Sans Light"/>
              </a:rPr>
              <a:t>intelligence</a:t>
            </a:r>
          </a:p>
        </p:txBody>
      </p:sp>
      <p:sp>
        <p:nvSpPr>
          <p:cNvPr id="5" name="TextBox 4"/>
          <p:cNvSpPr txBox="1"/>
          <p:nvPr/>
        </p:nvSpPr>
        <p:spPr>
          <a:xfrm>
            <a:off x="566928" y="3803904"/>
            <a:ext cx="4892040" cy="932688"/>
          </a:xfrm>
          <a:prstGeom prst="rect">
            <a:avLst/>
          </a:prstGeom>
          <a:noFill/>
          <a:effectLst/>
        </p:spPr>
        <p:txBody>
          <a:bodyPr wrap="square" lIns="0" tIns="0" rIns="0" bIns="0">
            <a:spAutoFit/>
          </a:bodyPr>
          <a:lstStyle/>
          <a:p>
            <a:pPr algn="l">
              <a:lnSpc>
                <a:spcPct val="108000"/>
              </a:lnSpc>
              <a:spcAft>
                <a:spcPts val="400"/>
              </a:spcAft>
              <a:defRPr sz="2400" b="0">
                <a:solidFill>
                  <a:srgbClr val="5B6573"/>
                </a:solidFill>
                <a:latin typeface="IBM Plex Sans Light"/>
              </a:defRPr>
            </a:pPr>
            <a:r>
              <a:rPr sz="2400" b="0">
                <a:solidFill>
                  <a:srgbClr val="5B6573"/>
                </a:solidFill>
                <a:latin typeface="IBM Plex Sans Light"/>
              </a:rPr>
              <a:t>From asset assumptions</a:t>
            </a:r>
          </a:p>
          <a:p>
            <a:pPr algn="l">
              <a:lnSpc>
                <a:spcPct val="108000"/>
              </a:lnSpc>
              <a:spcAft>
                <a:spcPts val="400"/>
              </a:spcAft>
              <a:defRPr sz="2400" b="0">
                <a:solidFill>
                  <a:srgbClr val="5B6573"/>
                </a:solidFill>
                <a:latin typeface="IBM Plex Sans Light"/>
              </a:defRPr>
            </a:pPr>
            <a:r>
              <a:rPr sz="2400" b="0">
                <a:solidFill>
                  <a:srgbClr val="5B6573"/>
                </a:solidFill>
                <a:latin typeface="IBM Plex Sans Light"/>
              </a:rPr>
              <a:t>to capital decisions</a:t>
            </a:r>
          </a:p>
        </p:txBody>
      </p:sp>
      <p:sp>
        <p:nvSpPr>
          <p:cNvPr id="6" name="TextBox 5"/>
          <p:cNvSpPr txBox="1"/>
          <p:nvPr/>
        </p:nvSpPr>
        <p:spPr>
          <a:xfrm>
            <a:off x="566928" y="5897880"/>
            <a:ext cx="5166360" cy="438912"/>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Model and dashboard demonstration</a:t>
            </a:r>
          </a:p>
          <a:p>
            <a:pPr algn="l">
              <a:lnSpc>
                <a:spcPct val="108000"/>
              </a:lnSpc>
              <a:spcAft>
                <a:spcPts val="400"/>
              </a:spcAft>
              <a:defRPr sz="1300" b="0">
                <a:solidFill>
                  <a:srgbClr val="5B6573"/>
                </a:solidFill>
                <a:latin typeface="IBM Plex Sans"/>
              </a:defRPr>
            </a:pPr>
            <a:r>
              <a:rPr sz="1300" b="0">
                <a:solidFill>
                  <a:srgbClr val="5B6573"/>
                </a:solidFill>
                <a:latin typeface="IBM Plex Sans"/>
              </a:rPr>
              <a:t>September 2026</a:t>
            </a:r>
          </a:p>
        </p:txBody>
      </p:sp>
      <p:sp>
        <p:nvSpPr>
          <p:cNvPr id="7" name="Rounded Rectangle 6"/>
          <p:cNvSpPr/>
          <p:nvPr/>
        </p:nvSpPr>
        <p:spPr>
          <a:xfrm>
            <a:off x="6537960" y="960120"/>
            <a:ext cx="4690872" cy="5065776"/>
          </a:xfrm>
          <a:prstGeom prst="roundRect">
            <a:avLst>
              <a:gd name="adj" fmla="val 6000"/>
            </a:avLst>
          </a:prstGeom>
          <a:solidFill>
            <a:srgbClr val="EDF5FF"/>
          </a:solidFill>
          <a:ln w="1778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711696" y="1097280"/>
            <a:ext cx="4425696" cy="4782312"/>
          </a:xfrm>
          <a:prstGeom prst="roundRect">
            <a:avLst>
              <a:gd name="adj" fmla="val 6000"/>
            </a:avLst>
          </a:prstGeom>
          <a:solidFill>
            <a:srgbClr val="EDF5FF"/>
          </a:solidFill>
          <a:ln w="17780">
            <a:solidFill>
              <a:srgbClr val="A6C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85432" y="1234440"/>
            <a:ext cx="4160520" cy="4498848"/>
          </a:xfrm>
          <a:prstGeom prst="roundRect">
            <a:avLst>
              <a:gd name="adj" fmla="val 6000"/>
            </a:avLst>
          </a:prstGeom>
          <a:solidFill>
            <a:srgbClr val="EDF5FF"/>
          </a:solidFill>
          <a:ln w="17780">
            <a:solidFill>
              <a:srgbClr val="A6C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059168" y="1371600"/>
            <a:ext cx="3895344" cy="4215384"/>
          </a:xfrm>
          <a:prstGeom prst="roundRect">
            <a:avLst>
              <a:gd name="adj" fmla="val 6000"/>
            </a:avLst>
          </a:prstGeom>
          <a:solidFill>
            <a:srgbClr val="EDF5FF"/>
          </a:solidFill>
          <a:ln w="1778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232904" y="1508760"/>
            <a:ext cx="3630168" cy="3931920"/>
          </a:xfrm>
          <a:prstGeom prst="roundRect">
            <a:avLst>
              <a:gd name="adj" fmla="val 6000"/>
            </a:avLst>
          </a:prstGeom>
          <a:solidFill>
            <a:srgbClr val="EDF5FF"/>
          </a:solidFill>
          <a:ln w="17780">
            <a:solidFill>
              <a:srgbClr val="A6C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06640" y="1645920"/>
            <a:ext cx="3364991" cy="3648456"/>
          </a:xfrm>
          <a:prstGeom prst="roundRect">
            <a:avLst>
              <a:gd name="adj" fmla="val 6000"/>
            </a:avLst>
          </a:prstGeom>
          <a:solidFill>
            <a:srgbClr val="EDF5FF"/>
          </a:solidFill>
          <a:ln w="17780">
            <a:solidFill>
              <a:srgbClr val="A6C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580376" y="1783080"/>
            <a:ext cx="3099816" cy="3364992"/>
          </a:xfrm>
          <a:prstGeom prst="roundRect">
            <a:avLst>
              <a:gd name="adj" fmla="val 6000"/>
            </a:avLst>
          </a:prstGeom>
          <a:solidFill>
            <a:srgbClr val="EDF5FF"/>
          </a:solidFill>
          <a:ln w="1778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754112" y="1920240"/>
            <a:ext cx="2834640" cy="3081528"/>
          </a:xfrm>
          <a:prstGeom prst="roundRect">
            <a:avLst>
              <a:gd name="adj" fmla="val 6000"/>
            </a:avLst>
          </a:prstGeom>
          <a:solidFill>
            <a:srgbClr val="EDF5FF"/>
          </a:solidFill>
          <a:ln w="17780">
            <a:solidFill>
              <a:srgbClr val="A6C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927848" y="2057400"/>
            <a:ext cx="2569464" cy="2798064"/>
          </a:xfrm>
          <a:prstGeom prst="roundRect">
            <a:avLst>
              <a:gd name="adj" fmla="val 6000"/>
            </a:avLst>
          </a:prstGeom>
          <a:solidFill>
            <a:srgbClr val="EDF5FF"/>
          </a:solidFill>
          <a:ln w="17780">
            <a:solidFill>
              <a:srgbClr val="A6C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26679" y="3840480"/>
            <a:ext cx="566928" cy="1371600"/>
          </a:xfrm>
          <a:prstGeom prst="rect">
            <a:avLst/>
          </a:prstGeom>
          <a:solidFill>
            <a:srgbClr val="FFFFFF"/>
          </a:solidFill>
          <a:ln w="1651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7845552" y="5047488"/>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45552" y="4764024"/>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45552" y="4480559"/>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467344" y="2971800"/>
            <a:ext cx="566928" cy="2240280"/>
          </a:xfrm>
          <a:prstGeom prst="rect">
            <a:avLst/>
          </a:prstGeom>
          <a:solidFill>
            <a:srgbClr val="FFFFFF"/>
          </a:solidFill>
          <a:ln w="1651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8586216" y="5047488"/>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86216" y="4764024"/>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86216" y="4480559"/>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86216" y="4197096"/>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86216" y="3913631"/>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86216" y="3630168"/>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208008" y="3438144"/>
            <a:ext cx="566928" cy="1773936"/>
          </a:xfrm>
          <a:prstGeom prst="rect">
            <a:avLst/>
          </a:prstGeom>
          <a:solidFill>
            <a:srgbClr val="FFFFFF"/>
          </a:solidFill>
          <a:ln w="1651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9326880" y="5047488"/>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6880" y="4764024"/>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326880" y="4480559"/>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326880" y="4197096"/>
            <a:ext cx="320040" cy="0"/>
          </a:xfrm>
          <a:prstGeom prst="line">
            <a:avLst/>
          </a:prstGeom>
          <a:ln w="12700">
            <a:solidFill>
              <a:srgbClr val="A6C8FF"/>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01  /  THE CLIENT OPPORTUNITY</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Make the capital decision with a clearer view</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Connect asset economics, portfolio constraints and the evidence behind each recommendation.</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02</a:t>
            </a:r>
          </a:p>
        </p:txBody>
      </p:sp>
      <p:sp>
        <p:nvSpPr>
          <p:cNvPr id="9" name="Rectangle 8"/>
          <p:cNvSpPr/>
          <p:nvPr/>
        </p:nvSpPr>
        <p:spPr>
          <a:xfrm>
            <a:off x="457200" y="2148840"/>
            <a:ext cx="3547872"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148840"/>
            <a:ext cx="36576" cy="313639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313432"/>
            <a:ext cx="3182112"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ASSET STRATEGY</a:t>
            </a:r>
          </a:p>
        </p:txBody>
      </p:sp>
      <p:sp>
        <p:nvSpPr>
          <p:cNvPr id="12" name="TextBox 11"/>
          <p:cNvSpPr txBox="1"/>
          <p:nvPr/>
        </p:nvSpPr>
        <p:spPr>
          <a:xfrm>
            <a:off x="640080" y="2715768"/>
            <a:ext cx="3182112"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Which action</a:t>
            </a:r>
          </a:p>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creates value?</a:t>
            </a:r>
          </a:p>
        </p:txBody>
      </p:sp>
      <p:sp>
        <p:nvSpPr>
          <p:cNvPr id="13" name="TextBox 12"/>
          <p:cNvSpPr txBox="1"/>
          <p:nvPr/>
        </p:nvSpPr>
        <p:spPr>
          <a:xfrm>
            <a:off x="640080" y="3657600"/>
            <a:ext cx="3182112" cy="14630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Compare Hold, Retrofit, Repurpose, Redevelop and Sell on a common basis.</a:t>
            </a:r>
          </a:p>
        </p:txBody>
      </p:sp>
      <p:sp>
        <p:nvSpPr>
          <p:cNvPr id="14" name="Rectangle 13"/>
          <p:cNvSpPr/>
          <p:nvPr/>
        </p:nvSpPr>
        <p:spPr>
          <a:xfrm>
            <a:off x="4315968" y="2148840"/>
            <a:ext cx="3547872"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15968" y="2148840"/>
            <a:ext cx="36576" cy="313639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98848" y="2313432"/>
            <a:ext cx="3182112"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PORTFOLIO STRATEGY</a:t>
            </a:r>
          </a:p>
        </p:txBody>
      </p:sp>
      <p:sp>
        <p:nvSpPr>
          <p:cNvPr id="17" name="TextBox 16"/>
          <p:cNvSpPr txBox="1"/>
          <p:nvPr/>
        </p:nvSpPr>
        <p:spPr>
          <a:xfrm>
            <a:off x="4498848" y="2715768"/>
            <a:ext cx="3182112"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Which plan fits</a:t>
            </a:r>
          </a:p>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the mandate?</a:t>
            </a:r>
          </a:p>
        </p:txBody>
      </p:sp>
      <p:sp>
        <p:nvSpPr>
          <p:cNvPr id="18" name="TextBox 17"/>
          <p:cNvSpPr txBox="1"/>
          <p:nvPr/>
        </p:nvSpPr>
        <p:spPr>
          <a:xfrm>
            <a:off x="4498848" y="3657600"/>
            <a:ext cx="3182112" cy="14630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Balance capital release, retained income, project capacity and downside risk.</a:t>
            </a:r>
          </a:p>
        </p:txBody>
      </p:sp>
      <p:sp>
        <p:nvSpPr>
          <p:cNvPr id="19" name="Rectangle 18"/>
          <p:cNvSpPr/>
          <p:nvPr/>
        </p:nvSpPr>
        <p:spPr>
          <a:xfrm>
            <a:off x="8174736" y="2148840"/>
            <a:ext cx="3547872"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74736" y="2148840"/>
            <a:ext cx="36576" cy="313639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57615" y="2313432"/>
            <a:ext cx="3182112"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DECISION GOVERNANCE</a:t>
            </a:r>
          </a:p>
        </p:txBody>
      </p:sp>
      <p:sp>
        <p:nvSpPr>
          <p:cNvPr id="22" name="TextBox 21"/>
          <p:cNvSpPr txBox="1"/>
          <p:nvPr/>
        </p:nvSpPr>
        <p:spPr>
          <a:xfrm>
            <a:off x="8357615" y="2715768"/>
            <a:ext cx="3182112"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What must be</a:t>
            </a:r>
          </a:p>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verified first?</a:t>
            </a:r>
          </a:p>
        </p:txBody>
      </p:sp>
      <p:sp>
        <p:nvSpPr>
          <p:cNvPr id="23" name="TextBox 22"/>
          <p:cNvSpPr txBox="1"/>
          <p:nvPr/>
        </p:nvSpPr>
        <p:spPr>
          <a:xfrm>
            <a:off x="8357615" y="3657600"/>
            <a:ext cx="3182112" cy="14630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Surface missing evidence and explain why a candidate needs further review.</a:t>
            </a:r>
          </a:p>
        </p:txBody>
      </p:sp>
      <p:sp>
        <p:nvSpPr>
          <p:cNvPr id="24" name="Rectangle 23"/>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A practical output: a ranked, constrained and explainable decision brief.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01  /  CURRENT UNDERSTANDING</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The challenge is connecting evidence to a decision</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Common portfolio review challenges — to be confirmed against the client’s current process.</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03</a:t>
            </a:r>
          </a:p>
        </p:txBody>
      </p:sp>
      <p:sp>
        <p:nvSpPr>
          <p:cNvPr id="9" name="Oval 8"/>
          <p:cNvSpPr/>
          <p:nvPr/>
        </p:nvSpPr>
        <p:spPr>
          <a:xfrm>
            <a:off x="512064" y="2212848"/>
            <a:ext cx="365760" cy="3657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263140"/>
            <a:ext cx="292608" cy="219456"/>
          </a:xfrm>
          <a:prstGeom prst="rect">
            <a:avLst/>
          </a:prstGeom>
          <a:noFill/>
          <a:effectLst/>
        </p:spPr>
        <p:txBody>
          <a:bodyPr wrap="square" lIns="0" tIns="0" rIns="0" bIns="0">
            <a:spAutoFit/>
          </a:bodyPr>
          <a:lstStyle/>
          <a:p>
            <a:pPr algn="ctr">
              <a:lnSpc>
                <a:spcPct val="108000"/>
              </a:lnSpc>
              <a:spcAft>
                <a:spcPts val="400"/>
              </a:spcAft>
              <a:defRPr sz="1300" b="0">
                <a:solidFill>
                  <a:srgbClr val="FFFFFF"/>
                </a:solidFill>
                <a:latin typeface="IBM Plex Sans"/>
              </a:defRPr>
            </a:pPr>
            <a:r>
              <a:rPr sz="1300" b="0">
                <a:solidFill>
                  <a:srgbClr val="FFFFFF"/>
                </a:solidFill>
                <a:latin typeface="IBM Plex Sans"/>
              </a:rPr>
              <a:t>1</a:t>
            </a:r>
          </a:p>
        </p:txBody>
      </p:sp>
      <p:sp>
        <p:nvSpPr>
          <p:cNvPr id="11" name="TextBox 10"/>
          <p:cNvSpPr txBox="1"/>
          <p:nvPr/>
        </p:nvSpPr>
        <p:spPr>
          <a:xfrm>
            <a:off x="1051560" y="2157984"/>
            <a:ext cx="3749039" cy="374904"/>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Fragmented evidence</a:t>
            </a:r>
          </a:p>
        </p:txBody>
      </p:sp>
      <p:sp>
        <p:nvSpPr>
          <p:cNvPr id="12" name="TextBox 11"/>
          <p:cNvSpPr txBox="1"/>
          <p:nvPr/>
        </p:nvSpPr>
        <p:spPr>
          <a:xfrm>
            <a:off x="1051560" y="2606039"/>
            <a:ext cx="4005072" cy="384048"/>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Leases, title, planning and costs</a:t>
            </a:r>
          </a:p>
        </p:txBody>
      </p:sp>
      <p:cxnSp>
        <p:nvCxnSpPr>
          <p:cNvPr id="13" name="Connector 12"/>
          <p:cNvCxnSpPr/>
          <p:nvPr/>
        </p:nvCxnSpPr>
        <p:spPr>
          <a:xfrm>
            <a:off x="5394960" y="2551176"/>
            <a:ext cx="685800" cy="0"/>
          </a:xfrm>
          <a:prstGeom prst="line">
            <a:avLst/>
          </a:prstGeom>
          <a:ln w="15875">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9088" y="2240279"/>
            <a:ext cx="5074920" cy="749808"/>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Different owners and update cycles</a:t>
            </a:r>
          </a:p>
        </p:txBody>
      </p:sp>
      <p:sp>
        <p:nvSpPr>
          <p:cNvPr id="15" name="Oval 14"/>
          <p:cNvSpPr/>
          <p:nvPr/>
        </p:nvSpPr>
        <p:spPr>
          <a:xfrm>
            <a:off x="512064" y="3429000"/>
            <a:ext cx="365760" cy="3657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479292"/>
            <a:ext cx="292608" cy="219456"/>
          </a:xfrm>
          <a:prstGeom prst="rect">
            <a:avLst/>
          </a:prstGeom>
          <a:noFill/>
          <a:effectLst/>
        </p:spPr>
        <p:txBody>
          <a:bodyPr wrap="square" lIns="0" tIns="0" rIns="0" bIns="0">
            <a:spAutoFit/>
          </a:bodyPr>
          <a:lstStyle/>
          <a:p>
            <a:pPr algn="ctr">
              <a:lnSpc>
                <a:spcPct val="108000"/>
              </a:lnSpc>
              <a:spcAft>
                <a:spcPts val="400"/>
              </a:spcAft>
              <a:defRPr sz="1300" b="0">
                <a:solidFill>
                  <a:srgbClr val="FFFFFF"/>
                </a:solidFill>
                <a:latin typeface="IBM Plex Sans"/>
              </a:defRPr>
            </a:pPr>
            <a:r>
              <a:rPr sz="1300" b="0">
                <a:solidFill>
                  <a:srgbClr val="FFFFFF"/>
                </a:solidFill>
                <a:latin typeface="IBM Plex Sans"/>
              </a:rPr>
              <a:t>2</a:t>
            </a:r>
          </a:p>
        </p:txBody>
      </p:sp>
      <p:sp>
        <p:nvSpPr>
          <p:cNvPr id="17" name="TextBox 16"/>
          <p:cNvSpPr txBox="1"/>
          <p:nvPr/>
        </p:nvSpPr>
        <p:spPr>
          <a:xfrm>
            <a:off x="1051560" y="3374136"/>
            <a:ext cx="3749039" cy="374904"/>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Inconsistent economics</a:t>
            </a:r>
          </a:p>
        </p:txBody>
      </p:sp>
      <p:sp>
        <p:nvSpPr>
          <p:cNvPr id="18" name="TextBox 17"/>
          <p:cNvSpPr txBox="1"/>
          <p:nvPr/>
        </p:nvSpPr>
        <p:spPr>
          <a:xfrm>
            <a:off x="1051560" y="3822191"/>
            <a:ext cx="4005072" cy="384048"/>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Different time horizons and baselines</a:t>
            </a:r>
          </a:p>
        </p:txBody>
      </p:sp>
      <p:cxnSp>
        <p:nvCxnSpPr>
          <p:cNvPr id="19" name="Connector 18"/>
          <p:cNvCxnSpPr/>
          <p:nvPr/>
        </p:nvCxnSpPr>
        <p:spPr>
          <a:xfrm>
            <a:off x="5394960" y="3767328"/>
            <a:ext cx="685800" cy="0"/>
          </a:xfrm>
          <a:prstGeom prst="line">
            <a:avLst/>
          </a:prstGeom>
          <a:ln w="15875">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9088" y="3456432"/>
            <a:ext cx="5074920" cy="749808"/>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Gross value can be confused with incremental gain</a:t>
            </a:r>
          </a:p>
        </p:txBody>
      </p:sp>
      <p:sp>
        <p:nvSpPr>
          <p:cNvPr id="21" name="Oval 20"/>
          <p:cNvSpPr/>
          <p:nvPr/>
        </p:nvSpPr>
        <p:spPr>
          <a:xfrm>
            <a:off x="512064" y="4645151"/>
            <a:ext cx="365760" cy="3657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4695444"/>
            <a:ext cx="292608" cy="219456"/>
          </a:xfrm>
          <a:prstGeom prst="rect">
            <a:avLst/>
          </a:prstGeom>
          <a:noFill/>
          <a:effectLst/>
        </p:spPr>
        <p:txBody>
          <a:bodyPr wrap="square" lIns="0" tIns="0" rIns="0" bIns="0">
            <a:spAutoFit/>
          </a:bodyPr>
          <a:lstStyle/>
          <a:p>
            <a:pPr algn="ctr">
              <a:lnSpc>
                <a:spcPct val="108000"/>
              </a:lnSpc>
              <a:spcAft>
                <a:spcPts val="400"/>
              </a:spcAft>
              <a:defRPr sz="1300" b="0">
                <a:solidFill>
                  <a:srgbClr val="FFFFFF"/>
                </a:solidFill>
                <a:latin typeface="IBM Plex Sans"/>
              </a:defRPr>
            </a:pPr>
            <a:r>
              <a:rPr sz="1300" b="0">
                <a:solidFill>
                  <a:srgbClr val="FFFFFF"/>
                </a:solidFill>
                <a:latin typeface="IBM Plex Sans"/>
              </a:rPr>
              <a:t>3</a:t>
            </a:r>
          </a:p>
        </p:txBody>
      </p:sp>
      <p:sp>
        <p:nvSpPr>
          <p:cNvPr id="23" name="TextBox 22"/>
          <p:cNvSpPr txBox="1"/>
          <p:nvPr/>
        </p:nvSpPr>
        <p:spPr>
          <a:xfrm>
            <a:off x="1051560" y="4590288"/>
            <a:ext cx="3749039" cy="374904"/>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Competing objectives</a:t>
            </a:r>
          </a:p>
        </p:txBody>
      </p:sp>
      <p:sp>
        <p:nvSpPr>
          <p:cNvPr id="24" name="TextBox 23"/>
          <p:cNvSpPr txBox="1"/>
          <p:nvPr/>
        </p:nvSpPr>
        <p:spPr>
          <a:xfrm>
            <a:off x="1051560" y="5038344"/>
            <a:ext cx="4005072" cy="384048"/>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Asset returns, income and liquidity</a:t>
            </a:r>
          </a:p>
        </p:txBody>
      </p:sp>
      <p:cxnSp>
        <p:nvCxnSpPr>
          <p:cNvPr id="25" name="Connector 24"/>
          <p:cNvCxnSpPr/>
          <p:nvPr/>
        </p:nvCxnSpPr>
        <p:spPr>
          <a:xfrm>
            <a:off x="5394960" y="4983479"/>
            <a:ext cx="685800" cy="0"/>
          </a:xfrm>
          <a:prstGeom prst="line">
            <a:avLst/>
          </a:prstGeom>
          <a:ln w="15875">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19088" y="4672583"/>
            <a:ext cx="5074920" cy="749808"/>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A strong asset idea may not fit the portfolio</a:t>
            </a:r>
          </a:p>
        </p:txBody>
      </p:sp>
      <p:sp>
        <p:nvSpPr>
          <p:cNvPr id="27" name="Rectangle 26"/>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The platform makes assumptions comparable before it ranks the alternatives.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02  /  PROOF-OF-CONCEPT SCOPE</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One workflow from inputs to investment review</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Each stage produces an output that can be checked before the next decision.</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04</a:t>
            </a:r>
          </a:p>
        </p:txBody>
      </p:sp>
      <p:sp>
        <p:nvSpPr>
          <p:cNvPr id="9" name="Rectangle 8"/>
          <p:cNvSpPr/>
          <p:nvPr/>
        </p:nvSpPr>
        <p:spPr>
          <a:xfrm>
            <a:off x="457200" y="2560320"/>
            <a:ext cx="2084831" cy="2057400"/>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 y="2770632"/>
            <a:ext cx="1737360" cy="274320"/>
          </a:xfrm>
          <a:prstGeom prst="rect">
            <a:avLst/>
          </a:prstGeom>
          <a:noFill/>
          <a:effectLst/>
        </p:spPr>
        <p:txBody>
          <a:bodyPr wrap="square" lIns="0" tIns="0" rIns="0" bIns="0">
            <a:spAutoFit/>
          </a:bodyPr>
          <a:lstStyle/>
          <a:p>
            <a:pPr algn="l">
              <a:lnSpc>
                <a:spcPct val="108000"/>
              </a:lnSpc>
              <a:spcAft>
                <a:spcPts val="400"/>
              </a:spcAft>
              <a:defRPr sz="1300" b="0">
                <a:solidFill>
                  <a:srgbClr val="0F62FE"/>
                </a:solidFill>
                <a:latin typeface="IBM Plex Sans"/>
              </a:defRPr>
            </a:pPr>
            <a:r>
              <a:rPr sz="1300" b="0">
                <a:solidFill>
                  <a:srgbClr val="0F62FE"/>
                </a:solidFill>
                <a:latin typeface="IBM Plex Sans"/>
              </a:rPr>
              <a:t>01</a:t>
            </a:r>
          </a:p>
        </p:txBody>
      </p:sp>
      <p:sp>
        <p:nvSpPr>
          <p:cNvPr id="11" name="TextBox 10"/>
          <p:cNvSpPr txBox="1"/>
          <p:nvPr/>
        </p:nvSpPr>
        <p:spPr>
          <a:xfrm>
            <a:off x="621792" y="3255264"/>
            <a:ext cx="1746504" cy="36576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Assemble</a:t>
            </a:r>
          </a:p>
        </p:txBody>
      </p:sp>
      <p:sp>
        <p:nvSpPr>
          <p:cNvPr id="12" name="TextBox 11"/>
          <p:cNvSpPr txBox="1"/>
          <p:nvPr/>
        </p:nvSpPr>
        <p:spPr>
          <a:xfrm>
            <a:off x="621792" y="3794760"/>
            <a:ext cx="1746504" cy="5486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Asset and</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market inputs</a:t>
            </a:r>
          </a:p>
        </p:txBody>
      </p:sp>
      <p:cxnSp>
        <p:nvCxnSpPr>
          <p:cNvPr id="13" name="Connector 12"/>
          <p:cNvCxnSpPr/>
          <p:nvPr/>
        </p:nvCxnSpPr>
        <p:spPr>
          <a:xfrm>
            <a:off x="2542032" y="3547872"/>
            <a:ext cx="182880"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743200" y="2560320"/>
            <a:ext cx="2084831" cy="2057400"/>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07792" y="2770632"/>
            <a:ext cx="1737360" cy="274320"/>
          </a:xfrm>
          <a:prstGeom prst="rect">
            <a:avLst/>
          </a:prstGeom>
          <a:noFill/>
          <a:effectLst/>
        </p:spPr>
        <p:txBody>
          <a:bodyPr wrap="square" lIns="0" tIns="0" rIns="0" bIns="0">
            <a:spAutoFit/>
          </a:bodyPr>
          <a:lstStyle/>
          <a:p>
            <a:pPr algn="l">
              <a:lnSpc>
                <a:spcPct val="108000"/>
              </a:lnSpc>
              <a:spcAft>
                <a:spcPts val="400"/>
              </a:spcAft>
              <a:defRPr sz="1300" b="0">
                <a:solidFill>
                  <a:srgbClr val="0F62FE"/>
                </a:solidFill>
                <a:latin typeface="IBM Plex Sans"/>
              </a:defRPr>
            </a:pPr>
            <a:r>
              <a:rPr sz="1300" b="0">
                <a:solidFill>
                  <a:srgbClr val="0F62FE"/>
                </a:solidFill>
                <a:latin typeface="IBM Plex Sans"/>
              </a:rPr>
              <a:t>02</a:t>
            </a:r>
          </a:p>
        </p:txBody>
      </p:sp>
      <p:sp>
        <p:nvSpPr>
          <p:cNvPr id="16" name="TextBox 15"/>
          <p:cNvSpPr txBox="1"/>
          <p:nvPr/>
        </p:nvSpPr>
        <p:spPr>
          <a:xfrm>
            <a:off x="2907792" y="3255264"/>
            <a:ext cx="1746504" cy="36576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Validate</a:t>
            </a:r>
          </a:p>
        </p:txBody>
      </p:sp>
      <p:sp>
        <p:nvSpPr>
          <p:cNvPr id="17" name="TextBox 16"/>
          <p:cNvSpPr txBox="1"/>
          <p:nvPr/>
        </p:nvSpPr>
        <p:spPr>
          <a:xfrm>
            <a:off x="2907792" y="3794760"/>
            <a:ext cx="1746504" cy="5486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Dates, units</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and evidence</a:t>
            </a:r>
          </a:p>
        </p:txBody>
      </p:sp>
      <p:cxnSp>
        <p:nvCxnSpPr>
          <p:cNvPr id="18" name="Connector 17"/>
          <p:cNvCxnSpPr/>
          <p:nvPr/>
        </p:nvCxnSpPr>
        <p:spPr>
          <a:xfrm>
            <a:off x="4828031" y="3547872"/>
            <a:ext cx="182881"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029200" y="2560320"/>
            <a:ext cx="2084831" cy="2057400"/>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93792" y="2770632"/>
            <a:ext cx="1737360" cy="274320"/>
          </a:xfrm>
          <a:prstGeom prst="rect">
            <a:avLst/>
          </a:prstGeom>
          <a:noFill/>
          <a:effectLst/>
        </p:spPr>
        <p:txBody>
          <a:bodyPr wrap="square" lIns="0" tIns="0" rIns="0" bIns="0">
            <a:spAutoFit/>
          </a:bodyPr>
          <a:lstStyle/>
          <a:p>
            <a:pPr algn="l">
              <a:lnSpc>
                <a:spcPct val="108000"/>
              </a:lnSpc>
              <a:spcAft>
                <a:spcPts val="400"/>
              </a:spcAft>
              <a:defRPr sz="1300" b="0">
                <a:solidFill>
                  <a:srgbClr val="0F62FE"/>
                </a:solidFill>
                <a:latin typeface="IBM Plex Sans"/>
              </a:defRPr>
            </a:pPr>
            <a:r>
              <a:rPr sz="1300" b="0">
                <a:solidFill>
                  <a:srgbClr val="0F62FE"/>
                </a:solidFill>
                <a:latin typeface="IBM Plex Sans"/>
              </a:rPr>
              <a:t>03</a:t>
            </a:r>
          </a:p>
        </p:txBody>
      </p:sp>
      <p:sp>
        <p:nvSpPr>
          <p:cNvPr id="21" name="TextBox 20"/>
          <p:cNvSpPr txBox="1"/>
          <p:nvPr/>
        </p:nvSpPr>
        <p:spPr>
          <a:xfrm>
            <a:off x="5193792" y="3255264"/>
            <a:ext cx="1746504" cy="36576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Compare</a:t>
            </a:r>
          </a:p>
        </p:txBody>
      </p:sp>
      <p:sp>
        <p:nvSpPr>
          <p:cNvPr id="22" name="TextBox 21"/>
          <p:cNvSpPr txBox="1"/>
          <p:nvPr/>
        </p:nvSpPr>
        <p:spPr>
          <a:xfrm>
            <a:off x="5193792" y="3794760"/>
            <a:ext cx="1746504" cy="5486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Cash flows</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and scenarios</a:t>
            </a:r>
          </a:p>
        </p:txBody>
      </p:sp>
      <p:cxnSp>
        <p:nvCxnSpPr>
          <p:cNvPr id="23" name="Connector 22"/>
          <p:cNvCxnSpPr/>
          <p:nvPr/>
        </p:nvCxnSpPr>
        <p:spPr>
          <a:xfrm>
            <a:off x="7114031" y="3547872"/>
            <a:ext cx="182881"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15200" y="2560320"/>
            <a:ext cx="2084831" cy="2057400"/>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79792" y="2770632"/>
            <a:ext cx="1737360" cy="274320"/>
          </a:xfrm>
          <a:prstGeom prst="rect">
            <a:avLst/>
          </a:prstGeom>
          <a:noFill/>
          <a:effectLst/>
        </p:spPr>
        <p:txBody>
          <a:bodyPr wrap="square" lIns="0" tIns="0" rIns="0" bIns="0">
            <a:spAutoFit/>
          </a:bodyPr>
          <a:lstStyle/>
          <a:p>
            <a:pPr algn="l">
              <a:lnSpc>
                <a:spcPct val="108000"/>
              </a:lnSpc>
              <a:spcAft>
                <a:spcPts val="400"/>
              </a:spcAft>
              <a:defRPr sz="1300" b="0">
                <a:solidFill>
                  <a:srgbClr val="0F62FE"/>
                </a:solidFill>
                <a:latin typeface="IBM Plex Sans"/>
              </a:defRPr>
            </a:pPr>
            <a:r>
              <a:rPr sz="1300" b="0">
                <a:solidFill>
                  <a:srgbClr val="0F62FE"/>
                </a:solidFill>
                <a:latin typeface="IBM Plex Sans"/>
              </a:rPr>
              <a:t>04</a:t>
            </a:r>
          </a:p>
        </p:txBody>
      </p:sp>
      <p:sp>
        <p:nvSpPr>
          <p:cNvPr id="26" name="TextBox 25"/>
          <p:cNvSpPr txBox="1"/>
          <p:nvPr/>
        </p:nvSpPr>
        <p:spPr>
          <a:xfrm>
            <a:off x="7479792" y="3255264"/>
            <a:ext cx="1746504" cy="36576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Allocate</a:t>
            </a:r>
          </a:p>
        </p:txBody>
      </p:sp>
      <p:sp>
        <p:nvSpPr>
          <p:cNvPr id="27" name="TextBox 26"/>
          <p:cNvSpPr txBox="1"/>
          <p:nvPr/>
        </p:nvSpPr>
        <p:spPr>
          <a:xfrm>
            <a:off x="7479792" y="3794760"/>
            <a:ext cx="1746504" cy="5486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Capital, risk</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and income</a:t>
            </a:r>
          </a:p>
        </p:txBody>
      </p:sp>
      <p:cxnSp>
        <p:nvCxnSpPr>
          <p:cNvPr id="28" name="Connector 27"/>
          <p:cNvCxnSpPr/>
          <p:nvPr/>
        </p:nvCxnSpPr>
        <p:spPr>
          <a:xfrm>
            <a:off x="9400032" y="3547872"/>
            <a:ext cx="182880"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601200" y="2560320"/>
            <a:ext cx="2084831" cy="2057400"/>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65792" y="2770632"/>
            <a:ext cx="1737360" cy="274320"/>
          </a:xfrm>
          <a:prstGeom prst="rect">
            <a:avLst/>
          </a:prstGeom>
          <a:noFill/>
          <a:effectLst/>
        </p:spPr>
        <p:txBody>
          <a:bodyPr wrap="square" lIns="0" tIns="0" rIns="0" bIns="0">
            <a:spAutoFit/>
          </a:bodyPr>
          <a:lstStyle/>
          <a:p>
            <a:pPr algn="l">
              <a:lnSpc>
                <a:spcPct val="108000"/>
              </a:lnSpc>
              <a:spcAft>
                <a:spcPts val="400"/>
              </a:spcAft>
              <a:defRPr sz="1300" b="0">
                <a:solidFill>
                  <a:srgbClr val="0F62FE"/>
                </a:solidFill>
                <a:latin typeface="IBM Plex Sans"/>
              </a:defRPr>
            </a:pPr>
            <a:r>
              <a:rPr sz="1300" b="0">
                <a:solidFill>
                  <a:srgbClr val="0F62FE"/>
                </a:solidFill>
                <a:latin typeface="IBM Plex Sans"/>
              </a:rPr>
              <a:t>05</a:t>
            </a:r>
          </a:p>
        </p:txBody>
      </p:sp>
      <p:sp>
        <p:nvSpPr>
          <p:cNvPr id="31" name="TextBox 30"/>
          <p:cNvSpPr txBox="1"/>
          <p:nvPr/>
        </p:nvSpPr>
        <p:spPr>
          <a:xfrm>
            <a:off x="9765792" y="3255264"/>
            <a:ext cx="1746504" cy="36576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Review</a:t>
            </a:r>
          </a:p>
        </p:txBody>
      </p:sp>
      <p:sp>
        <p:nvSpPr>
          <p:cNvPr id="32" name="TextBox 31"/>
          <p:cNvSpPr txBox="1"/>
          <p:nvPr/>
        </p:nvSpPr>
        <p:spPr>
          <a:xfrm>
            <a:off x="9765792" y="3794760"/>
            <a:ext cx="1746504" cy="54864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Decision brief</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and open gaps</a:t>
            </a:r>
          </a:p>
        </p:txBody>
      </p:sp>
      <p:sp>
        <p:nvSpPr>
          <p:cNvPr id="33" name="TextBox 32"/>
          <p:cNvSpPr txBox="1"/>
          <p:nvPr/>
        </p:nvSpPr>
        <p:spPr>
          <a:xfrm>
            <a:off x="502920" y="5001768"/>
            <a:ext cx="914400" cy="539496"/>
          </a:xfrm>
          <a:prstGeom prst="rect">
            <a:avLst/>
          </a:prstGeom>
          <a:noFill/>
          <a:effectLst/>
        </p:spPr>
        <p:txBody>
          <a:bodyPr wrap="square" lIns="0" tIns="0" rIns="0" bIns="0">
            <a:spAutoFit/>
          </a:bodyPr>
          <a:lstStyle/>
          <a:p>
            <a:pPr algn="l">
              <a:lnSpc>
                <a:spcPct val="108000"/>
              </a:lnSpc>
              <a:spcAft>
                <a:spcPts val="400"/>
              </a:spcAft>
              <a:defRPr sz="3400" b="0">
                <a:solidFill>
                  <a:srgbClr val="0F62FE"/>
                </a:solidFill>
                <a:latin typeface="IBM Plex Sans Light"/>
              </a:defRPr>
            </a:pPr>
            <a:r>
              <a:rPr sz="3400" b="0">
                <a:solidFill>
                  <a:srgbClr val="0F62FE"/>
                </a:solidFill>
                <a:latin typeface="IBM Plex Sans Light"/>
              </a:rPr>
              <a:t>10</a:t>
            </a:r>
          </a:p>
        </p:txBody>
      </p:sp>
      <p:sp>
        <p:nvSpPr>
          <p:cNvPr id="34" name="TextBox 33"/>
          <p:cNvSpPr txBox="1"/>
          <p:nvPr/>
        </p:nvSpPr>
        <p:spPr>
          <a:xfrm>
            <a:off x="1554480" y="5166360"/>
            <a:ext cx="2468880" cy="45720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fictional demo assets</a:t>
            </a:r>
          </a:p>
        </p:txBody>
      </p:sp>
      <p:sp>
        <p:nvSpPr>
          <p:cNvPr id="35" name="TextBox 34"/>
          <p:cNvSpPr txBox="1"/>
          <p:nvPr/>
        </p:nvSpPr>
        <p:spPr>
          <a:xfrm>
            <a:off x="4343400" y="5001768"/>
            <a:ext cx="914400" cy="539496"/>
          </a:xfrm>
          <a:prstGeom prst="rect">
            <a:avLst/>
          </a:prstGeom>
          <a:noFill/>
          <a:effectLst/>
        </p:spPr>
        <p:txBody>
          <a:bodyPr wrap="square" lIns="0" tIns="0" rIns="0" bIns="0">
            <a:spAutoFit/>
          </a:bodyPr>
          <a:lstStyle/>
          <a:p>
            <a:pPr algn="l">
              <a:lnSpc>
                <a:spcPct val="108000"/>
              </a:lnSpc>
              <a:spcAft>
                <a:spcPts val="400"/>
              </a:spcAft>
              <a:defRPr sz="3400" b="0">
                <a:solidFill>
                  <a:srgbClr val="0F62FE"/>
                </a:solidFill>
                <a:latin typeface="IBM Plex Sans Light"/>
              </a:defRPr>
            </a:pPr>
            <a:r>
              <a:rPr sz="3400" b="0">
                <a:solidFill>
                  <a:srgbClr val="0F62FE"/>
                </a:solidFill>
                <a:latin typeface="IBM Plex Sans Light"/>
              </a:rPr>
              <a:t>5</a:t>
            </a:r>
          </a:p>
        </p:txBody>
      </p:sp>
      <p:sp>
        <p:nvSpPr>
          <p:cNvPr id="36" name="TextBox 35"/>
          <p:cNvSpPr txBox="1"/>
          <p:nvPr/>
        </p:nvSpPr>
        <p:spPr>
          <a:xfrm>
            <a:off x="5394960" y="5166360"/>
            <a:ext cx="2468880" cy="45720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action alternatives</a:t>
            </a:r>
          </a:p>
        </p:txBody>
      </p:sp>
      <p:sp>
        <p:nvSpPr>
          <p:cNvPr id="37" name="TextBox 36"/>
          <p:cNvSpPr txBox="1"/>
          <p:nvPr/>
        </p:nvSpPr>
        <p:spPr>
          <a:xfrm>
            <a:off x="8183879" y="5001768"/>
            <a:ext cx="914400" cy="539496"/>
          </a:xfrm>
          <a:prstGeom prst="rect">
            <a:avLst/>
          </a:prstGeom>
          <a:noFill/>
          <a:effectLst/>
        </p:spPr>
        <p:txBody>
          <a:bodyPr wrap="square" lIns="0" tIns="0" rIns="0" bIns="0">
            <a:spAutoFit/>
          </a:bodyPr>
          <a:lstStyle/>
          <a:p>
            <a:pPr algn="l">
              <a:lnSpc>
                <a:spcPct val="108000"/>
              </a:lnSpc>
              <a:spcAft>
                <a:spcPts val="400"/>
              </a:spcAft>
              <a:defRPr sz="3400" b="0">
                <a:solidFill>
                  <a:srgbClr val="0F62FE"/>
                </a:solidFill>
                <a:latin typeface="IBM Plex Sans Light"/>
              </a:defRPr>
            </a:pPr>
            <a:r>
              <a:rPr sz="3400" b="0">
                <a:solidFill>
                  <a:srgbClr val="0F62FE"/>
                </a:solidFill>
                <a:latin typeface="IBM Plex Sans Light"/>
              </a:rPr>
              <a:t>15</a:t>
            </a:r>
          </a:p>
        </p:txBody>
      </p:sp>
      <p:sp>
        <p:nvSpPr>
          <p:cNvPr id="38" name="TextBox 37"/>
          <p:cNvSpPr txBox="1"/>
          <p:nvPr/>
        </p:nvSpPr>
        <p:spPr>
          <a:xfrm>
            <a:off x="9235440" y="5166360"/>
            <a:ext cx="2468880" cy="457200"/>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dashboard sections</a:t>
            </a:r>
          </a:p>
        </p:txBody>
      </p:sp>
      <p:sp>
        <p:nvSpPr>
          <p:cNvPr id="39" name="TextBox 38"/>
          <p:cNvSpPr txBox="1"/>
          <p:nvPr/>
        </p:nvSpPr>
        <p:spPr>
          <a:xfrm>
            <a:off x="457200" y="6199632"/>
            <a:ext cx="11064240" cy="182880"/>
          </a:xfrm>
          <a:prstGeom prst="rect">
            <a:avLst/>
          </a:prstGeom>
          <a:noFill/>
          <a:effectLst/>
        </p:spPr>
        <p:txBody>
          <a:bodyPr wrap="square" lIns="0" tIns="0" rIns="0" bIns="0">
            <a:spAutoFit/>
          </a:bodyPr>
          <a:lstStyle/>
          <a:p>
            <a:pPr algn="l">
              <a:lnSpc>
                <a:spcPct val="108000"/>
              </a:lnSpc>
              <a:spcAft>
                <a:spcPts val="400"/>
              </a:spcAft>
              <a:defRPr sz="950" b="0">
                <a:solidFill>
                  <a:srgbClr val="5B6573"/>
                </a:solidFill>
                <a:latin typeface="IBM Plex Sans"/>
              </a:defRPr>
            </a:pPr>
            <a:r>
              <a:rPr sz="950" b="0">
                <a:solidFill>
                  <a:srgbClr val="5B6573"/>
                </a:solidFill>
                <a:latin typeface="IBM Plex Sans"/>
              </a:rPr>
              <a:t>The public demonstration uses fictional assets; client deployment begins with verified client inputs.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DASHBOARD WALKTHROUGH</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The dashboard connects the overview to the asset case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A simplified, editable view of the implemented workspace; open the public dashboard for the full interface.</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Illustrative results from 10 fictional assets. SGD millions unless stated. Model snapshot: 25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05</a:t>
            </a:r>
          </a:p>
        </p:txBody>
      </p:sp>
      <p:sp>
        <p:nvSpPr>
          <p:cNvPr id="9" name="Rectangle 8"/>
          <p:cNvSpPr/>
          <p:nvPr/>
        </p:nvSpPr>
        <p:spPr>
          <a:xfrm>
            <a:off x="457200" y="2048256"/>
            <a:ext cx="11274552" cy="3995928"/>
          </a:xfrm>
          <a:prstGeom prst="rect">
            <a:avLst/>
          </a:prstGeom>
          <a:solidFill>
            <a:srgbClr val="F7F9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048256"/>
            <a:ext cx="1481328" cy="3995928"/>
          </a:xfrm>
          <a:prstGeom prst="rect">
            <a:avLst/>
          </a:prstGeom>
          <a:solidFill>
            <a:srgbClr val="20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2249424"/>
            <a:ext cx="1152144" cy="612648"/>
          </a:xfrm>
          <a:prstGeom prst="rect">
            <a:avLst/>
          </a:prstGeom>
          <a:noFill/>
          <a:effectLst/>
        </p:spPr>
        <p:txBody>
          <a:bodyPr wrap="square" lIns="0" tIns="0" rIns="0" bIns="0">
            <a:spAutoFit/>
          </a:bodyPr>
          <a:lstStyle/>
          <a:p>
            <a:pPr algn="l">
              <a:lnSpc>
                <a:spcPct val="108000"/>
              </a:lnSpc>
              <a:spcAft>
                <a:spcPts val="400"/>
              </a:spcAft>
              <a:defRPr sz="1100" b="0">
                <a:solidFill>
                  <a:srgbClr val="FFFFFF"/>
                </a:solidFill>
                <a:latin typeface="IBM Plex Sans"/>
              </a:defRPr>
            </a:pPr>
            <a:r>
              <a:rPr sz="1100" b="0">
                <a:solidFill>
                  <a:srgbClr val="FFFFFF"/>
                </a:solidFill>
                <a:latin typeface="IBM Plex Sans"/>
              </a:rPr>
              <a:t>PORTFOLIO</a:t>
            </a:r>
          </a:p>
          <a:p>
            <a:pPr algn="l">
              <a:lnSpc>
                <a:spcPct val="108000"/>
              </a:lnSpc>
              <a:spcAft>
                <a:spcPts val="400"/>
              </a:spcAft>
              <a:defRPr sz="1100" b="0">
                <a:solidFill>
                  <a:srgbClr val="FFFFFF"/>
                </a:solidFill>
                <a:latin typeface="IBM Plex Sans"/>
              </a:defRPr>
            </a:pPr>
            <a:r>
              <a:rPr sz="1100" b="0">
                <a:solidFill>
                  <a:srgbClr val="FFFFFF"/>
                </a:solidFill>
                <a:latin typeface="IBM Plex Sans"/>
              </a:rPr>
              <a:t>INTELLIGENCE</a:t>
            </a:r>
          </a:p>
        </p:txBody>
      </p:sp>
      <p:sp>
        <p:nvSpPr>
          <p:cNvPr id="12" name="TextBox 11"/>
          <p:cNvSpPr txBox="1"/>
          <p:nvPr/>
        </p:nvSpPr>
        <p:spPr>
          <a:xfrm>
            <a:off x="621792" y="3054096"/>
            <a:ext cx="1152144" cy="320040"/>
          </a:xfrm>
          <a:prstGeom prst="rect">
            <a:avLst/>
          </a:prstGeom>
          <a:noFill/>
          <a:effectLst/>
        </p:spPr>
        <p:txBody>
          <a:bodyPr wrap="square" lIns="0" tIns="0" rIns="0" bIns="0">
            <a:spAutoFit/>
          </a:bodyPr>
          <a:lstStyle/>
          <a:p>
            <a:pPr algn="l">
              <a:lnSpc>
                <a:spcPct val="108000"/>
              </a:lnSpc>
              <a:spcAft>
                <a:spcPts val="400"/>
              </a:spcAft>
              <a:defRPr sz="1100" b="0">
                <a:solidFill>
                  <a:srgbClr val="BCC8D7"/>
                </a:solidFill>
                <a:latin typeface="IBM Plex Sans"/>
              </a:defRPr>
            </a:pPr>
            <a:r>
              <a:rPr sz="1100" b="0">
                <a:solidFill>
                  <a:srgbClr val="BCC8D7"/>
                </a:solidFill>
                <a:latin typeface="IBM Plex Sans"/>
              </a:rPr>
              <a:t>Portfolio</a:t>
            </a:r>
          </a:p>
        </p:txBody>
      </p:sp>
      <p:sp>
        <p:nvSpPr>
          <p:cNvPr id="13" name="TextBox 12"/>
          <p:cNvSpPr txBox="1"/>
          <p:nvPr/>
        </p:nvSpPr>
        <p:spPr>
          <a:xfrm>
            <a:off x="621792" y="3465576"/>
            <a:ext cx="1152144" cy="320040"/>
          </a:xfrm>
          <a:prstGeom prst="rect">
            <a:avLst/>
          </a:prstGeom>
          <a:noFill/>
          <a:effectLst/>
        </p:spPr>
        <p:txBody>
          <a:bodyPr wrap="square" lIns="0" tIns="0" rIns="0" bIns="0">
            <a:spAutoFit/>
          </a:bodyPr>
          <a:lstStyle/>
          <a:p>
            <a:pPr algn="l">
              <a:lnSpc>
                <a:spcPct val="108000"/>
              </a:lnSpc>
              <a:spcAft>
                <a:spcPts val="400"/>
              </a:spcAft>
              <a:defRPr sz="1100" b="0">
                <a:solidFill>
                  <a:srgbClr val="BCC8D7"/>
                </a:solidFill>
                <a:latin typeface="IBM Plex Sans"/>
              </a:defRPr>
            </a:pPr>
            <a:r>
              <a:rPr sz="1100" b="0">
                <a:solidFill>
                  <a:srgbClr val="BCC8D7"/>
                </a:solidFill>
                <a:latin typeface="IBM Plex Sans"/>
              </a:rPr>
              <a:t>Digital Twins</a:t>
            </a:r>
          </a:p>
        </p:txBody>
      </p:sp>
      <p:sp>
        <p:nvSpPr>
          <p:cNvPr id="14" name="TextBox 13"/>
          <p:cNvSpPr txBox="1"/>
          <p:nvPr/>
        </p:nvSpPr>
        <p:spPr>
          <a:xfrm>
            <a:off x="621792" y="3877056"/>
            <a:ext cx="1152144" cy="320040"/>
          </a:xfrm>
          <a:prstGeom prst="rect">
            <a:avLst/>
          </a:prstGeom>
          <a:noFill/>
          <a:effectLst/>
        </p:spPr>
        <p:txBody>
          <a:bodyPr wrap="square" lIns="0" tIns="0" rIns="0" bIns="0">
            <a:spAutoFit/>
          </a:bodyPr>
          <a:lstStyle/>
          <a:p>
            <a:pPr algn="l">
              <a:lnSpc>
                <a:spcPct val="108000"/>
              </a:lnSpc>
              <a:spcAft>
                <a:spcPts val="400"/>
              </a:spcAft>
              <a:defRPr sz="1100" b="0">
                <a:solidFill>
                  <a:srgbClr val="BCC8D7"/>
                </a:solidFill>
                <a:latin typeface="IBM Plex Sans"/>
              </a:defRPr>
            </a:pPr>
            <a:r>
              <a:rPr sz="1100" b="0">
                <a:solidFill>
                  <a:srgbClr val="BCC8D7"/>
                </a:solidFill>
                <a:latin typeface="IBM Plex Sans"/>
              </a:rPr>
              <a:t>Asset &amp; evidence</a:t>
            </a:r>
          </a:p>
        </p:txBody>
      </p:sp>
      <p:sp>
        <p:nvSpPr>
          <p:cNvPr id="15" name="TextBox 14"/>
          <p:cNvSpPr txBox="1"/>
          <p:nvPr/>
        </p:nvSpPr>
        <p:spPr>
          <a:xfrm>
            <a:off x="621792" y="4288536"/>
            <a:ext cx="1152144" cy="320040"/>
          </a:xfrm>
          <a:prstGeom prst="rect">
            <a:avLst/>
          </a:prstGeom>
          <a:noFill/>
          <a:effectLst/>
        </p:spPr>
        <p:txBody>
          <a:bodyPr wrap="square" lIns="0" tIns="0" rIns="0" bIns="0">
            <a:spAutoFit/>
          </a:bodyPr>
          <a:lstStyle/>
          <a:p>
            <a:pPr algn="l">
              <a:lnSpc>
                <a:spcPct val="108000"/>
              </a:lnSpc>
              <a:spcAft>
                <a:spcPts val="400"/>
              </a:spcAft>
              <a:defRPr sz="1100" b="0">
                <a:solidFill>
                  <a:srgbClr val="BCC8D7"/>
                </a:solidFill>
                <a:latin typeface="IBM Plex Sans"/>
              </a:defRPr>
            </a:pPr>
            <a:r>
              <a:rPr sz="1100" b="0">
                <a:solidFill>
                  <a:srgbClr val="BCC8D7"/>
                </a:solidFill>
                <a:latin typeface="IBM Plex Sans"/>
              </a:rPr>
              <a:t>Development</a:t>
            </a:r>
          </a:p>
        </p:txBody>
      </p:sp>
      <p:sp>
        <p:nvSpPr>
          <p:cNvPr id="16" name="TextBox 15"/>
          <p:cNvSpPr txBox="1"/>
          <p:nvPr/>
        </p:nvSpPr>
        <p:spPr>
          <a:xfrm>
            <a:off x="621792" y="4700016"/>
            <a:ext cx="1152144" cy="320040"/>
          </a:xfrm>
          <a:prstGeom prst="rect">
            <a:avLst/>
          </a:prstGeom>
          <a:noFill/>
          <a:effectLst/>
        </p:spPr>
        <p:txBody>
          <a:bodyPr wrap="square" lIns="0" tIns="0" rIns="0" bIns="0">
            <a:spAutoFit/>
          </a:bodyPr>
          <a:lstStyle/>
          <a:p>
            <a:pPr algn="l">
              <a:lnSpc>
                <a:spcPct val="108000"/>
              </a:lnSpc>
              <a:spcAft>
                <a:spcPts val="400"/>
              </a:spcAft>
              <a:defRPr sz="1100" b="0">
                <a:solidFill>
                  <a:srgbClr val="BCC8D7"/>
                </a:solidFill>
                <a:latin typeface="IBM Plex Sans"/>
              </a:defRPr>
            </a:pPr>
            <a:r>
              <a:rPr sz="1100" b="0">
                <a:solidFill>
                  <a:srgbClr val="BCC8D7"/>
                </a:solidFill>
                <a:latin typeface="IBM Plex Sans"/>
              </a:rPr>
              <a:t>Scenarios</a:t>
            </a:r>
          </a:p>
        </p:txBody>
      </p:sp>
      <p:sp>
        <p:nvSpPr>
          <p:cNvPr id="17" name="TextBox 16"/>
          <p:cNvSpPr txBox="1"/>
          <p:nvPr/>
        </p:nvSpPr>
        <p:spPr>
          <a:xfrm>
            <a:off x="621792" y="5111496"/>
            <a:ext cx="1152144" cy="320040"/>
          </a:xfrm>
          <a:prstGeom prst="rect">
            <a:avLst/>
          </a:prstGeom>
          <a:noFill/>
          <a:effectLst/>
        </p:spPr>
        <p:txBody>
          <a:bodyPr wrap="square" lIns="0" tIns="0" rIns="0" bIns="0">
            <a:spAutoFit/>
          </a:bodyPr>
          <a:lstStyle/>
          <a:p>
            <a:pPr algn="l">
              <a:lnSpc>
                <a:spcPct val="108000"/>
              </a:lnSpc>
              <a:spcAft>
                <a:spcPts val="400"/>
              </a:spcAft>
              <a:defRPr sz="1100" b="0">
                <a:solidFill>
                  <a:srgbClr val="FFFFFF"/>
                </a:solidFill>
                <a:latin typeface="IBM Plex Sans"/>
              </a:defRPr>
            </a:pPr>
            <a:r>
              <a:rPr sz="1100" b="0">
                <a:solidFill>
                  <a:srgbClr val="FFFFFF"/>
                </a:solidFill>
                <a:latin typeface="IBM Plex Sans"/>
              </a:rPr>
              <a:t>Optimiser</a:t>
            </a:r>
          </a:p>
        </p:txBody>
      </p:sp>
      <p:sp>
        <p:nvSpPr>
          <p:cNvPr id="18" name="Rectangle 17"/>
          <p:cNvSpPr/>
          <p:nvPr/>
        </p:nvSpPr>
        <p:spPr>
          <a:xfrm>
            <a:off x="2157984" y="2304288"/>
            <a:ext cx="3099816" cy="94183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13432" y="2423160"/>
            <a:ext cx="2761488" cy="438912"/>
          </a:xfrm>
          <a:prstGeom prst="rect">
            <a:avLst/>
          </a:prstGeom>
          <a:noFill/>
          <a:effectLst/>
        </p:spPr>
        <p:txBody>
          <a:bodyPr wrap="square" lIns="0" tIns="0" rIns="0" bIns="0">
            <a:spAutoFit/>
          </a:bodyPr>
          <a:lstStyle/>
          <a:p>
            <a:pPr algn="l">
              <a:lnSpc>
                <a:spcPct val="108000"/>
              </a:lnSpc>
              <a:spcAft>
                <a:spcPts val="400"/>
              </a:spcAft>
              <a:defRPr sz="2700" b="0">
                <a:solidFill>
                  <a:srgbClr val="0F62FE"/>
                </a:solidFill>
                <a:latin typeface="IBM Plex Sans Light"/>
              </a:defRPr>
            </a:pPr>
            <a:r>
              <a:rPr sz="2700" b="0">
                <a:solidFill>
                  <a:srgbClr val="0F62FE"/>
                </a:solidFill>
                <a:latin typeface="IBM Plex Sans Light"/>
              </a:rPr>
              <a:t>10</a:t>
            </a:r>
          </a:p>
        </p:txBody>
      </p:sp>
      <p:sp>
        <p:nvSpPr>
          <p:cNvPr id="20" name="TextBox 19"/>
          <p:cNvSpPr txBox="1"/>
          <p:nvPr/>
        </p:nvSpPr>
        <p:spPr>
          <a:xfrm>
            <a:off x="2313432" y="2926080"/>
            <a:ext cx="2761488" cy="228600"/>
          </a:xfrm>
          <a:prstGeom prst="rect">
            <a:avLst/>
          </a:prstGeom>
          <a:noFill/>
          <a:effectLst/>
        </p:spPr>
        <p:txBody>
          <a:bodyPr wrap="square" lIns="0" tIns="0" rIns="0" bIns="0">
            <a:spAutoFit/>
          </a:bodyPr>
          <a:lstStyle/>
          <a:p>
            <a:pPr algn="l">
              <a:lnSpc>
                <a:spcPct val="108000"/>
              </a:lnSpc>
              <a:spcAft>
                <a:spcPts val="400"/>
              </a:spcAft>
              <a:defRPr sz="1100" b="0">
                <a:solidFill>
                  <a:srgbClr val="5B6573"/>
                </a:solidFill>
                <a:latin typeface="IBM Plex Sans"/>
              </a:defRPr>
            </a:pPr>
            <a:r>
              <a:rPr sz="1100" b="0">
                <a:solidFill>
                  <a:srgbClr val="5B6573"/>
                </a:solidFill>
                <a:latin typeface="IBM Plex Sans"/>
              </a:rPr>
              <a:t>Assets in view</a:t>
            </a:r>
          </a:p>
        </p:txBody>
      </p:sp>
      <p:sp>
        <p:nvSpPr>
          <p:cNvPr id="21" name="Rectangle 20"/>
          <p:cNvSpPr/>
          <p:nvPr/>
        </p:nvSpPr>
        <p:spPr>
          <a:xfrm>
            <a:off x="5276088" y="2304288"/>
            <a:ext cx="3099816" cy="94183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31536" y="2423160"/>
            <a:ext cx="2761488" cy="438912"/>
          </a:xfrm>
          <a:prstGeom prst="rect">
            <a:avLst/>
          </a:prstGeom>
          <a:noFill/>
          <a:effectLst/>
        </p:spPr>
        <p:txBody>
          <a:bodyPr wrap="square" lIns="0" tIns="0" rIns="0" bIns="0">
            <a:spAutoFit/>
          </a:bodyPr>
          <a:lstStyle/>
          <a:p>
            <a:pPr algn="l">
              <a:lnSpc>
                <a:spcPct val="108000"/>
              </a:lnSpc>
              <a:spcAft>
                <a:spcPts val="400"/>
              </a:spcAft>
              <a:defRPr sz="2700" b="0">
                <a:solidFill>
                  <a:srgbClr val="0F62FE"/>
                </a:solidFill>
                <a:latin typeface="IBM Plex Sans Light"/>
              </a:defRPr>
            </a:pPr>
            <a:r>
              <a:rPr sz="2700" b="0">
                <a:solidFill>
                  <a:srgbClr val="0F62FE"/>
                </a:solidFill>
                <a:latin typeface="IBM Plex Sans Light"/>
              </a:rPr>
              <a:t>70.1%</a:t>
            </a:r>
          </a:p>
        </p:txBody>
      </p:sp>
      <p:sp>
        <p:nvSpPr>
          <p:cNvPr id="23" name="TextBox 22"/>
          <p:cNvSpPr txBox="1"/>
          <p:nvPr/>
        </p:nvSpPr>
        <p:spPr>
          <a:xfrm>
            <a:off x="5431536" y="2926080"/>
            <a:ext cx="2761488" cy="228600"/>
          </a:xfrm>
          <a:prstGeom prst="rect">
            <a:avLst/>
          </a:prstGeom>
          <a:noFill/>
          <a:effectLst/>
        </p:spPr>
        <p:txBody>
          <a:bodyPr wrap="square" lIns="0" tIns="0" rIns="0" bIns="0">
            <a:spAutoFit/>
          </a:bodyPr>
          <a:lstStyle/>
          <a:p>
            <a:pPr algn="l">
              <a:lnSpc>
                <a:spcPct val="108000"/>
              </a:lnSpc>
              <a:spcAft>
                <a:spcPts val="400"/>
              </a:spcAft>
              <a:defRPr sz="1100" b="0">
                <a:solidFill>
                  <a:srgbClr val="5B6573"/>
                </a:solidFill>
                <a:latin typeface="IBM Plex Sans"/>
              </a:defRPr>
            </a:pPr>
            <a:r>
              <a:rPr sz="1100" b="0">
                <a:solidFill>
                  <a:srgbClr val="5B6573"/>
                </a:solidFill>
                <a:latin typeface="IBM Plex Sans"/>
              </a:rPr>
              <a:t>Income retained</a:t>
            </a:r>
          </a:p>
        </p:txBody>
      </p:sp>
      <p:sp>
        <p:nvSpPr>
          <p:cNvPr id="24" name="Rectangle 23"/>
          <p:cNvSpPr/>
          <p:nvPr/>
        </p:nvSpPr>
        <p:spPr>
          <a:xfrm>
            <a:off x="8394192" y="2304288"/>
            <a:ext cx="3099816" cy="94183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49640" y="2423160"/>
            <a:ext cx="2761488" cy="438912"/>
          </a:xfrm>
          <a:prstGeom prst="rect">
            <a:avLst/>
          </a:prstGeom>
          <a:noFill/>
          <a:effectLst/>
        </p:spPr>
        <p:txBody>
          <a:bodyPr wrap="square" lIns="0" tIns="0" rIns="0" bIns="0">
            <a:spAutoFit/>
          </a:bodyPr>
          <a:lstStyle/>
          <a:p>
            <a:pPr algn="l">
              <a:lnSpc>
                <a:spcPct val="108000"/>
              </a:lnSpc>
              <a:spcAft>
                <a:spcPts val="400"/>
              </a:spcAft>
              <a:defRPr sz="2700" b="0">
                <a:solidFill>
                  <a:srgbClr val="0F62FE"/>
                </a:solidFill>
                <a:latin typeface="IBM Plex Sans Light"/>
              </a:defRPr>
            </a:pPr>
            <a:r>
              <a:rPr sz="2700" b="0">
                <a:solidFill>
                  <a:srgbClr val="0F62FE"/>
                </a:solidFill>
                <a:latin typeface="IBM Plex Sans Light"/>
              </a:rPr>
              <a:t>S$9.95m</a:t>
            </a:r>
          </a:p>
        </p:txBody>
      </p:sp>
      <p:sp>
        <p:nvSpPr>
          <p:cNvPr id="26" name="TextBox 25"/>
          <p:cNvSpPr txBox="1"/>
          <p:nvPr/>
        </p:nvSpPr>
        <p:spPr>
          <a:xfrm>
            <a:off x="8549640" y="2926080"/>
            <a:ext cx="2761488" cy="228600"/>
          </a:xfrm>
          <a:prstGeom prst="rect">
            <a:avLst/>
          </a:prstGeom>
          <a:noFill/>
          <a:effectLst/>
        </p:spPr>
        <p:txBody>
          <a:bodyPr wrap="square" lIns="0" tIns="0" rIns="0" bIns="0">
            <a:spAutoFit/>
          </a:bodyPr>
          <a:lstStyle/>
          <a:p>
            <a:pPr algn="l">
              <a:lnSpc>
                <a:spcPct val="108000"/>
              </a:lnSpc>
              <a:spcAft>
                <a:spcPts val="400"/>
              </a:spcAft>
              <a:defRPr sz="1100" b="0">
                <a:solidFill>
                  <a:srgbClr val="5B6573"/>
                </a:solidFill>
                <a:latin typeface="IBM Plex Sans"/>
              </a:defRPr>
            </a:pPr>
            <a:r>
              <a:rPr sz="1100" b="0">
                <a:solidFill>
                  <a:srgbClr val="5B6573"/>
                </a:solidFill>
                <a:latin typeface="IBM Plex Sans"/>
              </a:rPr>
              <a:t>Expected gain vs Hold</a:t>
            </a:r>
          </a:p>
        </p:txBody>
      </p:sp>
      <p:sp>
        <p:nvSpPr>
          <p:cNvPr id="27" name="Rectangle 26"/>
          <p:cNvSpPr/>
          <p:nvPr/>
        </p:nvSpPr>
        <p:spPr>
          <a:xfrm>
            <a:off x="2157984" y="3438144"/>
            <a:ext cx="3099816" cy="17007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313432" y="3611880"/>
            <a:ext cx="420624" cy="2743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404872" y="3662172"/>
            <a:ext cx="237744" cy="192024"/>
          </a:xfrm>
          <a:prstGeom prst="rect">
            <a:avLst/>
          </a:prstGeom>
          <a:noFill/>
          <a:effectLst/>
        </p:spPr>
        <p:txBody>
          <a:bodyPr wrap="square" lIns="0" tIns="0" rIns="0" bIns="0">
            <a:spAutoFit/>
          </a:bodyPr>
          <a:lstStyle/>
          <a:p>
            <a:pPr algn="l">
              <a:lnSpc>
                <a:spcPct val="108000"/>
              </a:lnSpc>
              <a:spcAft>
                <a:spcPts val="400"/>
              </a:spcAft>
              <a:defRPr sz="1050" b="0">
                <a:solidFill>
                  <a:srgbClr val="0F62FE"/>
                </a:solidFill>
                <a:latin typeface="IBM Plex Sans"/>
              </a:defRPr>
            </a:pPr>
            <a:r>
              <a:rPr sz="1050" b="0">
                <a:solidFill>
                  <a:srgbClr val="0F62FE"/>
                </a:solidFill>
                <a:latin typeface="IBM Plex Sans"/>
              </a:rPr>
              <a:t>01</a:t>
            </a:r>
          </a:p>
        </p:txBody>
      </p:sp>
      <p:sp>
        <p:nvSpPr>
          <p:cNvPr id="30" name="TextBox 29"/>
          <p:cNvSpPr txBox="1"/>
          <p:nvPr/>
        </p:nvSpPr>
        <p:spPr>
          <a:xfrm>
            <a:off x="2313432" y="4041648"/>
            <a:ext cx="2779776" cy="365760"/>
          </a:xfrm>
          <a:prstGeom prst="rect">
            <a:avLst/>
          </a:prstGeom>
          <a:noFill/>
          <a:effectLst/>
        </p:spPr>
        <p:txBody>
          <a:bodyPr wrap="square" lIns="0" tIns="0" rIns="0" bIns="0">
            <a:spAutoFit/>
          </a:bodyPr>
          <a:lstStyle/>
          <a:p>
            <a:pPr algn="l">
              <a:lnSpc>
                <a:spcPct val="108000"/>
              </a:lnSpc>
              <a:spcAft>
                <a:spcPts val="400"/>
              </a:spcAft>
              <a:defRPr sz="1900" b="0">
                <a:solidFill>
                  <a:srgbClr val="202A38"/>
                </a:solidFill>
                <a:latin typeface="IBM Plex Sans"/>
              </a:defRPr>
            </a:pPr>
            <a:r>
              <a:rPr sz="1900" b="0">
                <a:solidFill>
                  <a:srgbClr val="202A38"/>
                </a:solidFill>
                <a:latin typeface="IBM Plex Sans"/>
              </a:rPr>
              <a:t>Asset evidence</a:t>
            </a:r>
          </a:p>
        </p:txBody>
      </p:sp>
      <p:sp>
        <p:nvSpPr>
          <p:cNvPr id="31" name="TextBox 30"/>
          <p:cNvSpPr txBox="1"/>
          <p:nvPr/>
        </p:nvSpPr>
        <p:spPr>
          <a:xfrm>
            <a:off x="2313432" y="4498848"/>
            <a:ext cx="2752344" cy="521207"/>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Trace economics,</a:t>
            </a:r>
          </a:p>
          <a:p>
            <a:pPr algn="l">
              <a:lnSpc>
                <a:spcPct val="108000"/>
              </a:lnSpc>
              <a:spcAft>
                <a:spcPts val="400"/>
              </a:spcAft>
              <a:defRPr sz="1500" b="0">
                <a:solidFill>
                  <a:srgbClr val="5B6573"/>
                </a:solidFill>
                <a:latin typeface="IBM Plex Sans"/>
              </a:defRPr>
            </a:pPr>
            <a:r>
              <a:rPr sz="1500" b="0">
                <a:solidFill>
                  <a:srgbClr val="5B6573"/>
                </a:solidFill>
                <a:latin typeface="IBM Plex Sans"/>
              </a:rPr>
              <a:t>planning and gaps.</a:t>
            </a:r>
          </a:p>
        </p:txBody>
      </p:sp>
      <p:sp>
        <p:nvSpPr>
          <p:cNvPr id="32" name="Rectangle 31"/>
          <p:cNvSpPr/>
          <p:nvPr/>
        </p:nvSpPr>
        <p:spPr>
          <a:xfrm>
            <a:off x="5276088" y="3438144"/>
            <a:ext cx="3099816" cy="17007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31536" y="3611880"/>
            <a:ext cx="420624" cy="2743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22975" y="3662172"/>
            <a:ext cx="237744" cy="192024"/>
          </a:xfrm>
          <a:prstGeom prst="rect">
            <a:avLst/>
          </a:prstGeom>
          <a:noFill/>
          <a:effectLst/>
        </p:spPr>
        <p:txBody>
          <a:bodyPr wrap="square" lIns="0" tIns="0" rIns="0" bIns="0">
            <a:spAutoFit/>
          </a:bodyPr>
          <a:lstStyle/>
          <a:p>
            <a:pPr algn="l">
              <a:lnSpc>
                <a:spcPct val="108000"/>
              </a:lnSpc>
              <a:spcAft>
                <a:spcPts val="400"/>
              </a:spcAft>
              <a:defRPr sz="1050" b="0">
                <a:solidFill>
                  <a:srgbClr val="0F62FE"/>
                </a:solidFill>
                <a:latin typeface="IBM Plex Sans"/>
              </a:defRPr>
            </a:pPr>
            <a:r>
              <a:rPr sz="1050" b="0">
                <a:solidFill>
                  <a:srgbClr val="0F62FE"/>
                </a:solidFill>
                <a:latin typeface="IBM Plex Sans"/>
              </a:rPr>
              <a:t>02</a:t>
            </a:r>
          </a:p>
        </p:txBody>
      </p:sp>
      <p:sp>
        <p:nvSpPr>
          <p:cNvPr id="35" name="TextBox 34"/>
          <p:cNvSpPr txBox="1"/>
          <p:nvPr/>
        </p:nvSpPr>
        <p:spPr>
          <a:xfrm>
            <a:off x="5431536" y="4041648"/>
            <a:ext cx="2779776" cy="365760"/>
          </a:xfrm>
          <a:prstGeom prst="rect">
            <a:avLst/>
          </a:prstGeom>
          <a:noFill/>
          <a:effectLst/>
        </p:spPr>
        <p:txBody>
          <a:bodyPr wrap="square" lIns="0" tIns="0" rIns="0" bIns="0">
            <a:spAutoFit/>
          </a:bodyPr>
          <a:lstStyle/>
          <a:p>
            <a:pPr algn="l">
              <a:lnSpc>
                <a:spcPct val="108000"/>
              </a:lnSpc>
              <a:spcAft>
                <a:spcPts val="400"/>
              </a:spcAft>
              <a:defRPr sz="1900" b="0">
                <a:solidFill>
                  <a:srgbClr val="202A38"/>
                </a:solidFill>
                <a:latin typeface="IBM Plex Sans"/>
              </a:defRPr>
            </a:pPr>
            <a:r>
              <a:rPr sz="1900" b="0">
                <a:solidFill>
                  <a:srgbClr val="202A38"/>
                </a:solidFill>
                <a:latin typeface="IBM Plex Sans"/>
              </a:rPr>
              <a:t>Action comparison</a:t>
            </a:r>
          </a:p>
        </p:txBody>
      </p:sp>
      <p:sp>
        <p:nvSpPr>
          <p:cNvPr id="36" name="TextBox 35"/>
          <p:cNvSpPr txBox="1"/>
          <p:nvPr/>
        </p:nvSpPr>
        <p:spPr>
          <a:xfrm>
            <a:off x="5431536" y="4498848"/>
            <a:ext cx="2752344" cy="521207"/>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See value, timing</a:t>
            </a:r>
          </a:p>
          <a:p>
            <a:pPr algn="l">
              <a:lnSpc>
                <a:spcPct val="108000"/>
              </a:lnSpc>
              <a:spcAft>
                <a:spcPts val="400"/>
              </a:spcAft>
              <a:defRPr sz="1500" b="0">
                <a:solidFill>
                  <a:srgbClr val="5B6573"/>
                </a:solidFill>
                <a:latin typeface="IBM Plex Sans"/>
              </a:defRPr>
            </a:pPr>
            <a:r>
              <a:rPr sz="1500" b="0">
                <a:solidFill>
                  <a:srgbClr val="5B6573"/>
                </a:solidFill>
                <a:latin typeface="IBM Plex Sans"/>
              </a:rPr>
              <a:t>and downside together.</a:t>
            </a:r>
          </a:p>
        </p:txBody>
      </p:sp>
      <p:sp>
        <p:nvSpPr>
          <p:cNvPr id="37" name="Rectangle 36"/>
          <p:cNvSpPr/>
          <p:nvPr/>
        </p:nvSpPr>
        <p:spPr>
          <a:xfrm>
            <a:off x="8394192" y="3438144"/>
            <a:ext cx="3099816" cy="17007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549640" y="3611880"/>
            <a:ext cx="420624" cy="2743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641080" y="3662172"/>
            <a:ext cx="237744" cy="192024"/>
          </a:xfrm>
          <a:prstGeom prst="rect">
            <a:avLst/>
          </a:prstGeom>
          <a:noFill/>
          <a:effectLst/>
        </p:spPr>
        <p:txBody>
          <a:bodyPr wrap="square" lIns="0" tIns="0" rIns="0" bIns="0">
            <a:spAutoFit/>
          </a:bodyPr>
          <a:lstStyle/>
          <a:p>
            <a:pPr algn="l">
              <a:lnSpc>
                <a:spcPct val="108000"/>
              </a:lnSpc>
              <a:spcAft>
                <a:spcPts val="400"/>
              </a:spcAft>
              <a:defRPr sz="1050" b="0">
                <a:solidFill>
                  <a:srgbClr val="0F62FE"/>
                </a:solidFill>
                <a:latin typeface="IBM Plex Sans"/>
              </a:defRPr>
            </a:pPr>
            <a:r>
              <a:rPr sz="1050" b="0">
                <a:solidFill>
                  <a:srgbClr val="0F62FE"/>
                </a:solidFill>
                <a:latin typeface="IBM Plex Sans"/>
              </a:rPr>
              <a:t>03</a:t>
            </a:r>
          </a:p>
        </p:txBody>
      </p:sp>
      <p:sp>
        <p:nvSpPr>
          <p:cNvPr id="40" name="TextBox 39"/>
          <p:cNvSpPr txBox="1"/>
          <p:nvPr/>
        </p:nvSpPr>
        <p:spPr>
          <a:xfrm>
            <a:off x="8549640" y="4041648"/>
            <a:ext cx="2779776" cy="365760"/>
          </a:xfrm>
          <a:prstGeom prst="rect">
            <a:avLst/>
          </a:prstGeom>
          <a:noFill/>
          <a:effectLst/>
        </p:spPr>
        <p:txBody>
          <a:bodyPr wrap="square" lIns="0" tIns="0" rIns="0" bIns="0">
            <a:spAutoFit/>
          </a:bodyPr>
          <a:lstStyle/>
          <a:p>
            <a:pPr algn="l">
              <a:lnSpc>
                <a:spcPct val="108000"/>
              </a:lnSpc>
              <a:spcAft>
                <a:spcPts val="400"/>
              </a:spcAft>
              <a:defRPr sz="1900" b="0">
                <a:solidFill>
                  <a:srgbClr val="202A38"/>
                </a:solidFill>
                <a:latin typeface="IBM Plex Sans"/>
              </a:defRPr>
            </a:pPr>
            <a:r>
              <a:rPr sz="1900" b="0">
                <a:solidFill>
                  <a:srgbClr val="202A38"/>
                </a:solidFill>
                <a:latin typeface="IBM Plex Sans"/>
              </a:rPr>
              <a:t>Portfolio plan</a:t>
            </a:r>
          </a:p>
        </p:txBody>
      </p:sp>
      <p:sp>
        <p:nvSpPr>
          <p:cNvPr id="41" name="TextBox 40"/>
          <p:cNvSpPr txBox="1"/>
          <p:nvPr/>
        </p:nvSpPr>
        <p:spPr>
          <a:xfrm>
            <a:off x="8549640" y="4498848"/>
            <a:ext cx="2752344" cy="521207"/>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Inspect allocations</a:t>
            </a:r>
          </a:p>
          <a:p>
            <a:pPr algn="l">
              <a:lnSpc>
                <a:spcPct val="108000"/>
              </a:lnSpc>
              <a:spcAft>
                <a:spcPts val="400"/>
              </a:spcAft>
              <a:defRPr sz="1500" b="0">
                <a:solidFill>
                  <a:srgbClr val="5B6573"/>
                </a:solidFill>
                <a:latin typeface="IBM Plex Sans"/>
              </a:defRPr>
            </a:pPr>
            <a:r>
              <a:rPr sz="1500" b="0">
                <a:solidFill>
                  <a:srgbClr val="5B6573"/>
                </a:solidFill>
                <a:latin typeface="IBM Plex Sans"/>
              </a:rPr>
              <a:t>and binding constraints.</a:t>
            </a:r>
          </a:p>
        </p:txBody>
      </p:sp>
      <p:sp>
        <p:nvSpPr>
          <p:cNvPr id="42" name="Rectangle 41"/>
          <p:cNvSpPr/>
          <p:nvPr/>
        </p:nvSpPr>
        <p:spPr>
          <a:xfrm>
            <a:off x="2313432" y="5458968"/>
            <a:ext cx="3849624" cy="274320"/>
          </a:xfrm>
          <a:prstGeom prst="rect">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04872" y="5509259"/>
            <a:ext cx="3666744" cy="192024"/>
          </a:xfrm>
          <a:prstGeom prst="rect">
            <a:avLst/>
          </a:prstGeom>
          <a:noFill/>
          <a:effectLst/>
        </p:spPr>
        <p:txBody>
          <a:bodyPr wrap="square" lIns="0" tIns="0" rIns="0" bIns="0">
            <a:spAutoFit/>
          </a:bodyPr>
          <a:lstStyle/>
          <a:p>
            <a:pPr algn="l">
              <a:lnSpc>
                <a:spcPct val="108000"/>
              </a:lnSpc>
              <a:spcAft>
                <a:spcPts val="400"/>
              </a:spcAft>
              <a:defRPr sz="1050" b="0">
                <a:solidFill>
                  <a:srgbClr val="995910"/>
                </a:solidFill>
                <a:latin typeface="IBM Plex Sans"/>
              </a:defRPr>
            </a:pPr>
            <a:r>
              <a:rPr sz="1050" b="0">
                <a:solidFill>
                  <a:srgbClr val="995910"/>
                </a:solidFill>
                <a:latin typeface="IBM Plex Sans"/>
              </a:rPr>
              <a:t>READINESS: DATA REQUIRED / MONITOR</a:t>
            </a:r>
          </a:p>
        </p:txBody>
      </p:sp>
      <p:sp>
        <p:nvSpPr>
          <p:cNvPr id="44" name="Rectangle 43">
            <a:hlinkClick r:id="rId3"/>
          </p:cNvPr>
          <p:cNvSpPr/>
          <p:nvPr/>
        </p:nvSpPr>
        <p:spPr>
          <a:xfrm>
            <a:off x="8247888" y="5367528"/>
            <a:ext cx="3090672" cy="521207"/>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hlinkClick r:id="rId3"/>
          </p:cNvPr>
          <p:cNvSpPr txBox="1"/>
          <p:nvPr/>
        </p:nvSpPr>
        <p:spPr>
          <a:xfrm>
            <a:off x="8394192" y="5495544"/>
            <a:ext cx="2798064" cy="292608"/>
          </a:xfrm>
          <a:prstGeom prst="rect">
            <a:avLst/>
          </a:prstGeom>
          <a:noFill/>
          <a:effectLst/>
        </p:spPr>
        <p:txBody>
          <a:bodyPr wrap="square" lIns="0" tIns="0" rIns="0" bIns="0">
            <a:spAutoFit/>
          </a:bodyPr>
          <a:lstStyle/>
          <a:p>
            <a:pPr algn="l">
              <a:lnSpc>
                <a:spcPct val="108000"/>
              </a:lnSpc>
              <a:spcAft>
                <a:spcPts val="400"/>
              </a:spcAft>
              <a:defRPr sz="1600" b="0">
                <a:solidFill>
                  <a:srgbClr val="FFFFFF"/>
                </a:solidFill>
                <a:latin typeface="IBM Plex Sans"/>
              </a:defRPr>
            </a:pPr>
            <a:r>
              <a:rPr sz="1600" b="0">
                <a:solidFill>
                  <a:srgbClr val="FFFFFF"/>
                </a:solidFill>
                <a:latin typeface="IBM Plex Sans"/>
              </a:rPr>
              <a:t>Open public dashboard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INPUTS AND EVIDENCE</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Market context sharpens the questions for each asset</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Official sector histories provide a common external reference; leases and costs determine the asset case.</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Source: official URA / JTC series via data.gov.sg; cached 25 September 2026. Latest observation: 2026 Q2.</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06</a:t>
            </a:r>
          </a:p>
        </p:txBody>
      </p:sp>
      <p:sp>
        <p:nvSpPr>
          <p:cNvPr id="9" name="TextBox 8"/>
          <p:cNvSpPr txBox="1"/>
          <p:nvPr/>
        </p:nvSpPr>
        <p:spPr>
          <a:xfrm>
            <a:off x="548640" y="2103120"/>
            <a:ext cx="6766560" cy="32004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Singapore sector price indices  |  2021 Q1 = 100</a:t>
            </a:r>
          </a:p>
        </p:txBody>
      </p:sp>
      <p:graphicFrame>
        <p:nvGraphicFramePr>
          <p:cNvPr id="10" name="Chart 9"/>
          <p:cNvGraphicFramePr>
            <a:graphicFrameLocks noGrp="1"/>
          </p:cNvGraphicFramePr>
          <p:nvPr/>
        </p:nvGraphicFramePr>
        <p:xfrm>
          <a:off x="448056" y="2578608"/>
          <a:ext cx="7315200" cy="291693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640080" y="5522976"/>
            <a:ext cx="6675120" cy="182880"/>
          </a:xfrm>
          <a:prstGeom prst="rect">
            <a:avLst/>
          </a:prstGeom>
          <a:noFill/>
          <a:effectLst/>
        </p:spPr>
        <p:txBody>
          <a:bodyPr wrap="square" lIns="0" tIns="0" rIns="0" bIns="0">
            <a:spAutoFit/>
          </a:bodyPr>
          <a:lstStyle/>
          <a:p>
            <a:pPr algn="l">
              <a:lnSpc>
                <a:spcPct val="108000"/>
              </a:lnSpc>
              <a:spcAft>
                <a:spcPts val="400"/>
              </a:spcAft>
              <a:defRPr sz="1000" b="0">
                <a:solidFill>
                  <a:srgbClr val="5B6573"/>
                </a:solidFill>
                <a:latin typeface="IBM Plex Sans"/>
              </a:defRPr>
            </a:pPr>
            <a:r>
              <a:rPr sz="1000" b="0">
                <a:solidFill>
                  <a:srgbClr val="5B6573"/>
                </a:solidFill>
                <a:latin typeface="IBM Plex Sans"/>
              </a:rPr>
              <a:t>Office and retail indices cover the Central Region.</a:t>
            </a:r>
          </a:p>
        </p:txBody>
      </p:sp>
      <p:sp>
        <p:nvSpPr>
          <p:cNvPr id="12" name="Rectangle 11"/>
          <p:cNvSpPr/>
          <p:nvPr/>
        </p:nvSpPr>
        <p:spPr>
          <a:xfrm>
            <a:off x="8174736" y="2221992"/>
            <a:ext cx="3547872" cy="3328416"/>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85048" y="2450592"/>
            <a:ext cx="3118104" cy="557784"/>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Two evidence layers</a:t>
            </a:r>
          </a:p>
        </p:txBody>
      </p:sp>
      <p:sp>
        <p:nvSpPr>
          <p:cNvPr id="14" name="TextBox 13"/>
          <p:cNvSpPr txBox="1"/>
          <p:nvPr/>
        </p:nvSpPr>
        <p:spPr>
          <a:xfrm>
            <a:off x="8385048" y="3172968"/>
            <a:ext cx="3081528" cy="320040"/>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PUBLIC CONTEXT</a:t>
            </a:r>
          </a:p>
        </p:txBody>
      </p:sp>
      <p:sp>
        <p:nvSpPr>
          <p:cNvPr id="15" name="TextBox 14"/>
          <p:cNvSpPr txBox="1"/>
          <p:nvPr/>
        </p:nvSpPr>
        <p:spPr>
          <a:xfrm>
            <a:off x="8385048" y="3593592"/>
            <a:ext cx="3026664" cy="621792"/>
          </a:xfrm>
          <a:prstGeom prst="rect">
            <a:avLst/>
          </a:prstGeom>
          <a:noFill/>
          <a:effectLst/>
        </p:spPr>
        <p:txBody>
          <a:bodyPr wrap="square" lIns="0" tIns="0" rIns="0" bIns="0">
            <a:spAutoFit/>
          </a:bodyPr>
          <a:lstStyle/>
          <a:p>
            <a:pPr algn="l">
              <a:lnSpc>
                <a:spcPct val="108000"/>
              </a:lnSpc>
              <a:spcAft>
                <a:spcPts val="400"/>
              </a:spcAft>
              <a:defRPr sz="1800" b="0">
                <a:solidFill>
                  <a:srgbClr val="202A38"/>
                </a:solidFill>
                <a:latin typeface="IBM Plex Sans"/>
              </a:defRPr>
            </a:pPr>
            <a:r>
              <a:rPr sz="1800" b="0">
                <a:solidFill>
                  <a:srgbClr val="202A38"/>
                </a:solidFill>
                <a:latin typeface="IBM Plex Sans"/>
              </a:rPr>
              <a:t>Sector direction, dates</a:t>
            </a:r>
          </a:p>
          <a:p>
            <a:pPr algn="l">
              <a:lnSpc>
                <a:spcPct val="108000"/>
              </a:lnSpc>
              <a:spcAft>
                <a:spcPts val="400"/>
              </a:spcAft>
              <a:defRPr sz="1800" b="0">
                <a:solidFill>
                  <a:srgbClr val="202A38"/>
                </a:solidFill>
                <a:latin typeface="IBM Plex Sans"/>
              </a:defRPr>
            </a:pPr>
            <a:r>
              <a:rPr sz="1800" b="0">
                <a:solidFill>
                  <a:srgbClr val="202A38"/>
                </a:solidFill>
                <a:latin typeface="IBM Plex Sans"/>
              </a:rPr>
              <a:t>and source provenance</a:t>
            </a:r>
          </a:p>
        </p:txBody>
      </p:sp>
      <p:sp>
        <p:nvSpPr>
          <p:cNvPr id="16" name="TextBox 15"/>
          <p:cNvSpPr txBox="1"/>
          <p:nvPr/>
        </p:nvSpPr>
        <p:spPr>
          <a:xfrm>
            <a:off x="8385048" y="4434840"/>
            <a:ext cx="3081528" cy="320040"/>
          </a:xfrm>
          <a:prstGeom prst="rect">
            <a:avLst/>
          </a:prstGeom>
          <a:noFill/>
          <a:effectLst/>
        </p:spPr>
        <p:txBody>
          <a:bodyPr wrap="square" lIns="0" tIns="0" rIns="0" bIns="0">
            <a:spAutoFit/>
          </a:bodyPr>
          <a:lstStyle/>
          <a:p>
            <a:pPr algn="l">
              <a:lnSpc>
                <a:spcPct val="108000"/>
              </a:lnSpc>
              <a:spcAft>
                <a:spcPts val="400"/>
              </a:spcAft>
              <a:defRPr sz="1100" b="0">
                <a:solidFill>
                  <a:srgbClr val="008578"/>
                </a:solidFill>
                <a:latin typeface="IBM Plex Sans"/>
              </a:defRPr>
            </a:pPr>
            <a:r>
              <a:rPr sz="1100" b="0">
                <a:solidFill>
                  <a:srgbClr val="008578"/>
                </a:solidFill>
                <a:latin typeface="IBM Plex Sans"/>
              </a:rPr>
              <a:t>CLIENT UNDERWRITING</a:t>
            </a:r>
          </a:p>
        </p:txBody>
      </p:sp>
      <p:sp>
        <p:nvSpPr>
          <p:cNvPr id="17" name="TextBox 16"/>
          <p:cNvSpPr txBox="1"/>
          <p:nvPr/>
        </p:nvSpPr>
        <p:spPr>
          <a:xfrm>
            <a:off x="8385048" y="4828032"/>
            <a:ext cx="3026664" cy="621792"/>
          </a:xfrm>
          <a:prstGeom prst="rect">
            <a:avLst/>
          </a:prstGeom>
          <a:noFill/>
          <a:effectLst/>
        </p:spPr>
        <p:txBody>
          <a:bodyPr wrap="square" lIns="0" tIns="0" rIns="0" bIns="0">
            <a:spAutoFit/>
          </a:bodyPr>
          <a:lstStyle/>
          <a:p>
            <a:pPr algn="l">
              <a:lnSpc>
                <a:spcPct val="108000"/>
              </a:lnSpc>
              <a:spcAft>
                <a:spcPts val="400"/>
              </a:spcAft>
              <a:defRPr sz="1800" b="0">
                <a:solidFill>
                  <a:srgbClr val="202A38"/>
                </a:solidFill>
                <a:latin typeface="IBM Plex Sans"/>
              </a:defRPr>
            </a:pPr>
            <a:r>
              <a:rPr sz="1800" b="0">
                <a:solidFill>
                  <a:srgbClr val="202A38"/>
                </a:solidFill>
                <a:latin typeface="IBM Plex Sans"/>
              </a:rPr>
              <a:t>Lease income, title, costs</a:t>
            </a:r>
          </a:p>
          <a:p>
            <a:pPr algn="l">
              <a:lnSpc>
                <a:spcPct val="108000"/>
              </a:lnSpc>
              <a:spcAft>
                <a:spcPts val="400"/>
              </a:spcAft>
              <a:defRPr sz="1800" b="0">
                <a:solidFill>
                  <a:srgbClr val="202A38"/>
                </a:solidFill>
                <a:latin typeface="IBM Plex Sans"/>
              </a:defRPr>
            </a:pPr>
            <a:r>
              <a:rPr sz="1800" b="0">
                <a:solidFill>
                  <a:srgbClr val="202A38"/>
                </a:solidFill>
                <a:latin typeface="IBM Plex Sans"/>
              </a:rPr>
              <a:t>and transaction evidence</a:t>
            </a:r>
          </a:p>
        </p:txBody>
      </p:sp>
      <p:sp>
        <p:nvSpPr>
          <p:cNvPr id="18" name="Rectangle 17"/>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Divergent sector paths support differentiated assumptions — not a single growth 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ZONING AND ZONING ML</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Zoning produces four different decision inputs</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Keep planning controls, ML signals, buildable capacity and investment value distinct.</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Model trace: zoning lookup, challenger, capacity and advanced valuation modules. Public zoning records are fictional.</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07</a:t>
            </a:r>
          </a:p>
        </p:txBody>
      </p:sp>
      <p:sp>
        <p:nvSpPr>
          <p:cNvPr id="9" name="Rectangle 8"/>
          <p:cNvSpPr/>
          <p:nvPr/>
        </p:nvSpPr>
        <p:spPr>
          <a:xfrm>
            <a:off x="457200" y="2167128"/>
            <a:ext cx="2642616"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 y="2359152"/>
            <a:ext cx="2304288" cy="283464"/>
          </a:xfrm>
          <a:prstGeom prst="rect">
            <a:avLst/>
          </a:prstGeom>
          <a:noFill/>
          <a:effectLst/>
        </p:spPr>
        <p:txBody>
          <a:bodyPr wrap="square" lIns="0" tIns="0" rIns="0" bIns="0">
            <a:spAutoFit/>
          </a:bodyPr>
          <a:lstStyle/>
          <a:p>
            <a:pPr algn="l">
              <a:lnSpc>
                <a:spcPct val="108000"/>
              </a:lnSpc>
              <a:spcAft>
                <a:spcPts val="400"/>
              </a:spcAft>
              <a:defRPr sz="1050" b="0">
                <a:solidFill>
                  <a:srgbClr val="0F62FE"/>
                </a:solidFill>
                <a:latin typeface="IBM Plex Sans"/>
              </a:defRPr>
            </a:pPr>
            <a:r>
              <a:rPr sz="1050" b="0">
                <a:solidFill>
                  <a:srgbClr val="0F62FE"/>
                </a:solidFill>
                <a:latin typeface="IBM Plex Sans"/>
              </a:rPr>
              <a:t>PLANNING CONTEXT</a:t>
            </a:r>
          </a:p>
        </p:txBody>
      </p:sp>
      <p:sp>
        <p:nvSpPr>
          <p:cNvPr id="11" name="TextBox 10"/>
          <p:cNvSpPr txBox="1"/>
          <p:nvPr/>
        </p:nvSpPr>
        <p:spPr>
          <a:xfrm>
            <a:off x="621792" y="2807208"/>
            <a:ext cx="2304288" cy="713232"/>
          </a:xfrm>
          <a:prstGeom prst="rect">
            <a:avLst/>
          </a:prstGeom>
          <a:noFill/>
          <a:effectLst/>
        </p:spPr>
        <p:txBody>
          <a:bodyPr wrap="square" lIns="0" tIns="0" rIns="0" bIns="0">
            <a:spAutoFit/>
          </a:bodyPr>
          <a:lstStyle/>
          <a:p>
            <a:pPr algn="l">
              <a:lnSpc>
                <a:spcPct val="108000"/>
              </a:lnSpc>
              <a:spcAft>
                <a:spcPts val="400"/>
              </a:spcAft>
              <a:defRPr sz="2200" b="0">
                <a:solidFill>
                  <a:srgbClr val="202A38"/>
                </a:solidFill>
                <a:latin typeface="IBM Plex Sans Light"/>
              </a:defRPr>
            </a:pPr>
            <a:r>
              <a:rPr sz="2200" b="0">
                <a:solidFill>
                  <a:srgbClr val="202A38"/>
                </a:solidFill>
                <a:latin typeface="IBM Plex Sans Light"/>
              </a:rPr>
              <a:t>Land use and GPR</a:t>
            </a:r>
          </a:p>
        </p:txBody>
      </p:sp>
      <p:sp>
        <p:nvSpPr>
          <p:cNvPr id="12" name="TextBox 11"/>
          <p:cNvSpPr txBox="1"/>
          <p:nvPr/>
        </p:nvSpPr>
        <p:spPr>
          <a:xfrm>
            <a:off x="621792" y="3639312"/>
            <a:ext cx="2304288" cy="859536"/>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Recorded controls,</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spatial match and</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verification flags.</a:t>
            </a:r>
          </a:p>
        </p:txBody>
      </p:sp>
      <p:cxnSp>
        <p:nvCxnSpPr>
          <p:cNvPr id="13" name="Connector 12"/>
          <p:cNvCxnSpPr/>
          <p:nvPr/>
        </p:nvCxnSpPr>
        <p:spPr>
          <a:xfrm>
            <a:off x="621792" y="4590288"/>
            <a:ext cx="2313432" cy="0"/>
          </a:xfrm>
          <a:prstGeom prst="line">
            <a:avLst/>
          </a:prstGeom>
          <a:ln w="889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1792" y="4754880"/>
            <a:ext cx="2304288" cy="539496"/>
          </a:xfrm>
          <a:prstGeom prst="rect">
            <a:avLst/>
          </a:prstGeom>
          <a:noFill/>
          <a:effectLst/>
        </p:spPr>
        <p:txBody>
          <a:bodyPr wrap="square" lIns="0" tIns="0" rIns="0" bIns="0">
            <a:spAutoFit/>
          </a:bodyPr>
          <a:lstStyle/>
          <a:p>
            <a:pPr algn="l">
              <a:lnSpc>
                <a:spcPct val="108000"/>
              </a:lnSpc>
              <a:spcAft>
                <a:spcPts val="400"/>
              </a:spcAft>
              <a:defRPr sz="1500" b="0">
                <a:solidFill>
                  <a:srgbClr val="0F62FE"/>
                </a:solidFill>
                <a:latin typeface="IBM Plex Sans"/>
              </a:defRPr>
            </a:pPr>
            <a:r>
              <a:rPr sz="1500" b="0">
                <a:solidFill>
                  <a:srgbClr val="0F62FE"/>
                </a:solidFill>
                <a:latin typeface="IBM Plex Sans"/>
              </a:rPr>
              <a:t>Define the planning</a:t>
            </a:r>
          </a:p>
          <a:p>
            <a:pPr algn="l">
              <a:lnSpc>
                <a:spcPct val="108000"/>
              </a:lnSpc>
              <a:spcAft>
                <a:spcPts val="400"/>
              </a:spcAft>
              <a:defRPr sz="1500" b="0">
                <a:solidFill>
                  <a:srgbClr val="0F62FE"/>
                </a:solidFill>
                <a:latin typeface="IBM Plex Sans"/>
              </a:defRPr>
            </a:pPr>
            <a:r>
              <a:rPr sz="1500" b="0">
                <a:solidFill>
                  <a:srgbClr val="0F62FE"/>
                </a:solidFill>
                <a:latin typeface="IBM Plex Sans"/>
              </a:rPr>
              <a:t>case to investigate.</a:t>
            </a:r>
          </a:p>
        </p:txBody>
      </p:sp>
      <p:sp>
        <p:nvSpPr>
          <p:cNvPr id="15" name="Rectangle 14"/>
          <p:cNvSpPr/>
          <p:nvPr/>
        </p:nvSpPr>
        <p:spPr>
          <a:xfrm>
            <a:off x="3337560" y="2167128"/>
            <a:ext cx="2642616"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2152" y="2359152"/>
            <a:ext cx="2304288" cy="283464"/>
          </a:xfrm>
          <a:prstGeom prst="rect">
            <a:avLst/>
          </a:prstGeom>
          <a:noFill/>
          <a:effectLst/>
        </p:spPr>
        <p:txBody>
          <a:bodyPr wrap="square" lIns="0" tIns="0" rIns="0" bIns="0">
            <a:spAutoFit/>
          </a:bodyPr>
          <a:lstStyle/>
          <a:p>
            <a:pPr algn="l">
              <a:lnSpc>
                <a:spcPct val="108000"/>
              </a:lnSpc>
              <a:spcAft>
                <a:spcPts val="400"/>
              </a:spcAft>
              <a:defRPr sz="1050" b="0">
                <a:solidFill>
                  <a:srgbClr val="0F62FE"/>
                </a:solidFill>
                <a:latin typeface="IBM Plex Sans"/>
              </a:defRPr>
            </a:pPr>
            <a:r>
              <a:rPr sz="1050" b="0">
                <a:solidFill>
                  <a:srgbClr val="0F62FE"/>
                </a:solidFill>
                <a:latin typeface="IBM Plex Sans"/>
              </a:rPr>
              <a:t>ML CHALLENGER</a:t>
            </a:r>
          </a:p>
        </p:txBody>
      </p:sp>
      <p:sp>
        <p:nvSpPr>
          <p:cNvPr id="17" name="TextBox 16"/>
          <p:cNvSpPr txBox="1"/>
          <p:nvPr/>
        </p:nvSpPr>
        <p:spPr>
          <a:xfrm>
            <a:off x="3502152" y="2807208"/>
            <a:ext cx="2304288" cy="713232"/>
          </a:xfrm>
          <a:prstGeom prst="rect">
            <a:avLst/>
          </a:prstGeom>
          <a:noFill/>
          <a:effectLst/>
        </p:spPr>
        <p:txBody>
          <a:bodyPr wrap="square" lIns="0" tIns="0" rIns="0" bIns="0">
            <a:spAutoFit/>
          </a:bodyPr>
          <a:lstStyle/>
          <a:p>
            <a:pPr algn="l">
              <a:lnSpc>
                <a:spcPct val="108000"/>
              </a:lnSpc>
              <a:spcAft>
                <a:spcPts val="400"/>
              </a:spcAft>
              <a:defRPr sz="2200" b="0">
                <a:solidFill>
                  <a:srgbClr val="202A38"/>
                </a:solidFill>
                <a:latin typeface="IBM Plex Sans Light"/>
              </a:defRPr>
            </a:pPr>
            <a:r>
              <a:rPr sz="2200" b="0">
                <a:solidFill>
                  <a:srgbClr val="202A38"/>
                </a:solidFill>
                <a:latin typeface="IBM Plex Sans Light"/>
              </a:rPr>
              <a:t>Evidence signals</a:t>
            </a:r>
          </a:p>
        </p:txBody>
      </p:sp>
      <p:sp>
        <p:nvSpPr>
          <p:cNvPr id="18" name="TextBox 17"/>
          <p:cNvSpPr txBox="1"/>
          <p:nvPr/>
        </p:nvSpPr>
        <p:spPr>
          <a:xfrm>
            <a:off x="3502152" y="3639312"/>
            <a:ext cx="2304288" cy="859536"/>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Predicted class / GPR</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band, uncertainty</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and discrepancies.</a:t>
            </a:r>
          </a:p>
        </p:txBody>
      </p:sp>
      <p:cxnSp>
        <p:nvCxnSpPr>
          <p:cNvPr id="19" name="Connector 18"/>
          <p:cNvCxnSpPr/>
          <p:nvPr/>
        </p:nvCxnSpPr>
        <p:spPr>
          <a:xfrm>
            <a:off x="3502152" y="4590288"/>
            <a:ext cx="2313431" cy="0"/>
          </a:xfrm>
          <a:prstGeom prst="line">
            <a:avLst/>
          </a:prstGeom>
          <a:ln w="889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02152" y="4754880"/>
            <a:ext cx="2304288" cy="539496"/>
          </a:xfrm>
          <a:prstGeom prst="rect">
            <a:avLst/>
          </a:prstGeom>
          <a:noFill/>
          <a:effectLst/>
        </p:spPr>
        <p:txBody>
          <a:bodyPr wrap="square" lIns="0" tIns="0" rIns="0" bIns="0">
            <a:spAutoFit/>
          </a:bodyPr>
          <a:lstStyle/>
          <a:p>
            <a:pPr algn="l">
              <a:lnSpc>
                <a:spcPct val="108000"/>
              </a:lnSpc>
              <a:spcAft>
                <a:spcPts val="400"/>
              </a:spcAft>
              <a:defRPr sz="1500" b="0">
                <a:solidFill>
                  <a:srgbClr val="0F62FE"/>
                </a:solidFill>
                <a:latin typeface="IBM Plex Sans"/>
              </a:defRPr>
            </a:pPr>
            <a:r>
              <a:rPr sz="1500" b="0">
                <a:solidFill>
                  <a:srgbClr val="0F62FE"/>
                </a:solidFill>
                <a:latin typeface="IBM Plex Sans"/>
              </a:rPr>
              <a:t>Prioritise review</a:t>
            </a:r>
          </a:p>
          <a:p>
            <a:pPr algn="l">
              <a:lnSpc>
                <a:spcPct val="108000"/>
              </a:lnSpc>
              <a:spcAft>
                <a:spcPts val="400"/>
              </a:spcAft>
              <a:defRPr sz="1500" b="0">
                <a:solidFill>
                  <a:srgbClr val="0F62FE"/>
                </a:solidFill>
                <a:latin typeface="IBM Plex Sans"/>
              </a:defRPr>
            </a:pPr>
            <a:r>
              <a:rPr sz="1500" b="0">
                <a:solidFill>
                  <a:srgbClr val="0F62FE"/>
                </a:solidFill>
                <a:latin typeface="IBM Plex Sans"/>
              </a:rPr>
              <a:t>and monitoring.</a:t>
            </a:r>
          </a:p>
        </p:txBody>
      </p:sp>
      <p:sp>
        <p:nvSpPr>
          <p:cNvPr id="21" name="Rectangle 20"/>
          <p:cNvSpPr/>
          <p:nvPr/>
        </p:nvSpPr>
        <p:spPr>
          <a:xfrm>
            <a:off x="6217920" y="2167128"/>
            <a:ext cx="2642616"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82512" y="2359152"/>
            <a:ext cx="2304288" cy="283464"/>
          </a:xfrm>
          <a:prstGeom prst="rect">
            <a:avLst/>
          </a:prstGeom>
          <a:noFill/>
          <a:effectLst/>
        </p:spPr>
        <p:txBody>
          <a:bodyPr wrap="square" lIns="0" tIns="0" rIns="0" bIns="0">
            <a:spAutoFit/>
          </a:bodyPr>
          <a:lstStyle/>
          <a:p>
            <a:pPr algn="l">
              <a:lnSpc>
                <a:spcPct val="108000"/>
              </a:lnSpc>
              <a:spcAft>
                <a:spcPts val="400"/>
              </a:spcAft>
              <a:defRPr sz="1050" b="0">
                <a:solidFill>
                  <a:srgbClr val="0F62FE"/>
                </a:solidFill>
                <a:latin typeface="IBM Plex Sans"/>
              </a:defRPr>
            </a:pPr>
            <a:r>
              <a:rPr sz="1050" b="0">
                <a:solidFill>
                  <a:srgbClr val="0F62FE"/>
                </a:solidFill>
                <a:latin typeface="IBM Plex Sans"/>
              </a:rPr>
              <a:t>CAPACITY SCREEN</a:t>
            </a:r>
          </a:p>
        </p:txBody>
      </p:sp>
      <p:sp>
        <p:nvSpPr>
          <p:cNvPr id="23" name="TextBox 22"/>
          <p:cNvSpPr txBox="1"/>
          <p:nvPr/>
        </p:nvSpPr>
        <p:spPr>
          <a:xfrm>
            <a:off x="6382512" y="2807208"/>
            <a:ext cx="2304288" cy="713232"/>
          </a:xfrm>
          <a:prstGeom prst="rect">
            <a:avLst/>
          </a:prstGeom>
          <a:noFill/>
          <a:effectLst/>
        </p:spPr>
        <p:txBody>
          <a:bodyPr wrap="square" lIns="0" tIns="0" rIns="0" bIns="0">
            <a:spAutoFit/>
          </a:bodyPr>
          <a:lstStyle/>
          <a:p>
            <a:pPr algn="l">
              <a:lnSpc>
                <a:spcPct val="108000"/>
              </a:lnSpc>
              <a:spcAft>
                <a:spcPts val="400"/>
              </a:spcAft>
              <a:defRPr sz="2200" b="0">
                <a:solidFill>
                  <a:srgbClr val="202A38"/>
                </a:solidFill>
                <a:latin typeface="IBM Plex Sans Light"/>
              </a:defRPr>
            </a:pPr>
            <a:r>
              <a:rPr sz="2200" b="0">
                <a:solidFill>
                  <a:srgbClr val="202A38"/>
                </a:solidFill>
                <a:latin typeface="IBM Plex Sans Light"/>
              </a:rPr>
              <a:t>Area and constraints</a:t>
            </a:r>
          </a:p>
        </p:txBody>
      </p:sp>
      <p:sp>
        <p:nvSpPr>
          <p:cNvPr id="24" name="TextBox 23"/>
          <p:cNvSpPr txBox="1"/>
          <p:nvPr/>
        </p:nvSpPr>
        <p:spPr>
          <a:xfrm>
            <a:off x="6382512" y="3639312"/>
            <a:ext cx="2304288" cy="859536"/>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Floor-area headroom,</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setbacks, height</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and envelope options.</a:t>
            </a:r>
          </a:p>
        </p:txBody>
      </p:sp>
      <p:cxnSp>
        <p:nvCxnSpPr>
          <p:cNvPr id="25" name="Connector 24"/>
          <p:cNvCxnSpPr/>
          <p:nvPr/>
        </p:nvCxnSpPr>
        <p:spPr>
          <a:xfrm>
            <a:off x="6382512" y="4590288"/>
            <a:ext cx="2313432" cy="0"/>
          </a:xfrm>
          <a:prstGeom prst="line">
            <a:avLst/>
          </a:prstGeom>
          <a:ln w="889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82512" y="4754880"/>
            <a:ext cx="2304288" cy="539496"/>
          </a:xfrm>
          <a:prstGeom prst="rect">
            <a:avLst/>
          </a:prstGeom>
          <a:noFill/>
          <a:effectLst/>
        </p:spPr>
        <p:txBody>
          <a:bodyPr wrap="square" lIns="0" tIns="0" rIns="0" bIns="0">
            <a:spAutoFit/>
          </a:bodyPr>
          <a:lstStyle/>
          <a:p>
            <a:pPr algn="l">
              <a:lnSpc>
                <a:spcPct val="108000"/>
              </a:lnSpc>
              <a:spcAft>
                <a:spcPts val="400"/>
              </a:spcAft>
              <a:defRPr sz="1500" b="0">
                <a:solidFill>
                  <a:srgbClr val="0F62FE"/>
                </a:solidFill>
                <a:latin typeface="IBM Plex Sans"/>
              </a:defRPr>
            </a:pPr>
            <a:r>
              <a:rPr sz="1500" b="0">
                <a:solidFill>
                  <a:srgbClr val="0F62FE"/>
                </a:solidFill>
                <a:latin typeface="IBM Plex Sans"/>
              </a:rPr>
              <a:t>Specify candidate</a:t>
            </a:r>
          </a:p>
          <a:p>
            <a:pPr algn="l">
              <a:lnSpc>
                <a:spcPct val="108000"/>
              </a:lnSpc>
              <a:spcAft>
                <a:spcPts val="400"/>
              </a:spcAft>
              <a:defRPr sz="1500" b="0">
                <a:solidFill>
                  <a:srgbClr val="0F62FE"/>
                </a:solidFill>
                <a:latin typeface="IBM Plex Sans"/>
              </a:defRPr>
            </a:pPr>
            <a:r>
              <a:rPr sz="1500" b="0">
                <a:solidFill>
                  <a:srgbClr val="0F62FE"/>
                </a:solidFill>
                <a:latin typeface="IBM Plex Sans"/>
              </a:rPr>
              <a:t>development capacity.</a:t>
            </a:r>
          </a:p>
        </p:txBody>
      </p:sp>
      <p:sp>
        <p:nvSpPr>
          <p:cNvPr id="27" name="Rectangle 26"/>
          <p:cNvSpPr/>
          <p:nvPr/>
        </p:nvSpPr>
        <p:spPr>
          <a:xfrm>
            <a:off x="9098280" y="2167128"/>
            <a:ext cx="2642616"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62872" y="2359152"/>
            <a:ext cx="2304288" cy="283464"/>
          </a:xfrm>
          <a:prstGeom prst="rect">
            <a:avLst/>
          </a:prstGeom>
          <a:noFill/>
          <a:effectLst/>
        </p:spPr>
        <p:txBody>
          <a:bodyPr wrap="square" lIns="0" tIns="0" rIns="0" bIns="0">
            <a:spAutoFit/>
          </a:bodyPr>
          <a:lstStyle/>
          <a:p>
            <a:pPr algn="l">
              <a:lnSpc>
                <a:spcPct val="108000"/>
              </a:lnSpc>
              <a:spcAft>
                <a:spcPts val="400"/>
              </a:spcAft>
              <a:defRPr sz="1050" b="0">
                <a:solidFill>
                  <a:srgbClr val="0F62FE"/>
                </a:solidFill>
                <a:latin typeface="IBM Plex Sans"/>
              </a:defRPr>
            </a:pPr>
            <a:r>
              <a:rPr sz="1050" b="0">
                <a:solidFill>
                  <a:srgbClr val="0F62FE"/>
                </a:solidFill>
                <a:latin typeface="IBM Plex Sans"/>
              </a:rPr>
              <a:t>ECONOMIC TEST</a:t>
            </a:r>
          </a:p>
        </p:txBody>
      </p:sp>
      <p:sp>
        <p:nvSpPr>
          <p:cNvPr id="29" name="TextBox 28"/>
          <p:cNvSpPr txBox="1"/>
          <p:nvPr/>
        </p:nvSpPr>
        <p:spPr>
          <a:xfrm>
            <a:off x="9262872" y="2807208"/>
            <a:ext cx="2304288" cy="713232"/>
          </a:xfrm>
          <a:prstGeom prst="rect">
            <a:avLst/>
          </a:prstGeom>
          <a:noFill/>
          <a:effectLst/>
        </p:spPr>
        <p:txBody>
          <a:bodyPr wrap="square" lIns="0" tIns="0" rIns="0" bIns="0">
            <a:spAutoFit/>
          </a:bodyPr>
          <a:lstStyle/>
          <a:p>
            <a:pPr algn="l">
              <a:lnSpc>
                <a:spcPct val="108000"/>
              </a:lnSpc>
              <a:spcAft>
                <a:spcPts val="400"/>
              </a:spcAft>
              <a:defRPr sz="2200" b="0">
                <a:solidFill>
                  <a:srgbClr val="202A38"/>
                </a:solidFill>
                <a:latin typeface="IBM Plex Sans Light"/>
              </a:defRPr>
            </a:pPr>
            <a:r>
              <a:rPr sz="2200" b="0">
                <a:solidFill>
                  <a:srgbClr val="202A38"/>
                </a:solidFill>
                <a:latin typeface="IBM Plex Sans Light"/>
              </a:rPr>
              <a:t>Costed alternatives</a:t>
            </a:r>
          </a:p>
        </p:txBody>
      </p:sp>
      <p:sp>
        <p:nvSpPr>
          <p:cNvPr id="30" name="TextBox 29"/>
          <p:cNvSpPr txBox="1"/>
          <p:nvPr/>
        </p:nvSpPr>
        <p:spPr>
          <a:xfrm>
            <a:off x="9262872" y="3639312"/>
            <a:ext cx="2304288" cy="859536"/>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Full cash flows,</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residual land value</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and NPV versus Hold.</a:t>
            </a:r>
          </a:p>
        </p:txBody>
      </p:sp>
      <p:cxnSp>
        <p:nvCxnSpPr>
          <p:cNvPr id="31" name="Connector 30"/>
          <p:cNvCxnSpPr/>
          <p:nvPr/>
        </p:nvCxnSpPr>
        <p:spPr>
          <a:xfrm>
            <a:off x="9262872" y="4590288"/>
            <a:ext cx="2313432" cy="0"/>
          </a:xfrm>
          <a:prstGeom prst="line">
            <a:avLst/>
          </a:prstGeom>
          <a:ln w="889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262872" y="4754880"/>
            <a:ext cx="2304288" cy="539496"/>
          </a:xfrm>
          <a:prstGeom prst="rect">
            <a:avLst/>
          </a:prstGeom>
          <a:noFill/>
          <a:effectLst/>
        </p:spPr>
        <p:txBody>
          <a:bodyPr wrap="square" lIns="0" tIns="0" rIns="0" bIns="0">
            <a:spAutoFit/>
          </a:bodyPr>
          <a:lstStyle/>
          <a:p>
            <a:pPr algn="l">
              <a:lnSpc>
                <a:spcPct val="108000"/>
              </a:lnSpc>
              <a:spcAft>
                <a:spcPts val="400"/>
              </a:spcAft>
              <a:defRPr sz="1500" b="0">
                <a:solidFill>
                  <a:srgbClr val="0F62FE"/>
                </a:solidFill>
                <a:latin typeface="IBM Plex Sans"/>
              </a:defRPr>
            </a:pPr>
            <a:r>
              <a:rPr sz="1500" b="0">
                <a:solidFill>
                  <a:srgbClr val="0F62FE"/>
                </a:solidFill>
                <a:latin typeface="IBM Plex Sans"/>
              </a:rPr>
              <a:t>Compare development,</a:t>
            </a:r>
          </a:p>
          <a:p>
            <a:pPr algn="l">
              <a:lnSpc>
                <a:spcPct val="108000"/>
              </a:lnSpc>
              <a:spcAft>
                <a:spcPts val="400"/>
              </a:spcAft>
              <a:defRPr sz="1500" b="0">
                <a:solidFill>
                  <a:srgbClr val="0F62FE"/>
                </a:solidFill>
                <a:latin typeface="IBM Plex Sans"/>
              </a:defRPr>
            </a:pPr>
            <a:r>
              <a:rPr sz="1500" b="0">
                <a:solidFill>
                  <a:srgbClr val="0F62FE"/>
                </a:solidFill>
                <a:latin typeface="IBM Plex Sans"/>
              </a:rPr>
              <a:t>retention and sale.</a:t>
            </a:r>
          </a:p>
        </p:txBody>
      </p:sp>
      <p:sp>
        <p:nvSpPr>
          <p:cNvPr id="33" name="Rectangle 32"/>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Current integration: ML and detailed development values remain outside the main action rankings.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ZONING ML OUTPUTS</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Zoning ML challenges the input evidence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Two model targets answer different questions; neither is an automatic Buy, Sell or Hold rule.</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Implemented code: LightGBM challenger and zoning-change modules. Public results are hand-authored display fixtures.</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08</a:t>
            </a:r>
          </a:p>
        </p:txBody>
      </p:sp>
      <p:sp>
        <p:nvSpPr>
          <p:cNvPr id="9" name="Rectangle 8"/>
          <p:cNvSpPr/>
          <p:nvPr/>
        </p:nvSpPr>
        <p:spPr>
          <a:xfrm>
            <a:off x="457200" y="2130552"/>
            <a:ext cx="5522976"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 y="2350008"/>
            <a:ext cx="5084064" cy="457200"/>
          </a:xfrm>
          <a:prstGeom prst="rect">
            <a:avLst/>
          </a:prstGeom>
          <a:noFill/>
          <a:effectLst/>
        </p:spPr>
        <p:txBody>
          <a:bodyPr wrap="square" lIns="0" tIns="0" rIns="0" bIns="0">
            <a:spAutoFit/>
          </a:bodyPr>
          <a:lstStyle/>
          <a:p>
            <a:pPr algn="l">
              <a:lnSpc>
                <a:spcPct val="108000"/>
              </a:lnSpc>
              <a:spcAft>
                <a:spcPts val="400"/>
              </a:spcAft>
              <a:defRPr sz="2400" b="0">
                <a:solidFill>
                  <a:srgbClr val="202A38"/>
                </a:solidFill>
                <a:latin typeface="IBM Plex Sans Light"/>
              </a:defRPr>
            </a:pPr>
            <a:r>
              <a:rPr sz="2400" b="0">
                <a:solidFill>
                  <a:srgbClr val="202A38"/>
                </a:solidFill>
                <a:latin typeface="IBM Plex Sans Light"/>
              </a:rPr>
              <a:t>Current-zoning challenger</a:t>
            </a:r>
          </a:p>
        </p:txBody>
      </p:sp>
      <p:sp>
        <p:nvSpPr>
          <p:cNvPr id="11" name="TextBox 10"/>
          <p:cNvSpPr txBox="1"/>
          <p:nvPr/>
        </p:nvSpPr>
        <p:spPr>
          <a:xfrm>
            <a:off x="667512" y="2971800"/>
            <a:ext cx="5084064" cy="393192"/>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Does the record fit the observed context?</a:t>
            </a:r>
          </a:p>
        </p:txBody>
      </p:sp>
      <p:sp>
        <p:nvSpPr>
          <p:cNvPr id="12" name="TextBox 11"/>
          <p:cNvSpPr txBox="1"/>
          <p:nvPr/>
        </p:nvSpPr>
        <p:spPr>
          <a:xfrm>
            <a:off x="667512" y="3648456"/>
            <a:ext cx="5084064" cy="969264"/>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Land-use class / subtype / GPR band</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Class confidence, entropy and abstention</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Discrepancy status with reasons</a:t>
            </a:r>
          </a:p>
        </p:txBody>
      </p:sp>
      <p:sp>
        <p:nvSpPr>
          <p:cNvPr id="13" name="TextBox 12"/>
          <p:cNvSpPr txBox="1"/>
          <p:nvPr/>
        </p:nvSpPr>
        <p:spPr>
          <a:xfrm>
            <a:off x="667512" y="4773168"/>
            <a:ext cx="5084064" cy="347472"/>
          </a:xfrm>
          <a:prstGeom prst="rect">
            <a:avLst/>
          </a:prstGeom>
          <a:noFill/>
          <a:effectLst/>
        </p:spPr>
        <p:txBody>
          <a:bodyPr wrap="square" lIns="0" tIns="0" rIns="0" bIns="0">
            <a:spAutoFit/>
          </a:bodyPr>
          <a:lstStyle/>
          <a:p>
            <a:pPr algn="l">
              <a:lnSpc>
                <a:spcPct val="108000"/>
              </a:lnSpc>
              <a:spcAft>
                <a:spcPts val="400"/>
              </a:spcAft>
              <a:defRPr sz="1500" b="0">
                <a:solidFill>
                  <a:srgbClr val="0F62FE"/>
                </a:solidFill>
                <a:latin typeface="IBM Plex Sans"/>
              </a:defRPr>
            </a:pPr>
            <a:r>
              <a:rPr sz="1500" b="0">
                <a:solidFill>
                  <a:srgbClr val="0F62FE"/>
                </a:solidFill>
                <a:latin typeface="IBM Plex Sans"/>
              </a:rPr>
              <a:t>Use: investigate mismatches and missing evidence.</a:t>
            </a:r>
          </a:p>
        </p:txBody>
      </p:sp>
      <p:sp>
        <p:nvSpPr>
          <p:cNvPr id="14" name="Rectangle 13"/>
          <p:cNvSpPr/>
          <p:nvPr/>
        </p:nvSpPr>
        <p:spPr>
          <a:xfrm>
            <a:off x="6208776" y="2130552"/>
            <a:ext cx="5522976" cy="313639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2350008"/>
            <a:ext cx="5084064" cy="457200"/>
          </a:xfrm>
          <a:prstGeom prst="rect">
            <a:avLst/>
          </a:prstGeom>
          <a:noFill/>
          <a:effectLst/>
        </p:spPr>
        <p:txBody>
          <a:bodyPr wrap="square" lIns="0" tIns="0" rIns="0" bIns="0">
            <a:spAutoFit/>
          </a:bodyPr>
          <a:lstStyle/>
          <a:p>
            <a:pPr algn="l">
              <a:lnSpc>
                <a:spcPct val="108000"/>
              </a:lnSpc>
              <a:spcAft>
                <a:spcPts val="400"/>
              </a:spcAft>
              <a:defRPr sz="2400" b="0">
                <a:solidFill>
                  <a:srgbClr val="202A38"/>
                </a:solidFill>
                <a:latin typeface="IBM Plex Sans Light"/>
              </a:defRPr>
            </a:pPr>
            <a:r>
              <a:rPr sz="2400" b="0">
                <a:solidFill>
                  <a:srgbClr val="202A38"/>
                </a:solidFill>
                <a:latin typeface="IBM Plex Sans Light"/>
              </a:rPr>
              <a:t>Future-change model</a:t>
            </a:r>
          </a:p>
        </p:txBody>
      </p:sp>
      <p:sp>
        <p:nvSpPr>
          <p:cNvPr id="16" name="TextBox 15"/>
          <p:cNvSpPr txBox="1"/>
          <p:nvPr/>
        </p:nvSpPr>
        <p:spPr>
          <a:xfrm>
            <a:off x="6419088" y="2971800"/>
            <a:ext cx="5084064" cy="393192"/>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Which sites merit closer monitoring?</a:t>
            </a:r>
          </a:p>
        </p:txBody>
      </p:sp>
      <p:sp>
        <p:nvSpPr>
          <p:cNvPr id="17" name="TextBox 16"/>
          <p:cNvSpPr txBox="1"/>
          <p:nvPr/>
        </p:nvSpPr>
        <p:spPr>
          <a:xfrm>
            <a:off x="6419088" y="3648456"/>
            <a:ext cx="5084064" cy="969264"/>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Zoning / GPR change score</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Separate from current land-use classification</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Requires dated change labels and validation</a:t>
            </a:r>
          </a:p>
        </p:txBody>
      </p:sp>
      <p:sp>
        <p:nvSpPr>
          <p:cNvPr id="18" name="TextBox 17"/>
          <p:cNvSpPr txBox="1"/>
          <p:nvPr/>
        </p:nvSpPr>
        <p:spPr>
          <a:xfrm>
            <a:off x="6419088" y="4773168"/>
            <a:ext cx="5084064" cy="347472"/>
          </a:xfrm>
          <a:prstGeom prst="rect">
            <a:avLst/>
          </a:prstGeom>
          <a:noFill/>
          <a:effectLst/>
        </p:spPr>
        <p:txBody>
          <a:bodyPr wrap="square" lIns="0" tIns="0" rIns="0" bIns="0">
            <a:spAutoFit/>
          </a:bodyPr>
          <a:lstStyle/>
          <a:p>
            <a:pPr algn="l">
              <a:lnSpc>
                <a:spcPct val="108000"/>
              </a:lnSpc>
              <a:spcAft>
                <a:spcPts val="400"/>
              </a:spcAft>
              <a:defRPr sz="1500" b="0">
                <a:solidFill>
                  <a:srgbClr val="0F62FE"/>
                </a:solidFill>
                <a:latin typeface="IBM Plex Sans"/>
              </a:defRPr>
            </a:pPr>
            <a:r>
              <a:rPr sz="1500" b="0">
                <a:solidFill>
                  <a:srgbClr val="0F62FE"/>
                </a:solidFill>
                <a:latin typeface="IBM Plex Sans"/>
              </a:rPr>
              <a:t>Use: a watchlist or an explicit sensitivity case.</a:t>
            </a:r>
          </a:p>
        </p:txBody>
      </p:sp>
      <p:sp>
        <p:nvSpPr>
          <p:cNvPr id="19" name="Rectangle 18"/>
          <p:cNvSpPr/>
          <p:nvPr/>
        </p:nvSpPr>
        <p:spPr>
          <a:xfrm>
            <a:off x="457200" y="5541264"/>
            <a:ext cx="11274552" cy="621792"/>
          </a:xfrm>
          <a:prstGeom prst="rect">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 y="5696712"/>
            <a:ext cx="10890504" cy="429768"/>
          </a:xfrm>
          <a:prstGeom prst="rect">
            <a:avLst/>
          </a:prstGeom>
          <a:noFill/>
          <a:effectLst/>
        </p:spPr>
        <p:txBody>
          <a:bodyPr wrap="square" lIns="0" tIns="0" rIns="0" bIns="0">
            <a:spAutoFit/>
          </a:bodyPr>
          <a:lstStyle/>
          <a:p>
            <a:pPr algn="l">
              <a:lnSpc>
                <a:spcPct val="108000"/>
              </a:lnSpc>
              <a:spcAft>
                <a:spcPts val="400"/>
              </a:spcAft>
              <a:defRPr sz="1700" b="0">
                <a:solidFill>
                  <a:srgbClr val="995910"/>
                </a:solidFill>
                <a:latin typeface="IBM Plex Sans"/>
              </a:defRPr>
            </a:pPr>
            <a:r>
              <a:rPr sz="1700" b="0">
                <a:solidFill>
                  <a:srgbClr val="995910"/>
                </a:solidFill>
                <a:latin typeface="IBM Plex Sans"/>
              </a:rPr>
              <a:t>Current public demo: no trained predictions. ML scores do not feed action rankings.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ZONING OUTPUT TO ECONOMICS</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Floor-area headroom identifies an option to investigate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DEMO-001: capacity and the separate detailed development model tell different parts of the story.</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Illustrative results from 10 fictional assets. SGD millions unless stated. Model snapshot: 25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09</a:t>
            </a:r>
          </a:p>
        </p:txBody>
      </p:sp>
      <p:sp>
        <p:nvSpPr>
          <p:cNvPr id="9" name="TextBox 8"/>
          <p:cNvSpPr txBox="1"/>
          <p:nvPr/>
        </p:nvSpPr>
        <p:spPr>
          <a:xfrm>
            <a:off x="530352" y="2121408"/>
            <a:ext cx="6876288" cy="32004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Core capacity screen: gross floor area (sqm)</a:t>
            </a:r>
          </a:p>
        </p:txBody>
      </p:sp>
      <p:graphicFrame>
        <p:nvGraphicFramePr>
          <p:cNvPr id="10" name="Chart 9"/>
          <p:cNvGraphicFramePr>
            <a:graphicFrameLocks noGrp="1"/>
          </p:cNvGraphicFramePr>
          <p:nvPr/>
        </p:nvGraphicFramePr>
        <p:xfrm>
          <a:off x="448056" y="2587752"/>
          <a:ext cx="6885432" cy="2898648"/>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7882127" y="2212848"/>
            <a:ext cx="3840480" cy="3346704"/>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10727" y="2487168"/>
            <a:ext cx="3392424" cy="640080"/>
          </a:xfrm>
          <a:prstGeom prst="rect">
            <a:avLst/>
          </a:prstGeom>
          <a:noFill/>
          <a:effectLst/>
        </p:spPr>
        <p:txBody>
          <a:bodyPr wrap="square" lIns="0" tIns="0" rIns="0" bIns="0">
            <a:spAutoFit/>
          </a:bodyPr>
          <a:lstStyle/>
          <a:p>
            <a:pPr algn="l">
              <a:lnSpc>
                <a:spcPct val="108000"/>
              </a:lnSpc>
              <a:spcAft>
                <a:spcPts val="400"/>
              </a:spcAft>
              <a:defRPr sz="3600" b="0">
                <a:solidFill>
                  <a:srgbClr val="0F62FE"/>
                </a:solidFill>
                <a:latin typeface="IBM Plex Sans Light"/>
              </a:defRPr>
            </a:pPr>
            <a:r>
              <a:rPr sz="3600" b="0">
                <a:solidFill>
                  <a:srgbClr val="0F62FE"/>
                </a:solidFill>
                <a:latin typeface="IBM Plex Sans Light"/>
              </a:rPr>
              <a:t>2,184 sqm</a:t>
            </a:r>
          </a:p>
        </p:txBody>
      </p:sp>
      <p:sp>
        <p:nvSpPr>
          <p:cNvPr id="13" name="TextBox 12"/>
          <p:cNvSpPr txBox="1"/>
          <p:nvPr/>
        </p:nvSpPr>
        <p:spPr>
          <a:xfrm>
            <a:off x="8110727" y="3246120"/>
            <a:ext cx="3392424" cy="50292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Unused screened capacity</a:t>
            </a:r>
          </a:p>
        </p:txBody>
      </p:sp>
      <p:sp>
        <p:nvSpPr>
          <p:cNvPr id="14" name="TextBox 13"/>
          <p:cNvSpPr txBox="1"/>
          <p:nvPr/>
        </p:nvSpPr>
        <p:spPr>
          <a:xfrm>
            <a:off x="8110727" y="4517136"/>
            <a:ext cx="3392424" cy="722376"/>
          </a:xfrm>
          <a:prstGeom prst="rect">
            <a:avLst/>
          </a:prstGeom>
          <a:noFill/>
          <a:effectLst/>
        </p:spPr>
        <p:txBody>
          <a:bodyPr wrap="square" lIns="0" tIns="0" rIns="0" bIns="0">
            <a:spAutoFit/>
          </a:bodyPr>
          <a:lstStyle/>
          <a:p>
            <a:pPr algn="l">
              <a:lnSpc>
                <a:spcPct val="108000"/>
              </a:lnSpc>
              <a:spcAft>
                <a:spcPts val="400"/>
              </a:spcAft>
              <a:defRPr sz="1900" b="0">
                <a:solidFill>
                  <a:srgbClr val="202A38"/>
                </a:solidFill>
                <a:latin typeface="IBM Plex Sans Light"/>
              </a:defRPr>
            </a:pPr>
            <a:r>
              <a:rPr sz="1900" b="0">
                <a:solidFill>
                  <a:srgbClr val="202A38"/>
                </a:solidFill>
                <a:latin typeface="IBM Plex Sans Light"/>
              </a:rPr>
              <a:t>Requires verified controls</a:t>
            </a:r>
          </a:p>
          <a:p>
            <a:pPr algn="l">
              <a:lnSpc>
                <a:spcPct val="108000"/>
              </a:lnSpc>
              <a:spcAft>
                <a:spcPts val="400"/>
              </a:spcAft>
              <a:defRPr sz="1900" b="0">
                <a:solidFill>
                  <a:srgbClr val="202A38"/>
                </a:solidFill>
                <a:latin typeface="IBM Plex Sans Light"/>
              </a:defRPr>
            </a:pPr>
            <a:r>
              <a:rPr sz="1900" b="0">
                <a:solidFill>
                  <a:srgbClr val="202A38"/>
                </a:solidFill>
                <a:latin typeface="IBM Plex Sans Light"/>
              </a:rPr>
              <a:t>and a costed design.</a:t>
            </a:r>
          </a:p>
        </p:txBody>
      </p:sp>
      <p:sp>
        <p:nvSpPr>
          <p:cNvPr id="15" name="Rectangle 14"/>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Detailed redevelopment test: −S$37.02m versus Hold, despite the indicated headroom.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WHAT DO WE DO WITH THE OUTPUT?</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Translate zoning information into a decision process</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Decision-use framework: analyst review is required; the zoning-to-ranking connection is not implemented.</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Decision logic guide. Economic candidates remain conditional on verified inputs and portfolio constraints.</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10</a:t>
            </a:r>
          </a:p>
        </p:txBody>
      </p:sp>
      <p:sp>
        <p:nvSpPr>
          <p:cNvPr id="9" name="Rectangle 8"/>
          <p:cNvSpPr/>
          <p:nvPr/>
        </p:nvSpPr>
        <p:spPr>
          <a:xfrm>
            <a:off x="457200" y="2112264"/>
            <a:ext cx="3374136" cy="438912"/>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231136"/>
            <a:ext cx="3099816" cy="201168"/>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FINDING</a:t>
            </a:r>
          </a:p>
        </p:txBody>
      </p:sp>
      <p:sp>
        <p:nvSpPr>
          <p:cNvPr id="11" name="Rectangle 10"/>
          <p:cNvSpPr/>
          <p:nvPr/>
        </p:nvSpPr>
        <p:spPr>
          <a:xfrm>
            <a:off x="4014215" y="2112264"/>
            <a:ext cx="4069080" cy="438912"/>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51376" y="2231136"/>
            <a:ext cx="3794760" cy="201168"/>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WHAT THE TEAM DOES</a:t>
            </a:r>
          </a:p>
        </p:txBody>
      </p:sp>
      <p:sp>
        <p:nvSpPr>
          <p:cNvPr id="13" name="Rectangle 12"/>
          <p:cNvSpPr/>
          <p:nvPr/>
        </p:nvSpPr>
        <p:spPr>
          <a:xfrm>
            <a:off x="8275320" y="2112264"/>
            <a:ext cx="3419856" cy="438912"/>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2231136"/>
            <a:ext cx="3145536" cy="201168"/>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DECISION IMPLICATION</a:t>
            </a:r>
          </a:p>
        </p:txBody>
      </p:sp>
      <p:sp>
        <p:nvSpPr>
          <p:cNvPr id="15" name="TextBox 14"/>
          <p:cNvSpPr txBox="1"/>
          <p:nvPr/>
        </p:nvSpPr>
        <p:spPr>
          <a:xfrm>
            <a:off x="594360" y="2779776"/>
            <a:ext cx="3099816"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ML mismatch or uncertain record</a:t>
            </a:r>
          </a:p>
        </p:txBody>
      </p:sp>
      <p:sp>
        <p:nvSpPr>
          <p:cNvPr id="16" name="TextBox 15"/>
          <p:cNvSpPr txBox="1"/>
          <p:nvPr/>
        </p:nvSpPr>
        <p:spPr>
          <a:xfrm>
            <a:off x="4151376" y="2779776"/>
            <a:ext cx="3794760"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Check the boundary, title and controls.</a:t>
            </a:r>
          </a:p>
        </p:txBody>
      </p:sp>
      <p:sp>
        <p:nvSpPr>
          <p:cNvPr id="17" name="TextBox 16"/>
          <p:cNvSpPr txBox="1"/>
          <p:nvPr/>
        </p:nvSpPr>
        <p:spPr>
          <a:xfrm>
            <a:off x="8412480" y="2779776"/>
            <a:ext cx="3145536"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Review / monitor;</a:t>
            </a:r>
          </a:p>
          <a:p>
            <a:pPr algn="l">
              <a:lnSpc>
                <a:spcPct val="108000"/>
              </a:lnSpc>
              <a:spcAft>
                <a:spcPts val="400"/>
              </a:spcAft>
              <a:defRPr sz="1600" b="0">
                <a:solidFill>
                  <a:srgbClr val="202A38"/>
                </a:solidFill>
                <a:latin typeface="IBM Plex Sans"/>
              </a:defRPr>
            </a:pPr>
            <a:r>
              <a:rPr sz="1600" b="0">
                <a:solidFill>
                  <a:srgbClr val="202A38"/>
                </a:solidFill>
                <a:latin typeface="IBM Plex Sans"/>
              </a:rPr>
              <a:t>defer a final action.</a:t>
            </a:r>
          </a:p>
        </p:txBody>
      </p:sp>
      <p:cxnSp>
        <p:nvCxnSpPr>
          <p:cNvPr id="18" name="Connector 17"/>
          <p:cNvCxnSpPr/>
          <p:nvPr/>
        </p:nvCxnSpPr>
        <p:spPr>
          <a:xfrm>
            <a:off x="457200" y="3483864"/>
            <a:ext cx="11237976"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3584448"/>
            <a:ext cx="3099816"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Verified capacity and viable costs</a:t>
            </a:r>
          </a:p>
        </p:txBody>
      </p:sp>
      <p:sp>
        <p:nvSpPr>
          <p:cNvPr id="20" name="TextBox 19"/>
          <p:cNvSpPr txBox="1"/>
          <p:nvPr/>
        </p:nvSpPr>
        <p:spPr>
          <a:xfrm>
            <a:off x="4151376" y="3584448"/>
            <a:ext cx="3794760"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Compare improved-use NPV with Hold.</a:t>
            </a:r>
          </a:p>
        </p:txBody>
      </p:sp>
      <p:sp>
        <p:nvSpPr>
          <p:cNvPr id="21" name="TextBox 20"/>
          <p:cNvSpPr txBox="1"/>
          <p:nvPr/>
        </p:nvSpPr>
        <p:spPr>
          <a:xfrm>
            <a:off x="8412480" y="3584448"/>
            <a:ext cx="3145536"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Retrofit, Repurpose or</a:t>
            </a:r>
          </a:p>
          <a:p>
            <a:pPr algn="l">
              <a:lnSpc>
                <a:spcPct val="108000"/>
              </a:lnSpc>
              <a:spcAft>
                <a:spcPts val="400"/>
              </a:spcAft>
              <a:defRPr sz="1600" b="0">
                <a:solidFill>
                  <a:srgbClr val="202A38"/>
                </a:solidFill>
                <a:latin typeface="IBM Plex Sans"/>
              </a:defRPr>
            </a:pPr>
            <a:r>
              <a:rPr sz="1600" b="0">
                <a:solidFill>
                  <a:srgbClr val="202A38"/>
                </a:solidFill>
                <a:latin typeface="IBM Plex Sans"/>
              </a:rPr>
              <a:t>Redevelop candidate.</a:t>
            </a:r>
          </a:p>
        </p:txBody>
      </p:sp>
      <p:cxnSp>
        <p:nvCxnSpPr>
          <p:cNvPr id="22" name="Connector 21"/>
          <p:cNvCxnSpPr/>
          <p:nvPr/>
        </p:nvCxnSpPr>
        <p:spPr>
          <a:xfrm>
            <a:off x="457200" y="4288536"/>
            <a:ext cx="11237976"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4389120"/>
            <a:ext cx="3099816"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Action economics favour retention or exit</a:t>
            </a:r>
          </a:p>
        </p:txBody>
      </p:sp>
      <p:sp>
        <p:nvSpPr>
          <p:cNvPr id="24" name="TextBox 23"/>
          <p:cNvSpPr txBox="1"/>
          <p:nvPr/>
        </p:nvSpPr>
        <p:spPr>
          <a:xfrm>
            <a:off x="4151376" y="4389120"/>
            <a:ext cx="3794760"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Compare Hold with net sale proceeds;</a:t>
            </a:r>
          </a:p>
          <a:p>
            <a:pPr algn="l">
              <a:lnSpc>
                <a:spcPct val="108000"/>
              </a:lnSpc>
              <a:spcAft>
                <a:spcPts val="400"/>
              </a:spcAft>
              <a:defRPr sz="1600" b="0">
                <a:solidFill>
                  <a:srgbClr val="202A38"/>
                </a:solidFill>
                <a:latin typeface="IBM Plex Sans"/>
              </a:defRPr>
            </a:pPr>
            <a:r>
              <a:rPr sz="1600" b="0">
                <a:solidFill>
                  <a:srgbClr val="202A38"/>
                </a:solidFill>
                <a:latin typeface="IBM Plex Sans"/>
              </a:rPr>
              <a:t>apply risk, income and liquidity limits.</a:t>
            </a:r>
          </a:p>
        </p:txBody>
      </p:sp>
      <p:sp>
        <p:nvSpPr>
          <p:cNvPr id="25" name="TextBox 24"/>
          <p:cNvSpPr txBox="1"/>
          <p:nvPr/>
        </p:nvSpPr>
        <p:spPr>
          <a:xfrm>
            <a:off x="8412480" y="4389120"/>
            <a:ext cx="3145536" cy="649224"/>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Hold or Sell candidate;</a:t>
            </a:r>
          </a:p>
          <a:p>
            <a:pPr algn="l">
              <a:lnSpc>
                <a:spcPct val="108000"/>
              </a:lnSpc>
              <a:spcAft>
                <a:spcPts val="400"/>
              </a:spcAft>
              <a:defRPr sz="1600" b="0">
                <a:solidFill>
                  <a:srgbClr val="202A38"/>
                </a:solidFill>
                <a:latin typeface="IBM Plex Sans"/>
              </a:defRPr>
            </a:pPr>
            <a:r>
              <a:rPr sz="1600" b="0">
                <a:solidFill>
                  <a:srgbClr val="202A38"/>
                </a:solidFill>
                <a:latin typeface="IBM Plex Sans"/>
              </a:rPr>
              <a:t>then portfolio review.</a:t>
            </a:r>
          </a:p>
        </p:txBody>
      </p:sp>
      <p:cxnSp>
        <p:nvCxnSpPr>
          <p:cNvPr id="26" name="Connector 25"/>
          <p:cNvCxnSpPr/>
          <p:nvPr/>
        </p:nvCxnSpPr>
        <p:spPr>
          <a:xfrm>
            <a:off x="457200" y="5093208"/>
            <a:ext cx="11237976"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57200" y="5468112"/>
            <a:ext cx="11274552" cy="704088"/>
          </a:xfrm>
          <a:prstGeom prst="rect">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 y="5614416"/>
            <a:ext cx="10890504" cy="466344"/>
          </a:xfrm>
          <a:prstGeom prst="rect">
            <a:avLst/>
          </a:prstGeom>
          <a:noFill/>
          <a:effectLst/>
        </p:spPr>
        <p:txBody>
          <a:bodyPr wrap="square" lIns="0" tIns="0" rIns="0" bIns="0">
            <a:spAutoFit/>
          </a:bodyPr>
          <a:lstStyle/>
          <a:p>
            <a:pPr algn="l">
              <a:lnSpc>
                <a:spcPct val="108000"/>
              </a:lnSpc>
              <a:spcAft>
                <a:spcPts val="400"/>
              </a:spcAft>
              <a:defRPr sz="1700" b="0">
                <a:solidFill>
                  <a:srgbClr val="995910"/>
                </a:solidFill>
                <a:latin typeface="IBM Plex Sans"/>
              </a:defRPr>
            </a:pPr>
            <a:r>
              <a:rPr sz="1700" b="0">
                <a:solidFill>
                  <a:srgbClr val="995910"/>
                </a:solidFill>
                <a:latin typeface="IBM Plex Sans"/>
              </a:rPr>
              <a:t>Buy is not implemented: acquisition price, transaction costs and a purchase benchmark are required.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MODEL LOGIC</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Compare every action against the same Hold baseline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Incremental economics reveal what the proposed action adds after costs, timing and retained asset value.</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Illustrative results from 10 fictional assets. SGD millions unless stated. Model snapshot: 25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11</a:t>
            </a:r>
          </a:p>
        </p:txBody>
      </p:sp>
      <p:sp>
        <p:nvSpPr>
          <p:cNvPr id="9" name="Rectangle 8"/>
          <p:cNvSpPr/>
          <p:nvPr/>
        </p:nvSpPr>
        <p:spPr>
          <a:xfrm>
            <a:off x="457200" y="2249424"/>
            <a:ext cx="2084831" cy="11612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 y="2468880"/>
            <a:ext cx="1773936" cy="3474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Hold</a:t>
            </a:r>
          </a:p>
        </p:txBody>
      </p:sp>
      <p:sp>
        <p:nvSpPr>
          <p:cNvPr id="11" name="TextBox 10"/>
          <p:cNvSpPr txBox="1"/>
          <p:nvPr/>
        </p:nvSpPr>
        <p:spPr>
          <a:xfrm>
            <a:off x="621792" y="2953512"/>
            <a:ext cx="1773936" cy="274320"/>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Retain income</a:t>
            </a:r>
          </a:p>
        </p:txBody>
      </p:sp>
      <p:sp>
        <p:nvSpPr>
          <p:cNvPr id="12" name="Rectangle 11"/>
          <p:cNvSpPr/>
          <p:nvPr/>
        </p:nvSpPr>
        <p:spPr>
          <a:xfrm>
            <a:off x="2743200" y="2249424"/>
            <a:ext cx="2084831" cy="11612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07792" y="2468880"/>
            <a:ext cx="1773936" cy="3474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Retrofit</a:t>
            </a:r>
          </a:p>
        </p:txBody>
      </p:sp>
      <p:sp>
        <p:nvSpPr>
          <p:cNvPr id="14" name="TextBox 13"/>
          <p:cNvSpPr txBox="1"/>
          <p:nvPr/>
        </p:nvSpPr>
        <p:spPr>
          <a:xfrm>
            <a:off x="2907792" y="2953512"/>
            <a:ext cx="1773936" cy="274320"/>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Improve the asset</a:t>
            </a:r>
          </a:p>
        </p:txBody>
      </p:sp>
      <p:sp>
        <p:nvSpPr>
          <p:cNvPr id="15" name="Rectangle 14"/>
          <p:cNvSpPr/>
          <p:nvPr/>
        </p:nvSpPr>
        <p:spPr>
          <a:xfrm>
            <a:off x="5029200" y="2249424"/>
            <a:ext cx="2084831" cy="11612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93792" y="2468880"/>
            <a:ext cx="1773936" cy="3474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Repurpose</a:t>
            </a:r>
          </a:p>
        </p:txBody>
      </p:sp>
      <p:sp>
        <p:nvSpPr>
          <p:cNvPr id="17" name="TextBox 16"/>
          <p:cNvSpPr txBox="1"/>
          <p:nvPr/>
        </p:nvSpPr>
        <p:spPr>
          <a:xfrm>
            <a:off x="5193792" y="2953512"/>
            <a:ext cx="1773936" cy="274320"/>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Change the use</a:t>
            </a:r>
          </a:p>
        </p:txBody>
      </p:sp>
      <p:sp>
        <p:nvSpPr>
          <p:cNvPr id="18" name="Rectangle 17"/>
          <p:cNvSpPr/>
          <p:nvPr/>
        </p:nvSpPr>
        <p:spPr>
          <a:xfrm>
            <a:off x="7315200" y="2249424"/>
            <a:ext cx="2084831" cy="11612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79792" y="2468880"/>
            <a:ext cx="1773936" cy="3474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Redevelop</a:t>
            </a:r>
          </a:p>
        </p:txBody>
      </p:sp>
      <p:sp>
        <p:nvSpPr>
          <p:cNvPr id="20" name="TextBox 19"/>
          <p:cNvSpPr txBox="1"/>
          <p:nvPr/>
        </p:nvSpPr>
        <p:spPr>
          <a:xfrm>
            <a:off x="7479792" y="2953512"/>
            <a:ext cx="1773936" cy="274320"/>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Rebuild the site</a:t>
            </a:r>
          </a:p>
        </p:txBody>
      </p:sp>
      <p:sp>
        <p:nvSpPr>
          <p:cNvPr id="21" name="Rectangle 20"/>
          <p:cNvSpPr/>
          <p:nvPr/>
        </p:nvSpPr>
        <p:spPr>
          <a:xfrm>
            <a:off x="9601200" y="2249424"/>
            <a:ext cx="2084831" cy="11612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2468880"/>
            <a:ext cx="1773936" cy="3474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Sell</a:t>
            </a:r>
          </a:p>
        </p:txBody>
      </p:sp>
      <p:sp>
        <p:nvSpPr>
          <p:cNvPr id="23" name="TextBox 22"/>
          <p:cNvSpPr txBox="1"/>
          <p:nvPr/>
        </p:nvSpPr>
        <p:spPr>
          <a:xfrm>
            <a:off x="9765792" y="2953512"/>
            <a:ext cx="1773936" cy="274320"/>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Release capital</a:t>
            </a:r>
          </a:p>
        </p:txBody>
      </p:sp>
      <p:sp>
        <p:nvSpPr>
          <p:cNvPr id="24" name="Rectangle 23"/>
          <p:cNvSpPr/>
          <p:nvPr/>
        </p:nvSpPr>
        <p:spPr>
          <a:xfrm>
            <a:off x="457200" y="3886200"/>
            <a:ext cx="11274552" cy="1188720"/>
          </a:xfrm>
          <a:prstGeom prst="rect">
            <a:avLst/>
          </a:prstGeom>
          <a:solidFill>
            <a:srgbClr val="20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197096"/>
            <a:ext cx="10725912" cy="640080"/>
          </a:xfrm>
          <a:prstGeom prst="rect">
            <a:avLst/>
          </a:prstGeom>
          <a:noFill/>
          <a:effectLst/>
        </p:spPr>
        <p:txBody>
          <a:bodyPr wrap="square" lIns="0" tIns="0" rIns="0" bIns="0">
            <a:spAutoFit/>
          </a:bodyPr>
          <a:lstStyle/>
          <a:p>
            <a:pPr algn="ctr">
              <a:lnSpc>
                <a:spcPct val="108000"/>
              </a:lnSpc>
              <a:spcAft>
                <a:spcPts val="400"/>
              </a:spcAft>
              <a:defRPr sz="3000" b="0">
                <a:solidFill>
                  <a:srgbClr val="FFFFFF"/>
                </a:solidFill>
                <a:latin typeface="IBM Plex Sans Light"/>
              </a:defRPr>
            </a:pPr>
            <a:r>
              <a:rPr sz="3000" b="0">
                <a:solidFill>
                  <a:srgbClr val="FFFFFF"/>
                </a:solidFill>
                <a:latin typeface="IBM Plex Sans Light"/>
              </a:rPr>
              <a:t>Incremental value  =  Action NPV  −  Hold NPV</a:t>
            </a:r>
          </a:p>
        </p:txBody>
      </p:sp>
      <p:sp>
        <p:nvSpPr>
          <p:cNvPr id="26" name="TextBox 25"/>
          <p:cNvSpPr txBox="1"/>
          <p:nvPr/>
        </p:nvSpPr>
        <p:spPr>
          <a:xfrm>
            <a:off x="548640" y="5431536"/>
            <a:ext cx="3346704" cy="365760"/>
          </a:xfrm>
          <a:prstGeom prst="rect">
            <a:avLst/>
          </a:prstGeom>
          <a:noFill/>
          <a:effectLst/>
        </p:spPr>
        <p:txBody>
          <a:bodyPr wrap="square" lIns="0" tIns="0" rIns="0" bIns="0">
            <a:spAutoFit/>
          </a:bodyPr>
          <a:lstStyle/>
          <a:p>
            <a:pPr algn="l">
              <a:lnSpc>
                <a:spcPct val="108000"/>
              </a:lnSpc>
              <a:spcAft>
                <a:spcPts val="400"/>
              </a:spcAft>
              <a:defRPr sz="1800" b="0">
                <a:solidFill>
                  <a:srgbClr val="0F62FE"/>
                </a:solidFill>
                <a:latin typeface="IBM Plex Sans"/>
              </a:defRPr>
            </a:pPr>
            <a:r>
              <a:rPr sz="1800" b="0">
                <a:solidFill>
                  <a:srgbClr val="0F62FE"/>
                </a:solidFill>
                <a:latin typeface="IBM Plex Sans"/>
              </a:rPr>
              <a:t>Count the whole cost</a:t>
            </a:r>
          </a:p>
        </p:txBody>
      </p:sp>
      <p:sp>
        <p:nvSpPr>
          <p:cNvPr id="27" name="TextBox 26"/>
          <p:cNvSpPr txBox="1"/>
          <p:nvPr/>
        </p:nvSpPr>
        <p:spPr>
          <a:xfrm>
            <a:off x="548640" y="5879592"/>
            <a:ext cx="3346704" cy="320040"/>
          </a:xfrm>
          <a:prstGeom prst="rect">
            <a:avLst/>
          </a:prstGeom>
          <a:noFill/>
          <a:effectLst/>
        </p:spPr>
        <p:txBody>
          <a:bodyPr wrap="square" lIns="0" tIns="0" rIns="0" bIns="0">
            <a:spAutoFit/>
          </a:bodyPr>
          <a:lstStyle/>
          <a:p>
            <a:pPr algn="l">
              <a:lnSpc>
                <a:spcPct val="108000"/>
              </a:lnSpc>
              <a:spcAft>
                <a:spcPts val="400"/>
              </a:spcAft>
              <a:defRPr sz="1400" b="0">
                <a:solidFill>
                  <a:srgbClr val="5B6573"/>
                </a:solidFill>
                <a:latin typeface="IBM Plex Sans"/>
              </a:defRPr>
            </a:pPr>
            <a:r>
              <a:rPr sz="1400" b="0">
                <a:solidFill>
                  <a:srgbClr val="5B6573"/>
                </a:solidFill>
                <a:latin typeface="IBM Plex Sans"/>
              </a:rPr>
              <a:t>Capex, downtime and disposal</a:t>
            </a:r>
          </a:p>
        </p:txBody>
      </p:sp>
      <p:sp>
        <p:nvSpPr>
          <p:cNvPr id="28" name="TextBox 27"/>
          <p:cNvSpPr txBox="1"/>
          <p:nvPr/>
        </p:nvSpPr>
        <p:spPr>
          <a:xfrm>
            <a:off x="4361688" y="5431536"/>
            <a:ext cx="3346704" cy="365760"/>
          </a:xfrm>
          <a:prstGeom prst="rect">
            <a:avLst/>
          </a:prstGeom>
          <a:noFill/>
          <a:effectLst/>
        </p:spPr>
        <p:txBody>
          <a:bodyPr wrap="square" lIns="0" tIns="0" rIns="0" bIns="0">
            <a:spAutoFit/>
          </a:bodyPr>
          <a:lstStyle/>
          <a:p>
            <a:pPr algn="l">
              <a:lnSpc>
                <a:spcPct val="108000"/>
              </a:lnSpc>
              <a:spcAft>
                <a:spcPts val="400"/>
              </a:spcAft>
              <a:defRPr sz="1800" b="0">
                <a:solidFill>
                  <a:srgbClr val="0F62FE"/>
                </a:solidFill>
                <a:latin typeface="IBM Plex Sans"/>
              </a:defRPr>
            </a:pPr>
            <a:r>
              <a:rPr sz="1800" b="0">
                <a:solidFill>
                  <a:srgbClr val="0F62FE"/>
                </a:solidFill>
                <a:latin typeface="IBM Plex Sans"/>
              </a:rPr>
              <a:t>Model timing explicitly</a:t>
            </a:r>
          </a:p>
        </p:txBody>
      </p:sp>
      <p:sp>
        <p:nvSpPr>
          <p:cNvPr id="29" name="TextBox 28"/>
          <p:cNvSpPr txBox="1"/>
          <p:nvPr/>
        </p:nvSpPr>
        <p:spPr>
          <a:xfrm>
            <a:off x="4361688" y="5879592"/>
            <a:ext cx="3346704" cy="320040"/>
          </a:xfrm>
          <a:prstGeom prst="rect">
            <a:avLst/>
          </a:prstGeom>
          <a:noFill/>
          <a:effectLst/>
        </p:spPr>
        <p:txBody>
          <a:bodyPr wrap="square" lIns="0" tIns="0" rIns="0" bIns="0">
            <a:spAutoFit/>
          </a:bodyPr>
          <a:lstStyle/>
          <a:p>
            <a:pPr algn="l">
              <a:lnSpc>
                <a:spcPct val="108000"/>
              </a:lnSpc>
              <a:spcAft>
                <a:spcPts val="400"/>
              </a:spcAft>
              <a:defRPr sz="1400" b="0">
                <a:solidFill>
                  <a:srgbClr val="5B6573"/>
                </a:solidFill>
                <a:latin typeface="IBM Plex Sans"/>
              </a:defRPr>
            </a:pPr>
            <a:r>
              <a:rPr sz="1400" b="0">
                <a:solidFill>
                  <a:srgbClr val="5B6573"/>
                </a:solidFill>
                <a:latin typeface="IBM Plex Sans"/>
              </a:rPr>
              <a:t>Success, delay and failure</a:t>
            </a:r>
          </a:p>
        </p:txBody>
      </p:sp>
      <p:sp>
        <p:nvSpPr>
          <p:cNvPr id="30" name="TextBox 29"/>
          <p:cNvSpPr txBox="1"/>
          <p:nvPr/>
        </p:nvSpPr>
        <p:spPr>
          <a:xfrm>
            <a:off x="8174736" y="5431536"/>
            <a:ext cx="3346704" cy="365760"/>
          </a:xfrm>
          <a:prstGeom prst="rect">
            <a:avLst/>
          </a:prstGeom>
          <a:noFill/>
          <a:effectLst/>
        </p:spPr>
        <p:txBody>
          <a:bodyPr wrap="square" lIns="0" tIns="0" rIns="0" bIns="0">
            <a:spAutoFit/>
          </a:bodyPr>
          <a:lstStyle/>
          <a:p>
            <a:pPr algn="l">
              <a:lnSpc>
                <a:spcPct val="108000"/>
              </a:lnSpc>
              <a:spcAft>
                <a:spcPts val="400"/>
              </a:spcAft>
              <a:defRPr sz="1800" b="0">
                <a:solidFill>
                  <a:srgbClr val="0F62FE"/>
                </a:solidFill>
                <a:latin typeface="IBM Plex Sans"/>
              </a:defRPr>
            </a:pPr>
            <a:r>
              <a:rPr sz="1800" b="0">
                <a:solidFill>
                  <a:srgbClr val="0F62FE"/>
                </a:solidFill>
                <a:latin typeface="IBM Plex Sans"/>
              </a:rPr>
              <a:t>Separate debt from value</a:t>
            </a:r>
          </a:p>
        </p:txBody>
      </p:sp>
      <p:sp>
        <p:nvSpPr>
          <p:cNvPr id="31" name="TextBox 30"/>
          <p:cNvSpPr txBox="1"/>
          <p:nvPr/>
        </p:nvSpPr>
        <p:spPr>
          <a:xfrm>
            <a:off x="8174736" y="5879592"/>
            <a:ext cx="3346704" cy="320040"/>
          </a:xfrm>
          <a:prstGeom prst="rect">
            <a:avLst/>
          </a:prstGeom>
          <a:noFill/>
          <a:effectLst/>
        </p:spPr>
        <p:txBody>
          <a:bodyPr wrap="square" lIns="0" tIns="0" rIns="0" bIns="0">
            <a:spAutoFit/>
          </a:bodyPr>
          <a:lstStyle/>
          <a:p>
            <a:pPr algn="l">
              <a:lnSpc>
                <a:spcPct val="108000"/>
              </a:lnSpc>
              <a:spcAft>
                <a:spcPts val="400"/>
              </a:spcAft>
              <a:defRPr sz="1400" b="0">
                <a:solidFill>
                  <a:srgbClr val="5B6573"/>
                </a:solidFill>
                <a:latin typeface="IBM Plex Sans"/>
              </a:defRPr>
            </a:pPr>
            <a:r>
              <a:rPr sz="1400" b="0">
                <a:solidFill>
                  <a:srgbClr val="5B6573"/>
                </a:solidFill>
                <a:latin typeface="IBM Plex Sans"/>
              </a:rPr>
              <a:t>Financing is not project profit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ASSET DECISION PLOT</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The action plot makes the trade-off visible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DEMO-001: a fictional mixed-use asset. Higher expected value and lower modelled tail loss are preferred.</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Illustrative results from 10 fictional assets. SGD millions unless stated. Model snapshot: 25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12</a:t>
            </a:r>
          </a:p>
        </p:txBody>
      </p:sp>
      <p:cxnSp>
        <p:nvCxnSpPr>
          <p:cNvPr id="9" name="Connector 8"/>
          <p:cNvCxnSpPr/>
          <p:nvPr/>
        </p:nvCxnSpPr>
        <p:spPr>
          <a:xfrm>
            <a:off x="1033271" y="5038344"/>
            <a:ext cx="5897881"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8911" y="4928616"/>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-15</a:t>
            </a:r>
          </a:p>
        </p:txBody>
      </p:sp>
      <p:cxnSp>
        <p:nvCxnSpPr>
          <p:cNvPr id="11" name="Connector 10"/>
          <p:cNvCxnSpPr/>
          <p:nvPr/>
        </p:nvCxnSpPr>
        <p:spPr>
          <a:xfrm>
            <a:off x="1033271" y="4487625"/>
            <a:ext cx="5897881"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8911" y="4377897"/>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-10</a:t>
            </a:r>
          </a:p>
        </p:txBody>
      </p:sp>
      <p:cxnSp>
        <p:nvCxnSpPr>
          <p:cNvPr id="13" name="Connector 12"/>
          <p:cNvCxnSpPr/>
          <p:nvPr/>
        </p:nvCxnSpPr>
        <p:spPr>
          <a:xfrm>
            <a:off x="1033271" y="3936907"/>
            <a:ext cx="5897881"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8911" y="3827179"/>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-5</a:t>
            </a:r>
          </a:p>
        </p:txBody>
      </p:sp>
      <p:cxnSp>
        <p:nvCxnSpPr>
          <p:cNvPr id="15" name="Connector 14"/>
          <p:cNvCxnSpPr/>
          <p:nvPr/>
        </p:nvCxnSpPr>
        <p:spPr>
          <a:xfrm>
            <a:off x="1033271" y="3386189"/>
            <a:ext cx="5897881"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8911" y="3276461"/>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0</a:t>
            </a:r>
          </a:p>
        </p:txBody>
      </p:sp>
      <p:cxnSp>
        <p:nvCxnSpPr>
          <p:cNvPr id="17" name="Connector 16"/>
          <p:cNvCxnSpPr/>
          <p:nvPr/>
        </p:nvCxnSpPr>
        <p:spPr>
          <a:xfrm>
            <a:off x="1033271" y="2835471"/>
            <a:ext cx="5897881"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8911" y="2725743"/>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5</a:t>
            </a:r>
          </a:p>
        </p:txBody>
      </p:sp>
      <p:sp>
        <p:nvSpPr>
          <p:cNvPr id="19" name="TextBox 18"/>
          <p:cNvSpPr txBox="1"/>
          <p:nvPr/>
        </p:nvSpPr>
        <p:spPr>
          <a:xfrm>
            <a:off x="967505" y="5129783"/>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0</a:t>
            </a:r>
          </a:p>
        </p:txBody>
      </p:sp>
      <p:sp>
        <p:nvSpPr>
          <p:cNvPr id="20" name="TextBox 19"/>
          <p:cNvSpPr txBox="1"/>
          <p:nvPr/>
        </p:nvSpPr>
        <p:spPr>
          <a:xfrm>
            <a:off x="3235920" y="5129783"/>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10</a:t>
            </a:r>
          </a:p>
        </p:txBody>
      </p:sp>
      <p:sp>
        <p:nvSpPr>
          <p:cNvPr id="21" name="TextBox 20"/>
          <p:cNvSpPr txBox="1"/>
          <p:nvPr/>
        </p:nvSpPr>
        <p:spPr>
          <a:xfrm>
            <a:off x="5504336" y="5129783"/>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20</a:t>
            </a:r>
          </a:p>
        </p:txBody>
      </p:sp>
      <p:cxnSp>
        <p:nvCxnSpPr>
          <p:cNvPr id="22" name="Connector 21"/>
          <p:cNvCxnSpPr/>
          <p:nvPr/>
        </p:nvCxnSpPr>
        <p:spPr>
          <a:xfrm>
            <a:off x="1033271" y="5038344"/>
            <a:ext cx="5897881" cy="0"/>
          </a:xfrm>
          <a:prstGeom prst="line">
            <a:avLst/>
          </a:prstGeom>
          <a:ln w="11430">
            <a:solidFill>
              <a:srgbClr val="5B657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33271" y="2615184"/>
            <a:ext cx="0" cy="2423160"/>
          </a:xfrm>
          <a:prstGeom prst="line">
            <a:avLst/>
          </a:prstGeom>
          <a:ln w="11430">
            <a:solidFill>
              <a:srgbClr val="5B6573"/>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33271" y="2176272"/>
            <a:ext cx="5897880" cy="292608"/>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Expected incremental NPV (S$m) ↑</a:t>
            </a:r>
          </a:p>
        </p:txBody>
      </p:sp>
      <p:sp>
        <p:nvSpPr>
          <p:cNvPr id="25" name="TextBox 24"/>
          <p:cNvSpPr txBox="1"/>
          <p:nvPr/>
        </p:nvSpPr>
        <p:spPr>
          <a:xfrm>
            <a:off x="1033271" y="5404104"/>
            <a:ext cx="5897880" cy="274320"/>
          </a:xfrm>
          <a:prstGeom prst="rect">
            <a:avLst/>
          </a:prstGeom>
          <a:noFill/>
          <a:effectLst/>
        </p:spPr>
        <p:txBody>
          <a:bodyPr wrap="square" lIns="0" tIns="0" rIns="0" bIns="0">
            <a:spAutoFit/>
          </a:bodyPr>
          <a:lstStyle/>
          <a:p>
            <a:pPr algn="ctr">
              <a:lnSpc>
                <a:spcPct val="108000"/>
              </a:lnSpc>
              <a:spcAft>
                <a:spcPts val="400"/>
              </a:spcAft>
              <a:defRPr sz="1300" b="0">
                <a:solidFill>
                  <a:srgbClr val="5B6573"/>
                </a:solidFill>
                <a:latin typeface="IBM Plex Sans"/>
              </a:defRPr>
            </a:pPr>
            <a:r>
              <a:rPr sz="1300" b="0">
                <a:solidFill>
                  <a:srgbClr val="5B6573"/>
                </a:solidFill>
                <a:latin typeface="IBM Plex Sans"/>
              </a:rPr>
              <a:t>95% tail loss / CVaR (S$m) →</a:t>
            </a:r>
          </a:p>
        </p:txBody>
      </p:sp>
      <p:cxnSp>
        <p:nvCxnSpPr>
          <p:cNvPr id="26" name="Connector 25"/>
          <p:cNvCxnSpPr/>
          <p:nvPr/>
        </p:nvCxnSpPr>
        <p:spPr>
          <a:xfrm>
            <a:off x="1033271" y="3386189"/>
            <a:ext cx="5897881" cy="0"/>
          </a:xfrm>
          <a:prstGeom prst="line">
            <a:avLst/>
          </a:prstGeom>
          <a:ln w="15240">
            <a:solidFill>
              <a:srgbClr val="8E9CAB"/>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196105" y="3322181"/>
            <a:ext cx="128016" cy="128016"/>
          </a:xfrm>
          <a:prstGeom prst="ellipse">
            <a:avLst/>
          </a:prstGeom>
          <a:solidFill>
            <a:srgbClr val="0085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88129" y="3477629"/>
            <a:ext cx="1298448" cy="292608"/>
          </a:xfrm>
          <a:prstGeom prst="rect">
            <a:avLst/>
          </a:prstGeom>
          <a:noFill/>
          <a:effectLst/>
        </p:spPr>
        <p:txBody>
          <a:bodyPr wrap="square" lIns="0" tIns="0" rIns="0" bIns="0">
            <a:spAutoFit/>
          </a:bodyPr>
          <a:lstStyle/>
          <a:p>
            <a:pPr algn="l">
              <a:lnSpc>
                <a:spcPct val="108000"/>
              </a:lnSpc>
              <a:spcAft>
                <a:spcPts val="400"/>
              </a:spcAft>
              <a:defRPr sz="1300" b="0">
                <a:solidFill>
                  <a:srgbClr val="008578"/>
                </a:solidFill>
                <a:latin typeface="IBM Plex Sans"/>
              </a:defRPr>
            </a:pPr>
            <a:r>
              <a:rPr sz="1300" b="0">
                <a:solidFill>
                  <a:srgbClr val="008578"/>
                </a:solidFill>
                <a:latin typeface="IBM Plex Sans"/>
              </a:rPr>
              <a:t>Hold</a:t>
            </a:r>
          </a:p>
        </p:txBody>
      </p:sp>
      <p:sp>
        <p:nvSpPr>
          <p:cNvPr id="29" name="Oval 28"/>
          <p:cNvSpPr/>
          <p:nvPr/>
        </p:nvSpPr>
        <p:spPr>
          <a:xfrm>
            <a:off x="2330393" y="3432138"/>
            <a:ext cx="128016" cy="128016"/>
          </a:xfrm>
          <a:prstGeom prst="ellipse">
            <a:avLst/>
          </a:prstGeom>
          <a:solidFill>
            <a:srgbClr val="8E9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54321" y="3615018"/>
            <a:ext cx="1298448" cy="292608"/>
          </a:xfrm>
          <a:prstGeom prst="rect">
            <a:avLst/>
          </a:prstGeom>
          <a:noFill/>
          <a:effectLst/>
        </p:spPr>
        <p:txBody>
          <a:bodyPr wrap="square" lIns="0" tIns="0" rIns="0" bIns="0">
            <a:spAutoFit/>
          </a:bodyPr>
          <a:lstStyle/>
          <a:p>
            <a:pPr algn="l">
              <a:lnSpc>
                <a:spcPct val="108000"/>
              </a:lnSpc>
              <a:spcAft>
                <a:spcPts val="400"/>
              </a:spcAft>
              <a:defRPr sz="1300" b="0">
                <a:solidFill>
                  <a:srgbClr val="8E9CAB"/>
                </a:solidFill>
                <a:latin typeface="IBM Plex Sans"/>
              </a:defRPr>
            </a:pPr>
            <a:r>
              <a:rPr sz="1300" b="0">
                <a:solidFill>
                  <a:srgbClr val="8E9CAB"/>
                </a:solidFill>
                <a:latin typeface="IBM Plex Sans"/>
              </a:rPr>
              <a:t>Retrofit</a:t>
            </a:r>
          </a:p>
        </p:txBody>
      </p:sp>
      <p:sp>
        <p:nvSpPr>
          <p:cNvPr id="31" name="Oval 30"/>
          <p:cNvSpPr/>
          <p:nvPr/>
        </p:nvSpPr>
        <p:spPr>
          <a:xfrm>
            <a:off x="4594274" y="3824231"/>
            <a:ext cx="128016" cy="128016"/>
          </a:xfrm>
          <a:prstGeom prst="ellipse">
            <a:avLst/>
          </a:prstGeom>
          <a:solidFill>
            <a:srgbClr val="8E9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68010" y="3943103"/>
            <a:ext cx="1298448" cy="292608"/>
          </a:xfrm>
          <a:prstGeom prst="rect">
            <a:avLst/>
          </a:prstGeom>
          <a:noFill/>
          <a:effectLst/>
        </p:spPr>
        <p:txBody>
          <a:bodyPr wrap="square" lIns="0" tIns="0" rIns="0" bIns="0">
            <a:spAutoFit/>
          </a:bodyPr>
          <a:lstStyle/>
          <a:p>
            <a:pPr algn="l">
              <a:lnSpc>
                <a:spcPct val="108000"/>
              </a:lnSpc>
              <a:spcAft>
                <a:spcPts val="400"/>
              </a:spcAft>
              <a:defRPr sz="1300" b="0">
                <a:solidFill>
                  <a:srgbClr val="8E9CAB"/>
                </a:solidFill>
                <a:latin typeface="IBM Plex Sans"/>
              </a:defRPr>
            </a:pPr>
            <a:r>
              <a:rPr sz="1300" b="0">
                <a:solidFill>
                  <a:srgbClr val="8E9CAB"/>
                </a:solidFill>
                <a:latin typeface="IBM Plex Sans"/>
              </a:rPr>
              <a:t>Repurpose</a:t>
            </a:r>
          </a:p>
        </p:txBody>
      </p:sp>
      <p:sp>
        <p:nvSpPr>
          <p:cNvPr id="33" name="Oval 32"/>
          <p:cNvSpPr/>
          <p:nvPr/>
        </p:nvSpPr>
        <p:spPr>
          <a:xfrm>
            <a:off x="6172613" y="4574980"/>
            <a:ext cx="128016" cy="128016"/>
          </a:xfrm>
          <a:prstGeom prst="ellipse">
            <a:avLst/>
          </a:prstGeom>
          <a:solidFill>
            <a:srgbClr val="8E9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10741" y="4364668"/>
            <a:ext cx="1298448" cy="292608"/>
          </a:xfrm>
          <a:prstGeom prst="rect">
            <a:avLst/>
          </a:prstGeom>
          <a:noFill/>
          <a:effectLst/>
        </p:spPr>
        <p:txBody>
          <a:bodyPr wrap="square" lIns="0" tIns="0" rIns="0" bIns="0">
            <a:spAutoFit/>
          </a:bodyPr>
          <a:lstStyle/>
          <a:p>
            <a:pPr algn="l">
              <a:lnSpc>
                <a:spcPct val="108000"/>
              </a:lnSpc>
              <a:spcAft>
                <a:spcPts val="400"/>
              </a:spcAft>
              <a:defRPr sz="1300" b="0">
                <a:solidFill>
                  <a:srgbClr val="8E9CAB"/>
                </a:solidFill>
                <a:latin typeface="IBM Plex Sans"/>
              </a:defRPr>
            </a:pPr>
            <a:r>
              <a:rPr sz="1300" b="0">
                <a:solidFill>
                  <a:srgbClr val="8E9CAB"/>
                </a:solidFill>
                <a:latin typeface="IBM Plex Sans"/>
              </a:rPr>
              <a:t>Redevelop</a:t>
            </a:r>
          </a:p>
        </p:txBody>
      </p:sp>
      <p:sp>
        <p:nvSpPr>
          <p:cNvPr id="35" name="Oval 34"/>
          <p:cNvSpPr/>
          <p:nvPr/>
        </p:nvSpPr>
        <p:spPr>
          <a:xfrm>
            <a:off x="2831784" y="2908452"/>
            <a:ext cx="128016" cy="128016"/>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014664" y="2652420"/>
            <a:ext cx="1298448" cy="292608"/>
          </a:xfrm>
          <a:prstGeom prst="rect">
            <a:avLst/>
          </a:prstGeom>
          <a:noFill/>
          <a:effectLst/>
        </p:spPr>
        <p:txBody>
          <a:bodyPr wrap="square" lIns="0" tIns="0" rIns="0" bIns="0">
            <a:spAutoFit/>
          </a:bodyPr>
          <a:lstStyle/>
          <a:p>
            <a:pPr algn="l">
              <a:lnSpc>
                <a:spcPct val="108000"/>
              </a:lnSpc>
              <a:spcAft>
                <a:spcPts val="400"/>
              </a:spcAft>
              <a:defRPr sz="1300" b="0">
                <a:solidFill>
                  <a:srgbClr val="0F62FE"/>
                </a:solidFill>
                <a:latin typeface="IBM Plex Sans"/>
              </a:defRPr>
            </a:pPr>
            <a:r>
              <a:rPr sz="1300" b="0">
                <a:solidFill>
                  <a:srgbClr val="0F62FE"/>
                </a:solidFill>
                <a:latin typeface="IBM Plex Sans"/>
              </a:rPr>
              <a:t>Sell</a:t>
            </a:r>
          </a:p>
        </p:txBody>
      </p:sp>
      <p:sp>
        <p:nvSpPr>
          <p:cNvPr id="37" name="Rectangle 36"/>
          <p:cNvSpPr/>
          <p:nvPr/>
        </p:nvSpPr>
        <p:spPr>
          <a:xfrm>
            <a:off x="7626096" y="2221992"/>
            <a:ext cx="4096512" cy="3383280"/>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54696" y="2450592"/>
            <a:ext cx="3611880" cy="640080"/>
          </a:xfrm>
          <a:prstGeom prst="rect">
            <a:avLst/>
          </a:prstGeom>
          <a:noFill/>
          <a:effectLst/>
        </p:spPr>
        <p:txBody>
          <a:bodyPr wrap="square" lIns="0" tIns="0" rIns="0" bIns="0">
            <a:spAutoFit/>
          </a:bodyPr>
          <a:lstStyle/>
          <a:p>
            <a:pPr algn="l">
              <a:lnSpc>
                <a:spcPct val="108000"/>
              </a:lnSpc>
              <a:spcAft>
                <a:spcPts val="400"/>
              </a:spcAft>
              <a:defRPr sz="3600" b="0">
                <a:solidFill>
                  <a:srgbClr val="0F62FE"/>
                </a:solidFill>
                <a:latin typeface="IBM Plex Sans Light"/>
              </a:defRPr>
            </a:pPr>
            <a:r>
              <a:rPr sz="3600" b="0">
                <a:solidFill>
                  <a:srgbClr val="0F62FE"/>
                </a:solidFill>
                <a:latin typeface="IBM Plex Sans Light"/>
              </a:rPr>
              <a:t>+S$3.76m</a:t>
            </a:r>
          </a:p>
        </p:txBody>
      </p:sp>
      <p:sp>
        <p:nvSpPr>
          <p:cNvPr id="39" name="TextBox 38"/>
          <p:cNvSpPr txBox="1"/>
          <p:nvPr/>
        </p:nvSpPr>
        <p:spPr>
          <a:xfrm>
            <a:off x="7854696" y="3209544"/>
            <a:ext cx="3611880" cy="50292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Sell: expected gain vs Hold</a:t>
            </a:r>
          </a:p>
        </p:txBody>
      </p:sp>
      <p:sp>
        <p:nvSpPr>
          <p:cNvPr id="40" name="TextBox 39"/>
          <p:cNvSpPr txBox="1"/>
          <p:nvPr/>
        </p:nvSpPr>
        <p:spPr>
          <a:xfrm>
            <a:off x="7854696" y="3730752"/>
            <a:ext cx="3611880" cy="502920"/>
          </a:xfrm>
          <a:prstGeom prst="rect">
            <a:avLst/>
          </a:prstGeom>
          <a:noFill/>
          <a:effectLst/>
        </p:spPr>
        <p:txBody>
          <a:bodyPr wrap="square" lIns="0" tIns="0" rIns="0" bIns="0">
            <a:spAutoFit/>
          </a:bodyPr>
          <a:lstStyle/>
          <a:p>
            <a:pPr algn="l">
              <a:lnSpc>
                <a:spcPct val="108000"/>
              </a:lnSpc>
              <a:spcAft>
                <a:spcPts val="400"/>
              </a:spcAft>
              <a:defRPr sz="1200" b="0">
                <a:solidFill>
                  <a:srgbClr val="5B6573"/>
                </a:solidFill>
                <a:latin typeface="IBM Plex Sans"/>
              </a:defRPr>
            </a:pPr>
            <a:r>
              <a:rPr sz="1200" b="0">
                <a:solidFill>
                  <a:srgbClr val="5B6573"/>
                </a:solidFill>
                <a:latin typeface="IBM Plex Sans"/>
              </a:rPr>
              <a:t>S$7.21m modelled 95% tail loss</a:t>
            </a:r>
          </a:p>
        </p:txBody>
      </p:sp>
      <p:sp>
        <p:nvSpPr>
          <p:cNvPr id="41" name="TextBox 40"/>
          <p:cNvSpPr txBox="1"/>
          <p:nvPr/>
        </p:nvSpPr>
        <p:spPr>
          <a:xfrm>
            <a:off x="7854696" y="4517136"/>
            <a:ext cx="3602736" cy="768096"/>
          </a:xfrm>
          <a:prstGeom prst="rect">
            <a:avLst/>
          </a:prstGeom>
          <a:noFill/>
          <a:effectLst/>
        </p:spPr>
        <p:txBody>
          <a:bodyPr wrap="square" lIns="0" tIns="0" rIns="0" bIns="0">
            <a:spAutoFit/>
          </a:bodyPr>
          <a:lstStyle/>
          <a:p>
            <a:pPr algn="l">
              <a:lnSpc>
                <a:spcPct val="108000"/>
              </a:lnSpc>
              <a:spcAft>
                <a:spcPts val="400"/>
              </a:spcAft>
              <a:defRPr sz="2000" b="0">
                <a:solidFill>
                  <a:srgbClr val="202A38"/>
                </a:solidFill>
                <a:latin typeface="IBM Plex Sans Light"/>
              </a:defRPr>
            </a:pPr>
            <a:r>
              <a:rPr sz="2000" b="0">
                <a:solidFill>
                  <a:srgbClr val="202A38"/>
                </a:solidFill>
                <a:latin typeface="IBM Plex Sans Light"/>
              </a:rPr>
              <a:t>A screening candidate,</a:t>
            </a:r>
          </a:p>
          <a:p>
            <a:pPr algn="l">
              <a:lnSpc>
                <a:spcPct val="108000"/>
              </a:lnSpc>
              <a:spcAft>
                <a:spcPts val="400"/>
              </a:spcAft>
              <a:defRPr sz="2000" b="0">
                <a:solidFill>
                  <a:srgbClr val="202A38"/>
                </a:solidFill>
                <a:latin typeface="IBM Plex Sans Light"/>
              </a:defRPr>
            </a:pPr>
            <a:r>
              <a:rPr sz="2000" b="0">
                <a:solidFill>
                  <a:srgbClr val="202A38"/>
                </a:solidFill>
                <a:latin typeface="IBM Plex Sans Light"/>
              </a:rPr>
              <a:t>subject to verified inputs.</a:t>
            </a:r>
          </a:p>
        </p:txBody>
      </p:sp>
      <p:sp>
        <p:nvSpPr>
          <p:cNvPr id="42" name="TextBox 41"/>
          <p:cNvSpPr txBox="1"/>
          <p:nvPr/>
        </p:nvSpPr>
        <p:spPr>
          <a:xfrm>
            <a:off x="7854696" y="5376672"/>
            <a:ext cx="3602736" cy="201168"/>
          </a:xfrm>
          <a:prstGeom prst="rect">
            <a:avLst/>
          </a:prstGeom>
          <a:noFill/>
          <a:effectLst/>
        </p:spPr>
        <p:txBody>
          <a:bodyPr wrap="square" lIns="0" tIns="0" rIns="0" bIns="0">
            <a:spAutoFit/>
          </a:bodyPr>
          <a:lstStyle/>
          <a:p>
            <a:pPr algn="l">
              <a:lnSpc>
                <a:spcPct val="108000"/>
              </a:lnSpc>
              <a:spcAft>
                <a:spcPts val="400"/>
              </a:spcAft>
              <a:defRPr sz="1000" b="0">
                <a:solidFill>
                  <a:srgbClr val="5B6573"/>
                </a:solidFill>
                <a:latin typeface="IBM Plex Sans"/>
              </a:defRPr>
            </a:pPr>
            <a:r>
              <a:rPr sz="1000" b="0">
                <a:solidFill>
                  <a:srgbClr val="5B6573"/>
                </a:solidFill>
                <a:latin typeface="IBM Plex Sans"/>
              </a:rPr>
              <a:t>Hold is the relative baseline, not risk-free.</a:t>
            </a:r>
          </a:p>
        </p:txBody>
      </p:sp>
      <p:sp>
        <p:nvSpPr>
          <p:cNvPr id="43" name="Rectangle 42"/>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The plot exposes the trade-off; the evidence gate decides whether it is actionable.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03  /  DEVELOPMENT DECISION</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More floor area does not guarantee more value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Monthly development cash flows include full rebuild costs and the existing asset; distinct from annual screening.</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Illustrative results from 10 fictional assets. SGD millions unless stated. Model snapshot: 25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13</a:t>
            </a:r>
          </a:p>
        </p:txBody>
      </p:sp>
      <p:sp>
        <p:nvSpPr>
          <p:cNvPr id="9" name="TextBox 8"/>
          <p:cNvSpPr txBox="1"/>
          <p:nvPr/>
        </p:nvSpPr>
        <p:spPr>
          <a:xfrm>
            <a:off x="502920" y="2121408"/>
            <a:ext cx="6675120" cy="32004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DEMO-001: monthly investment NPV (S$m)</a:t>
            </a:r>
          </a:p>
        </p:txBody>
      </p:sp>
      <p:graphicFrame>
        <p:nvGraphicFramePr>
          <p:cNvPr id="10" name="Chart 9"/>
          <p:cNvGraphicFramePr>
            <a:graphicFrameLocks noGrp="1"/>
          </p:cNvGraphicFramePr>
          <p:nvPr/>
        </p:nvGraphicFramePr>
        <p:xfrm>
          <a:off x="438912" y="2587752"/>
          <a:ext cx="70408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7927848" y="2267712"/>
            <a:ext cx="3794760" cy="326440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47304" y="2542032"/>
            <a:ext cx="3374136" cy="640080"/>
          </a:xfrm>
          <a:prstGeom prst="rect">
            <a:avLst/>
          </a:prstGeom>
          <a:noFill/>
          <a:effectLst/>
        </p:spPr>
        <p:txBody>
          <a:bodyPr wrap="square" lIns="0" tIns="0" rIns="0" bIns="0">
            <a:spAutoFit/>
          </a:bodyPr>
          <a:lstStyle/>
          <a:p>
            <a:pPr algn="l">
              <a:lnSpc>
                <a:spcPct val="108000"/>
              </a:lnSpc>
              <a:spcAft>
                <a:spcPts val="400"/>
              </a:spcAft>
              <a:defRPr sz="3600" b="0">
                <a:solidFill>
                  <a:srgbClr val="C63D45"/>
                </a:solidFill>
                <a:latin typeface="IBM Plex Sans Light"/>
              </a:defRPr>
            </a:pPr>
            <a:r>
              <a:rPr sz="3600" b="0">
                <a:solidFill>
                  <a:srgbClr val="C63D45"/>
                </a:solidFill>
                <a:latin typeface="IBM Plex Sans Light"/>
              </a:rPr>
              <a:t>−S$37.02m</a:t>
            </a:r>
          </a:p>
        </p:txBody>
      </p:sp>
      <p:sp>
        <p:nvSpPr>
          <p:cNvPr id="13" name="TextBox 12"/>
          <p:cNvSpPr txBox="1"/>
          <p:nvPr/>
        </p:nvSpPr>
        <p:spPr>
          <a:xfrm>
            <a:off x="8147304" y="3300984"/>
            <a:ext cx="3374136" cy="50292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Incremental redevelopment NPV</a:t>
            </a:r>
          </a:p>
        </p:txBody>
      </p:sp>
      <p:sp>
        <p:nvSpPr>
          <p:cNvPr id="14" name="Rectangle 13"/>
          <p:cNvSpPr/>
          <p:nvPr/>
        </p:nvSpPr>
        <p:spPr>
          <a:xfrm>
            <a:off x="8147304" y="4306824"/>
            <a:ext cx="3355848" cy="274320"/>
          </a:xfrm>
          <a:prstGeom prst="rect">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38744" y="4357116"/>
            <a:ext cx="3172968" cy="192024"/>
          </a:xfrm>
          <a:prstGeom prst="rect">
            <a:avLst/>
          </a:prstGeom>
          <a:noFill/>
          <a:effectLst/>
        </p:spPr>
        <p:txBody>
          <a:bodyPr wrap="square" lIns="0" tIns="0" rIns="0" bIns="0">
            <a:spAutoFit/>
          </a:bodyPr>
          <a:lstStyle/>
          <a:p>
            <a:pPr algn="l">
              <a:lnSpc>
                <a:spcPct val="108000"/>
              </a:lnSpc>
              <a:spcAft>
                <a:spcPts val="400"/>
              </a:spcAft>
              <a:defRPr sz="1050" b="0">
                <a:solidFill>
                  <a:srgbClr val="995910"/>
                </a:solidFill>
                <a:latin typeface="IBM Plex Sans"/>
              </a:defRPr>
            </a:pPr>
            <a:r>
              <a:rPr sz="1050" b="0">
                <a:solidFill>
                  <a:srgbClr val="995910"/>
                </a:solidFill>
                <a:latin typeface="IBM Plex Sans"/>
              </a:rPr>
              <a:t>ASSESSED LBC STILL REQUIRED</a:t>
            </a:r>
          </a:p>
        </p:txBody>
      </p:sp>
      <p:sp>
        <p:nvSpPr>
          <p:cNvPr id="16" name="TextBox 15"/>
          <p:cNvSpPr txBox="1"/>
          <p:nvPr/>
        </p:nvSpPr>
        <p:spPr>
          <a:xfrm>
            <a:off x="8147304" y="4745736"/>
            <a:ext cx="3374136" cy="713232"/>
          </a:xfrm>
          <a:prstGeom prst="rect">
            <a:avLst/>
          </a:prstGeom>
          <a:noFill/>
          <a:effectLst/>
        </p:spPr>
        <p:txBody>
          <a:bodyPr wrap="square" lIns="0" tIns="0" rIns="0" bIns="0">
            <a:spAutoFit/>
          </a:bodyPr>
          <a:lstStyle/>
          <a:p>
            <a:pPr algn="l">
              <a:lnSpc>
                <a:spcPct val="108000"/>
              </a:lnSpc>
              <a:spcAft>
                <a:spcPts val="400"/>
              </a:spcAft>
              <a:defRPr sz="1800" b="0">
                <a:solidFill>
                  <a:srgbClr val="202A38"/>
                </a:solidFill>
                <a:latin typeface="IBM Plex Sans"/>
              </a:defRPr>
            </a:pPr>
            <a:r>
              <a:rPr sz="1800" b="0">
                <a:solidFill>
                  <a:srgbClr val="202A38"/>
                </a:solidFill>
                <a:latin typeface="IBM Plex Sans"/>
              </a:rPr>
              <a:t>The candidate remains</a:t>
            </a:r>
          </a:p>
          <a:p>
            <a:pPr algn="l">
              <a:lnSpc>
                <a:spcPct val="108000"/>
              </a:lnSpc>
              <a:spcAft>
                <a:spcPts val="400"/>
              </a:spcAft>
              <a:defRPr sz="1800" b="0">
                <a:solidFill>
                  <a:srgbClr val="202A38"/>
                </a:solidFill>
                <a:latin typeface="IBM Plex Sans"/>
              </a:defRPr>
            </a:pPr>
            <a:r>
              <a:rPr sz="1800" b="0">
                <a:solidFill>
                  <a:srgbClr val="202A38"/>
                </a:solidFill>
                <a:latin typeface="IBM Plex Sans"/>
              </a:rPr>
              <a:t>not decision-ready.</a:t>
            </a:r>
          </a:p>
        </p:txBody>
      </p:sp>
      <p:sp>
        <p:nvSpPr>
          <p:cNvPr id="17" name="Rectangle 16"/>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Use planning capacity to screen an option; use full cash flows to judge the investment.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04  /  PORTFOLIO DECISION</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The best portfolio is not the sum of the top asset ideas</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The income-retention mandate changes which independently attractive sales can be implemented together.</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Illustrative results from 10 fictional assets. SGD millions unless stated. Model snapshot: 25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14</a:t>
            </a:r>
          </a:p>
        </p:txBody>
      </p:sp>
      <p:sp>
        <p:nvSpPr>
          <p:cNvPr id="9" name="TextBox 8"/>
          <p:cNvSpPr txBox="1"/>
          <p:nvPr/>
        </p:nvSpPr>
        <p:spPr>
          <a:xfrm>
            <a:off x="521207" y="2130552"/>
            <a:ext cx="7132320" cy="32004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Illustrative asset counts</a:t>
            </a:r>
          </a:p>
        </p:txBody>
      </p:sp>
      <p:graphicFrame>
        <p:nvGraphicFramePr>
          <p:cNvPr id="10" name="Chart 9"/>
          <p:cNvGraphicFramePr>
            <a:graphicFrameLocks noGrp="1"/>
          </p:cNvGraphicFramePr>
          <p:nvPr/>
        </p:nvGraphicFramePr>
        <p:xfrm>
          <a:off x="484632" y="2587752"/>
          <a:ext cx="6784848" cy="2212848"/>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7863840" y="2295144"/>
            <a:ext cx="3858768" cy="248716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92440" y="2523744"/>
            <a:ext cx="3401568" cy="320040"/>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BASELINE MANDATE</a:t>
            </a:r>
          </a:p>
        </p:txBody>
      </p:sp>
      <p:sp>
        <p:nvSpPr>
          <p:cNvPr id="13" name="TextBox 12"/>
          <p:cNvSpPr txBox="1"/>
          <p:nvPr/>
        </p:nvSpPr>
        <p:spPr>
          <a:xfrm>
            <a:off x="8092440" y="3008376"/>
            <a:ext cx="3401568" cy="1481328"/>
          </a:xfrm>
          <a:prstGeom prst="rect">
            <a:avLst/>
          </a:prstGeom>
          <a:noFill/>
          <a:effectLst/>
        </p:spPr>
        <p:txBody>
          <a:bodyPr wrap="square" lIns="0" tIns="0" rIns="0" bIns="0">
            <a:spAutoFit/>
          </a:bodyPr>
          <a:lstStyle/>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Retain at least</a:t>
            </a:r>
          </a:p>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70% of baseline</a:t>
            </a:r>
          </a:p>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operating income.</a:t>
            </a:r>
          </a:p>
        </p:txBody>
      </p:sp>
      <p:sp>
        <p:nvSpPr>
          <p:cNvPr id="14" name="TextBox 13"/>
          <p:cNvSpPr txBox="1"/>
          <p:nvPr/>
        </p:nvSpPr>
        <p:spPr>
          <a:xfrm>
            <a:off x="603504" y="5120640"/>
            <a:ext cx="3410712" cy="539496"/>
          </a:xfrm>
          <a:prstGeom prst="rect">
            <a:avLst/>
          </a:prstGeom>
          <a:noFill/>
          <a:effectLst/>
        </p:spPr>
        <p:txBody>
          <a:bodyPr wrap="square" lIns="0" tIns="0" rIns="0" bIns="0">
            <a:spAutoFit/>
          </a:bodyPr>
          <a:lstStyle/>
          <a:p>
            <a:pPr algn="l">
              <a:lnSpc>
                <a:spcPct val="108000"/>
              </a:lnSpc>
              <a:spcAft>
                <a:spcPts val="400"/>
              </a:spcAft>
              <a:defRPr sz="3000" b="0">
                <a:solidFill>
                  <a:srgbClr val="0F62FE"/>
                </a:solidFill>
                <a:latin typeface="IBM Plex Sans Light"/>
              </a:defRPr>
            </a:pPr>
            <a:r>
              <a:rPr sz="3000" b="0">
                <a:solidFill>
                  <a:srgbClr val="0F62FE"/>
                </a:solidFill>
                <a:latin typeface="IBM Plex Sans Light"/>
              </a:rPr>
              <a:t>S$167.70m</a:t>
            </a:r>
          </a:p>
        </p:txBody>
      </p:sp>
      <p:sp>
        <p:nvSpPr>
          <p:cNvPr id="15" name="TextBox 14"/>
          <p:cNvSpPr txBox="1"/>
          <p:nvPr/>
        </p:nvSpPr>
        <p:spPr>
          <a:xfrm>
            <a:off x="603504" y="5769864"/>
            <a:ext cx="3410712" cy="356616"/>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Sale receipts</a:t>
            </a:r>
          </a:p>
        </p:txBody>
      </p:sp>
      <p:sp>
        <p:nvSpPr>
          <p:cNvPr id="16" name="TextBox 15"/>
          <p:cNvSpPr txBox="1"/>
          <p:nvPr/>
        </p:nvSpPr>
        <p:spPr>
          <a:xfrm>
            <a:off x="4407408" y="5120640"/>
            <a:ext cx="3410712" cy="539496"/>
          </a:xfrm>
          <a:prstGeom prst="rect">
            <a:avLst/>
          </a:prstGeom>
          <a:noFill/>
          <a:effectLst/>
        </p:spPr>
        <p:txBody>
          <a:bodyPr wrap="square" lIns="0" tIns="0" rIns="0" bIns="0">
            <a:spAutoFit/>
          </a:bodyPr>
          <a:lstStyle/>
          <a:p>
            <a:pPr algn="l">
              <a:lnSpc>
                <a:spcPct val="108000"/>
              </a:lnSpc>
              <a:spcAft>
                <a:spcPts val="400"/>
              </a:spcAft>
              <a:defRPr sz="3000" b="0">
                <a:solidFill>
                  <a:srgbClr val="0F62FE"/>
                </a:solidFill>
                <a:latin typeface="IBM Plex Sans Light"/>
              </a:defRPr>
            </a:pPr>
            <a:r>
              <a:rPr sz="3000" b="0">
                <a:solidFill>
                  <a:srgbClr val="0F62FE"/>
                </a:solidFill>
                <a:latin typeface="IBM Plex Sans Light"/>
              </a:rPr>
              <a:t>S$9.95m</a:t>
            </a:r>
          </a:p>
        </p:txBody>
      </p:sp>
      <p:sp>
        <p:nvSpPr>
          <p:cNvPr id="17" name="TextBox 16"/>
          <p:cNvSpPr txBox="1"/>
          <p:nvPr/>
        </p:nvSpPr>
        <p:spPr>
          <a:xfrm>
            <a:off x="4407408" y="5769864"/>
            <a:ext cx="3410712" cy="356616"/>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Expected incremental NPV</a:t>
            </a:r>
          </a:p>
        </p:txBody>
      </p:sp>
      <p:sp>
        <p:nvSpPr>
          <p:cNvPr id="18" name="TextBox 17"/>
          <p:cNvSpPr txBox="1"/>
          <p:nvPr/>
        </p:nvSpPr>
        <p:spPr>
          <a:xfrm>
            <a:off x="8211312" y="5120640"/>
            <a:ext cx="3410712" cy="539496"/>
          </a:xfrm>
          <a:prstGeom prst="rect">
            <a:avLst/>
          </a:prstGeom>
          <a:noFill/>
          <a:effectLst/>
        </p:spPr>
        <p:txBody>
          <a:bodyPr wrap="square" lIns="0" tIns="0" rIns="0" bIns="0">
            <a:spAutoFit/>
          </a:bodyPr>
          <a:lstStyle/>
          <a:p>
            <a:pPr algn="l">
              <a:lnSpc>
                <a:spcPct val="108000"/>
              </a:lnSpc>
              <a:spcAft>
                <a:spcPts val="400"/>
              </a:spcAft>
              <a:defRPr sz="3000" b="0">
                <a:solidFill>
                  <a:srgbClr val="0F62FE"/>
                </a:solidFill>
                <a:latin typeface="IBM Plex Sans Light"/>
              </a:defRPr>
            </a:pPr>
            <a:r>
              <a:rPr sz="3000" b="0">
                <a:solidFill>
                  <a:srgbClr val="0F62FE"/>
                </a:solidFill>
                <a:latin typeface="IBM Plex Sans Light"/>
              </a:rPr>
              <a:t>70.1%</a:t>
            </a:r>
          </a:p>
        </p:txBody>
      </p:sp>
      <p:sp>
        <p:nvSpPr>
          <p:cNvPr id="19" name="TextBox 18"/>
          <p:cNvSpPr txBox="1"/>
          <p:nvPr/>
        </p:nvSpPr>
        <p:spPr>
          <a:xfrm>
            <a:off x="8211312" y="5769864"/>
            <a:ext cx="3410712" cy="356616"/>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Baseline income retained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04  /  PORTFOLIO DECISION PLOT</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Your income mandate changes the capital plan</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Re-optimise the same fictional portfolio while changing only the minimum retained-income requirement.</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Source: six audited model reruns; common inputs and scenario grid. All outcomes are illustrative.</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15</a:t>
            </a:r>
          </a:p>
        </p:txBody>
      </p:sp>
      <p:cxnSp>
        <p:nvCxnSpPr>
          <p:cNvPr id="9" name="Connector 8"/>
          <p:cNvCxnSpPr/>
          <p:nvPr/>
        </p:nvCxnSpPr>
        <p:spPr>
          <a:xfrm>
            <a:off x="1014984" y="5029200"/>
            <a:ext cx="6309360"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0624" y="4919472"/>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0</a:t>
            </a:r>
          </a:p>
        </p:txBody>
      </p:sp>
      <p:cxnSp>
        <p:nvCxnSpPr>
          <p:cNvPr id="11" name="Connector 10"/>
          <p:cNvCxnSpPr/>
          <p:nvPr/>
        </p:nvCxnSpPr>
        <p:spPr>
          <a:xfrm>
            <a:off x="1014984" y="4344706"/>
            <a:ext cx="6309360"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0624" y="4234978"/>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100</a:t>
            </a:r>
          </a:p>
        </p:txBody>
      </p:sp>
      <p:cxnSp>
        <p:nvCxnSpPr>
          <p:cNvPr id="13" name="Connector 12"/>
          <p:cNvCxnSpPr/>
          <p:nvPr/>
        </p:nvCxnSpPr>
        <p:spPr>
          <a:xfrm>
            <a:off x="1014984" y="3660212"/>
            <a:ext cx="6309360"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0624" y="3550484"/>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200</a:t>
            </a:r>
          </a:p>
        </p:txBody>
      </p:sp>
      <p:cxnSp>
        <p:nvCxnSpPr>
          <p:cNvPr id="15" name="Connector 14"/>
          <p:cNvCxnSpPr/>
          <p:nvPr/>
        </p:nvCxnSpPr>
        <p:spPr>
          <a:xfrm>
            <a:off x="1014984" y="2975718"/>
            <a:ext cx="6309360" cy="0"/>
          </a:xfrm>
          <a:prstGeom prst="line">
            <a:avLst/>
          </a:prstGeom>
          <a:ln w="825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0624" y="2865990"/>
            <a:ext cx="457200" cy="228600"/>
          </a:xfrm>
          <a:prstGeom prst="rect">
            <a:avLst/>
          </a:prstGeom>
          <a:noFill/>
          <a:effectLst/>
        </p:spPr>
        <p:txBody>
          <a:bodyPr wrap="square" lIns="0" tIns="0" rIns="0" bIns="0">
            <a:spAutoFit/>
          </a:bodyPr>
          <a:lstStyle/>
          <a:p>
            <a:pPr algn="r">
              <a:lnSpc>
                <a:spcPct val="108000"/>
              </a:lnSpc>
              <a:spcAft>
                <a:spcPts val="400"/>
              </a:spcAft>
              <a:defRPr sz="1100" b="0">
                <a:solidFill>
                  <a:srgbClr val="5B6573"/>
                </a:solidFill>
                <a:latin typeface="IBM Plex Sans"/>
              </a:defRPr>
            </a:pPr>
            <a:r>
              <a:rPr sz="1100" b="0">
                <a:solidFill>
                  <a:srgbClr val="5B6573"/>
                </a:solidFill>
                <a:latin typeface="IBM Plex Sans"/>
              </a:rPr>
              <a:t>300</a:t>
            </a:r>
          </a:p>
        </p:txBody>
      </p:sp>
      <p:sp>
        <p:nvSpPr>
          <p:cNvPr id="17" name="TextBox 16"/>
          <p:cNvSpPr txBox="1"/>
          <p:nvPr/>
        </p:nvSpPr>
        <p:spPr>
          <a:xfrm>
            <a:off x="1248156" y="5120640"/>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50</a:t>
            </a:r>
          </a:p>
        </p:txBody>
      </p:sp>
      <p:sp>
        <p:nvSpPr>
          <p:cNvPr id="18" name="TextBox 17"/>
          <p:cNvSpPr txBox="1"/>
          <p:nvPr/>
        </p:nvSpPr>
        <p:spPr>
          <a:xfrm>
            <a:off x="2299716" y="5120640"/>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60</a:t>
            </a:r>
          </a:p>
        </p:txBody>
      </p:sp>
      <p:sp>
        <p:nvSpPr>
          <p:cNvPr id="19" name="TextBox 18"/>
          <p:cNvSpPr txBox="1"/>
          <p:nvPr/>
        </p:nvSpPr>
        <p:spPr>
          <a:xfrm>
            <a:off x="3351276" y="5120640"/>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70</a:t>
            </a:r>
          </a:p>
        </p:txBody>
      </p:sp>
      <p:sp>
        <p:nvSpPr>
          <p:cNvPr id="20" name="TextBox 19"/>
          <p:cNvSpPr txBox="1"/>
          <p:nvPr/>
        </p:nvSpPr>
        <p:spPr>
          <a:xfrm>
            <a:off x="4402836" y="5120640"/>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80</a:t>
            </a:r>
          </a:p>
        </p:txBody>
      </p:sp>
      <p:sp>
        <p:nvSpPr>
          <p:cNvPr id="21" name="TextBox 20"/>
          <p:cNvSpPr txBox="1"/>
          <p:nvPr/>
        </p:nvSpPr>
        <p:spPr>
          <a:xfrm>
            <a:off x="5454396" y="5120640"/>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90</a:t>
            </a:r>
          </a:p>
        </p:txBody>
      </p:sp>
      <p:sp>
        <p:nvSpPr>
          <p:cNvPr id="22" name="TextBox 21"/>
          <p:cNvSpPr txBox="1"/>
          <p:nvPr/>
        </p:nvSpPr>
        <p:spPr>
          <a:xfrm>
            <a:off x="6505956" y="5120640"/>
            <a:ext cx="594360" cy="274320"/>
          </a:xfrm>
          <a:prstGeom prst="rect">
            <a:avLst/>
          </a:prstGeom>
          <a:noFill/>
          <a:effectLst/>
        </p:spPr>
        <p:txBody>
          <a:bodyPr wrap="square" lIns="0" tIns="0" rIns="0" bIns="0">
            <a:spAutoFit/>
          </a:bodyPr>
          <a:lstStyle/>
          <a:p>
            <a:pPr algn="ctr">
              <a:lnSpc>
                <a:spcPct val="108000"/>
              </a:lnSpc>
              <a:spcAft>
                <a:spcPts val="400"/>
              </a:spcAft>
              <a:defRPr sz="1100" b="0">
                <a:solidFill>
                  <a:srgbClr val="5B6573"/>
                </a:solidFill>
                <a:latin typeface="IBM Plex Sans"/>
              </a:defRPr>
            </a:pPr>
            <a:r>
              <a:rPr sz="1100" b="0">
                <a:solidFill>
                  <a:srgbClr val="5B6573"/>
                </a:solidFill>
                <a:latin typeface="IBM Plex Sans"/>
              </a:rPr>
              <a:t>100</a:t>
            </a:r>
          </a:p>
        </p:txBody>
      </p:sp>
      <p:cxnSp>
        <p:nvCxnSpPr>
          <p:cNvPr id="23" name="Connector 22"/>
          <p:cNvCxnSpPr/>
          <p:nvPr/>
        </p:nvCxnSpPr>
        <p:spPr>
          <a:xfrm>
            <a:off x="1014984" y="5029200"/>
            <a:ext cx="6309360" cy="0"/>
          </a:xfrm>
          <a:prstGeom prst="line">
            <a:avLst/>
          </a:prstGeom>
          <a:ln w="11430">
            <a:solidFill>
              <a:srgbClr val="5B657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4984" y="2633472"/>
            <a:ext cx="0" cy="2395728"/>
          </a:xfrm>
          <a:prstGeom prst="line">
            <a:avLst/>
          </a:prstGeom>
          <a:ln w="11430">
            <a:solidFill>
              <a:srgbClr val="5B6573"/>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4984" y="2194560"/>
            <a:ext cx="6309360" cy="292608"/>
          </a:xfrm>
          <a:prstGeom prst="rect">
            <a:avLst/>
          </a:prstGeom>
          <a:noFill/>
          <a:effectLst/>
        </p:spPr>
        <p:txBody>
          <a:bodyPr wrap="square" lIns="0" tIns="0" rIns="0" bIns="0">
            <a:spAutoFit/>
          </a:bodyPr>
          <a:lstStyle/>
          <a:p>
            <a:pPr algn="l">
              <a:lnSpc>
                <a:spcPct val="108000"/>
              </a:lnSpc>
              <a:spcAft>
                <a:spcPts val="400"/>
              </a:spcAft>
              <a:defRPr sz="1300" b="0">
                <a:solidFill>
                  <a:srgbClr val="5B6573"/>
                </a:solidFill>
                <a:latin typeface="IBM Plex Sans"/>
              </a:defRPr>
            </a:pPr>
            <a:r>
              <a:rPr sz="1300" b="0">
                <a:solidFill>
                  <a:srgbClr val="5B6573"/>
                </a:solidFill>
                <a:latin typeface="IBM Plex Sans"/>
              </a:rPr>
              <a:t>Modelled sale receipts (S$m)</a:t>
            </a:r>
          </a:p>
        </p:txBody>
      </p:sp>
      <p:sp>
        <p:nvSpPr>
          <p:cNvPr id="26" name="TextBox 25"/>
          <p:cNvSpPr txBox="1"/>
          <p:nvPr/>
        </p:nvSpPr>
        <p:spPr>
          <a:xfrm>
            <a:off x="1014984" y="5394960"/>
            <a:ext cx="6309360" cy="274320"/>
          </a:xfrm>
          <a:prstGeom prst="rect">
            <a:avLst/>
          </a:prstGeom>
          <a:noFill/>
          <a:effectLst/>
        </p:spPr>
        <p:txBody>
          <a:bodyPr wrap="square" lIns="0" tIns="0" rIns="0" bIns="0">
            <a:spAutoFit/>
          </a:bodyPr>
          <a:lstStyle/>
          <a:p>
            <a:pPr algn="ctr">
              <a:lnSpc>
                <a:spcPct val="108000"/>
              </a:lnSpc>
              <a:spcAft>
                <a:spcPts val="400"/>
              </a:spcAft>
              <a:defRPr sz="1300" b="0">
                <a:solidFill>
                  <a:srgbClr val="5B6573"/>
                </a:solidFill>
                <a:latin typeface="IBM Plex Sans"/>
              </a:defRPr>
            </a:pPr>
            <a:r>
              <a:rPr sz="1300" b="0">
                <a:solidFill>
                  <a:srgbClr val="5B6573"/>
                </a:solidFill>
                <a:latin typeface="IBM Plex Sans"/>
              </a:rPr>
              <a:t>Minimum baseline income retained (%) →</a:t>
            </a:r>
          </a:p>
        </p:txBody>
      </p:sp>
      <p:cxnSp>
        <p:nvCxnSpPr>
          <p:cNvPr id="27" name="Connector 26"/>
          <p:cNvCxnSpPr/>
          <p:nvPr/>
        </p:nvCxnSpPr>
        <p:spPr>
          <a:xfrm>
            <a:off x="1540764" y="3160532"/>
            <a:ext cx="1051560" cy="433798"/>
          </a:xfrm>
          <a:prstGeom prst="line">
            <a:avLst/>
          </a:prstGeom>
          <a:ln w="2540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592324" y="3594330"/>
            <a:ext cx="1051560" cy="286974"/>
          </a:xfrm>
          <a:prstGeom prst="line">
            <a:avLst/>
          </a:prstGeom>
          <a:ln w="2540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3884" y="3881304"/>
            <a:ext cx="1051560" cy="433797"/>
          </a:xfrm>
          <a:prstGeom prst="line">
            <a:avLst/>
          </a:prstGeom>
          <a:ln w="2540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695444" y="4315101"/>
            <a:ext cx="1051560" cy="433798"/>
          </a:xfrm>
          <a:prstGeom prst="line">
            <a:avLst/>
          </a:prstGeom>
          <a:ln w="2540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47004" y="4748899"/>
            <a:ext cx="1051560" cy="280301"/>
          </a:xfrm>
          <a:prstGeom prst="line">
            <a:avLst/>
          </a:prstGeom>
          <a:ln w="25400">
            <a:solidFill>
              <a:srgbClr val="0F62FE"/>
            </a:solidFill>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472184" y="3091952"/>
            <a:ext cx="137160" cy="1371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10996" y="2730764"/>
            <a:ext cx="868680" cy="274320"/>
          </a:xfrm>
          <a:prstGeom prst="rect">
            <a:avLst/>
          </a:prstGeom>
          <a:noFill/>
          <a:effectLst/>
        </p:spPr>
        <p:txBody>
          <a:bodyPr wrap="square" lIns="0" tIns="0" rIns="0" bIns="0">
            <a:spAutoFit/>
          </a:bodyPr>
          <a:lstStyle/>
          <a:p>
            <a:pPr algn="ctr">
              <a:lnSpc>
                <a:spcPct val="108000"/>
              </a:lnSpc>
              <a:spcAft>
                <a:spcPts val="400"/>
              </a:spcAft>
              <a:defRPr sz="1300" b="0">
                <a:solidFill>
                  <a:srgbClr val="0F62FE"/>
                </a:solidFill>
                <a:latin typeface="IBM Plex Sans"/>
              </a:defRPr>
            </a:pPr>
            <a:r>
              <a:rPr sz="1300" b="0">
                <a:solidFill>
                  <a:srgbClr val="0F62FE"/>
                </a:solidFill>
                <a:latin typeface="IBM Plex Sans"/>
              </a:rPr>
              <a:t>273</a:t>
            </a:r>
          </a:p>
        </p:txBody>
      </p:sp>
      <p:sp>
        <p:nvSpPr>
          <p:cNvPr id="34" name="Oval 33"/>
          <p:cNvSpPr/>
          <p:nvPr/>
        </p:nvSpPr>
        <p:spPr>
          <a:xfrm>
            <a:off x="2523744" y="3525750"/>
            <a:ext cx="137160" cy="1371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162556" y="3164562"/>
            <a:ext cx="868680" cy="274320"/>
          </a:xfrm>
          <a:prstGeom prst="rect">
            <a:avLst/>
          </a:prstGeom>
          <a:noFill/>
          <a:effectLst/>
        </p:spPr>
        <p:txBody>
          <a:bodyPr wrap="square" lIns="0" tIns="0" rIns="0" bIns="0">
            <a:spAutoFit/>
          </a:bodyPr>
          <a:lstStyle/>
          <a:p>
            <a:pPr algn="ctr">
              <a:lnSpc>
                <a:spcPct val="108000"/>
              </a:lnSpc>
              <a:spcAft>
                <a:spcPts val="400"/>
              </a:spcAft>
              <a:defRPr sz="1300" b="0">
                <a:solidFill>
                  <a:srgbClr val="0F62FE"/>
                </a:solidFill>
                <a:latin typeface="IBM Plex Sans"/>
              </a:defRPr>
            </a:pPr>
            <a:r>
              <a:rPr sz="1300" b="0">
                <a:solidFill>
                  <a:srgbClr val="0F62FE"/>
                </a:solidFill>
                <a:latin typeface="IBM Plex Sans"/>
              </a:rPr>
              <a:t>210</a:t>
            </a:r>
          </a:p>
        </p:txBody>
      </p:sp>
      <p:sp>
        <p:nvSpPr>
          <p:cNvPr id="36" name="Oval 35"/>
          <p:cNvSpPr/>
          <p:nvPr/>
        </p:nvSpPr>
        <p:spPr>
          <a:xfrm>
            <a:off x="3575304" y="3812724"/>
            <a:ext cx="137160" cy="137160"/>
          </a:xfrm>
          <a:prstGeom prst="ellipse">
            <a:avLst/>
          </a:prstGeom>
          <a:solidFill>
            <a:srgbClr val="0085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14116" y="3451536"/>
            <a:ext cx="868680" cy="274320"/>
          </a:xfrm>
          <a:prstGeom prst="rect">
            <a:avLst/>
          </a:prstGeom>
          <a:noFill/>
          <a:effectLst/>
        </p:spPr>
        <p:txBody>
          <a:bodyPr wrap="square" lIns="0" tIns="0" rIns="0" bIns="0">
            <a:spAutoFit/>
          </a:bodyPr>
          <a:lstStyle/>
          <a:p>
            <a:pPr algn="ctr">
              <a:lnSpc>
                <a:spcPct val="108000"/>
              </a:lnSpc>
              <a:spcAft>
                <a:spcPts val="400"/>
              </a:spcAft>
              <a:defRPr sz="1300" b="0">
                <a:solidFill>
                  <a:srgbClr val="008578"/>
                </a:solidFill>
                <a:latin typeface="IBM Plex Sans"/>
              </a:defRPr>
            </a:pPr>
            <a:r>
              <a:rPr sz="1300" b="0">
                <a:solidFill>
                  <a:srgbClr val="008578"/>
                </a:solidFill>
                <a:latin typeface="IBM Plex Sans"/>
              </a:rPr>
              <a:t>168</a:t>
            </a:r>
          </a:p>
        </p:txBody>
      </p:sp>
      <p:sp>
        <p:nvSpPr>
          <p:cNvPr id="38" name="Oval 37"/>
          <p:cNvSpPr/>
          <p:nvPr/>
        </p:nvSpPr>
        <p:spPr>
          <a:xfrm>
            <a:off x="4626864" y="4246521"/>
            <a:ext cx="137160" cy="1371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65676" y="3885333"/>
            <a:ext cx="868680" cy="274320"/>
          </a:xfrm>
          <a:prstGeom prst="rect">
            <a:avLst/>
          </a:prstGeom>
          <a:noFill/>
          <a:effectLst/>
        </p:spPr>
        <p:txBody>
          <a:bodyPr wrap="square" lIns="0" tIns="0" rIns="0" bIns="0">
            <a:spAutoFit/>
          </a:bodyPr>
          <a:lstStyle/>
          <a:p>
            <a:pPr algn="ctr">
              <a:lnSpc>
                <a:spcPct val="108000"/>
              </a:lnSpc>
              <a:spcAft>
                <a:spcPts val="400"/>
              </a:spcAft>
              <a:defRPr sz="1300" b="0">
                <a:solidFill>
                  <a:srgbClr val="0F62FE"/>
                </a:solidFill>
                <a:latin typeface="IBM Plex Sans"/>
              </a:defRPr>
            </a:pPr>
            <a:r>
              <a:rPr sz="1300" b="0">
                <a:solidFill>
                  <a:srgbClr val="0F62FE"/>
                </a:solidFill>
                <a:latin typeface="IBM Plex Sans"/>
              </a:rPr>
              <a:t>104</a:t>
            </a:r>
          </a:p>
        </p:txBody>
      </p:sp>
      <p:sp>
        <p:nvSpPr>
          <p:cNvPr id="40" name="Oval 39"/>
          <p:cNvSpPr/>
          <p:nvPr/>
        </p:nvSpPr>
        <p:spPr>
          <a:xfrm>
            <a:off x="5678424" y="4680319"/>
            <a:ext cx="137160" cy="1371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317236" y="4319131"/>
            <a:ext cx="868680" cy="274320"/>
          </a:xfrm>
          <a:prstGeom prst="rect">
            <a:avLst/>
          </a:prstGeom>
          <a:noFill/>
          <a:effectLst/>
        </p:spPr>
        <p:txBody>
          <a:bodyPr wrap="square" lIns="0" tIns="0" rIns="0" bIns="0">
            <a:spAutoFit/>
          </a:bodyPr>
          <a:lstStyle/>
          <a:p>
            <a:pPr algn="ctr">
              <a:lnSpc>
                <a:spcPct val="108000"/>
              </a:lnSpc>
              <a:spcAft>
                <a:spcPts val="400"/>
              </a:spcAft>
              <a:defRPr sz="1300" b="0">
                <a:solidFill>
                  <a:srgbClr val="0F62FE"/>
                </a:solidFill>
                <a:latin typeface="IBM Plex Sans"/>
              </a:defRPr>
            </a:pPr>
            <a:r>
              <a:rPr sz="1300" b="0">
                <a:solidFill>
                  <a:srgbClr val="0F62FE"/>
                </a:solidFill>
                <a:latin typeface="IBM Plex Sans"/>
              </a:rPr>
              <a:t>41</a:t>
            </a:r>
          </a:p>
        </p:txBody>
      </p:sp>
      <p:sp>
        <p:nvSpPr>
          <p:cNvPr id="42" name="Oval 41"/>
          <p:cNvSpPr/>
          <p:nvPr/>
        </p:nvSpPr>
        <p:spPr>
          <a:xfrm>
            <a:off x="6729984" y="4960620"/>
            <a:ext cx="137160" cy="13716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68796" y="4599432"/>
            <a:ext cx="868680" cy="274320"/>
          </a:xfrm>
          <a:prstGeom prst="rect">
            <a:avLst/>
          </a:prstGeom>
          <a:noFill/>
          <a:effectLst/>
        </p:spPr>
        <p:txBody>
          <a:bodyPr wrap="square" lIns="0" tIns="0" rIns="0" bIns="0">
            <a:spAutoFit/>
          </a:bodyPr>
          <a:lstStyle/>
          <a:p>
            <a:pPr algn="ctr">
              <a:lnSpc>
                <a:spcPct val="108000"/>
              </a:lnSpc>
              <a:spcAft>
                <a:spcPts val="400"/>
              </a:spcAft>
              <a:defRPr sz="1300" b="0">
                <a:solidFill>
                  <a:srgbClr val="0F62FE"/>
                </a:solidFill>
                <a:latin typeface="IBM Plex Sans"/>
              </a:defRPr>
            </a:pPr>
            <a:r>
              <a:rPr sz="1300" b="0">
                <a:solidFill>
                  <a:srgbClr val="0F62FE"/>
                </a:solidFill>
                <a:latin typeface="IBM Plex Sans"/>
              </a:rPr>
              <a:t>0</a:t>
            </a:r>
          </a:p>
        </p:txBody>
      </p:sp>
      <p:sp>
        <p:nvSpPr>
          <p:cNvPr id="44" name="Rectangle 43"/>
          <p:cNvSpPr/>
          <p:nvPr/>
        </p:nvSpPr>
        <p:spPr>
          <a:xfrm>
            <a:off x="8028431" y="2267712"/>
            <a:ext cx="3694176" cy="3282696"/>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47888" y="2532888"/>
            <a:ext cx="3246120" cy="950976"/>
          </a:xfrm>
          <a:prstGeom prst="rect">
            <a:avLst/>
          </a:prstGeom>
          <a:noFill/>
          <a:effectLst/>
        </p:spPr>
        <p:txBody>
          <a:bodyPr wrap="square" lIns="0" tIns="0" rIns="0" bIns="0">
            <a:spAutoFit/>
          </a:bodyPr>
          <a:lstStyle/>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A policy choice,</a:t>
            </a:r>
          </a:p>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made explicit</a:t>
            </a:r>
          </a:p>
        </p:txBody>
      </p:sp>
      <p:sp>
        <p:nvSpPr>
          <p:cNvPr id="46" name="TextBox 45"/>
          <p:cNvSpPr txBox="1"/>
          <p:nvPr/>
        </p:nvSpPr>
        <p:spPr>
          <a:xfrm>
            <a:off x="8247888" y="3529584"/>
            <a:ext cx="3236976" cy="1463040"/>
          </a:xfrm>
          <a:prstGeom prst="rect">
            <a:avLst/>
          </a:prstGeom>
          <a:noFill/>
          <a:effectLst/>
        </p:spPr>
        <p:txBody>
          <a:bodyPr wrap="square" lIns="0" tIns="0" rIns="0" bIns="0">
            <a:spAutoFit/>
          </a:bodyPr>
          <a:lstStyle/>
          <a:p>
            <a:pPr algn="l">
              <a:lnSpc>
                <a:spcPct val="108000"/>
              </a:lnSpc>
              <a:spcAft>
                <a:spcPts val="400"/>
              </a:spcAft>
              <a:defRPr sz="2000" b="0">
                <a:solidFill>
                  <a:srgbClr val="5B6573"/>
                </a:solidFill>
                <a:latin typeface="IBM Plex Sans"/>
              </a:defRPr>
            </a:pPr>
            <a:r>
              <a:rPr sz="2000" b="0">
                <a:solidFill>
                  <a:srgbClr val="5B6573"/>
                </a:solidFill>
                <a:latin typeface="IBM Plex Sans"/>
              </a:rPr>
              <a:t>More income retained</a:t>
            </a:r>
          </a:p>
          <a:p>
            <a:pPr algn="l">
              <a:lnSpc>
                <a:spcPct val="108000"/>
              </a:lnSpc>
              <a:spcAft>
                <a:spcPts val="400"/>
              </a:spcAft>
              <a:defRPr sz="2000" b="0">
                <a:solidFill>
                  <a:srgbClr val="5B6573"/>
                </a:solidFill>
                <a:latin typeface="IBM Plex Sans"/>
              </a:defRPr>
            </a:pPr>
            <a:r>
              <a:rPr sz="2000" b="0">
                <a:solidFill>
                  <a:srgbClr val="5B6573"/>
                </a:solidFill>
                <a:latin typeface="IBM Plex Sans"/>
              </a:rPr>
              <a:t>means less capital</a:t>
            </a:r>
          </a:p>
          <a:p>
            <a:pPr algn="l">
              <a:lnSpc>
                <a:spcPct val="108000"/>
              </a:lnSpc>
              <a:spcAft>
                <a:spcPts val="400"/>
              </a:spcAft>
              <a:defRPr sz="2000" b="0">
                <a:solidFill>
                  <a:srgbClr val="5B6573"/>
                </a:solidFill>
                <a:latin typeface="IBM Plex Sans"/>
              </a:defRPr>
            </a:pPr>
            <a:r>
              <a:rPr sz="2000" b="0">
                <a:solidFill>
                  <a:srgbClr val="5B6573"/>
                </a:solidFill>
                <a:latin typeface="IBM Plex Sans"/>
              </a:rPr>
              <a:t>available from sales</a:t>
            </a:r>
          </a:p>
          <a:p>
            <a:pPr algn="l">
              <a:lnSpc>
                <a:spcPct val="108000"/>
              </a:lnSpc>
              <a:spcAft>
                <a:spcPts val="400"/>
              </a:spcAft>
              <a:defRPr sz="2000" b="0">
                <a:solidFill>
                  <a:srgbClr val="5B6573"/>
                </a:solidFill>
                <a:latin typeface="IBM Plex Sans"/>
              </a:defRPr>
            </a:pPr>
            <a:r>
              <a:rPr sz="2000" b="0">
                <a:solidFill>
                  <a:srgbClr val="5B6573"/>
                </a:solidFill>
                <a:latin typeface="IBM Plex Sans"/>
              </a:rPr>
              <a:t>in this demonstration.</a:t>
            </a:r>
          </a:p>
        </p:txBody>
      </p:sp>
      <p:sp>
        <p:nvSpPr>
          <p:cNvPr id="47" name="Rectangle 46"/>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Agree the mandate first. Then compare feasible plans against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04  /  SCENARIOS AND TRADE-OFFS</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A positive expected value can still carry material downside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The two-stage model tests a portfolio commitment across three market cases with assumed weights.</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Illustrative results from 10 fictional assets. SGD millions unless stated. Model snapshot: 25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16</a:t>
            </a:r>
          </a:p>
        </p:txBody>
      </p:sp>
      <p:sp>
        <p:nvSpPr>
          <p:cNvPr id="9" name="TextBox 8"/>
          <p:cNvSpPr txBox="1"/>
          <p:nvPr/>
        </p:nvSpPr>
        <p:spPr>
          <a:xfrm>
            <a:off x="530352" y="2130552"/>
            <a:ext cx="6931152" cy="32004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Two-stage portfolio: incremental NPV by case (S$m)</a:t>
            </a:r>
          </a:p>
        </p:txBody>
      </p:sp>
      <p:graphicFrame>
        <p:nvGraphicFramePr>
          <p:cNvPr id="10" name="Chart 9"/>
          <p:cNvGraphicFramePr>
            <a:graphicFrameLocks noGrp="1"/>
          </p:cNvGraphicFramePr>
          <p:nvPr/>
        </p:nvGraphicFramePr>
        <p:xfrm>
          <a:off x="457200" y="2660904"/>
          <a:ext cx="694944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7936992" y="2267712"/>
            <a:ext cx="3785615" cy="3255264"/>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65592" y="2542032"/>
            <a:ext cx="3346704" cy="640080"/>
          </a:xfrm>
          <a:prstGeom prst="rect">
            <a:avLst/>
          </a:prstGeom>
          <a:noFill/>
          <a:effectLst/>
        </p:spPr>
        <p:txBody>
          <a:bodyPr wrap="square" lIns="0" tIns="0" rIns="0" bIns="0">
            <a:spAutoFit/>
          </a:bodyPr>
          <a:lstStyle/>
          <a:p>
            <a:pPr algn="l">
              <a:lnSpc>
                <a:spcPct val="108000"/>
              </a:lnSpc>
              <a:spcAft>
                <a:spcPts val="400"/>
              </a:spcAft>
              <a:defRPr sz="3600" b="0">
                <a:solidFill>
                  <a:srgbClr val="0F62FE"/>
                </a:solidFill>
                <a:latin typeface="IBM Plex Sans Light"/>
              </a:defRPr>
            </a:pPr>
            <a:r>
              <a:rPr sz="3600" b="0">
                <a:solidFill>
                  <a:srgbClr val="0F62FE"/>
                </a:solidFill>
                <a:latin typeface="IBM Plex Sans Light"/>
              </a:rPr>
              <a:t>S$7.63m</a:t>
            </a:r>
          </a:p>
        </p:txBody>
      </p:sp>
      <p:sp>
        <p:nvSpPr>
          <p:cNvPr id="13" name="TextBox 12"/>
          <p:cNvSpPr txBox="1"/>
          <p:nvPr/>
        </p:nvSpPr>
        <p:spPr>
          <a:xfrm>
            <a:off x="8165592" y="3300984"/>
            <a:ext cx="3346704" cy="50292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Probability-weighted NPV</a:t>
            </a:r>
          </a:p>
        </p:txBody>
      </p:sp>
      <p:sp>
        <p:nvSpPr>
          <p:cNvPr id="14" name="TextBox 13"/>
          <p:cNvSpPr txBox="1"/>
          <p:nvPr/>
        </p:nvSpPr>
        <p:spPr>
          <a:xfrm>
            <a:off x="8165592" y="4526280"/>
            <a:ext cx="3337560" cy="859536"/>
          </a:xfrm>
          <a:prstGeom prst="rect">
            <a:avLst/>
          </a:prstGeom>
          <a:noFill/>
          <a:effectLst/>
        </p:spPr>
        <p:txBody>
          <a:bodyPr wrap="square" lIns="0" tIns="0" rIns="0" bIns="0">
            <a:spAutoFit/>
          </a:bodyPr>
          <a:lstStyle/>
          <a:p>
            <a:pPr algn="l">
              <a:lnSpc>
                <a:spcPct val="108000"/>
              </a:lnSpc>
              <a:spcAft>
                <a:spcPts val="400"/>
              </a:spcAft>
              <a:defRPr sz="2200" b="0">
                <a:solidFill>
                  <a:srgbClr val="C63D45"/>
                </a:solidFill>
                <a:latin typeface="IBM Plex Sans Light"/>
              </a:defRPr>
            </a:pPr>
            <a:r>
              <a:rPr sz="2200" b="0">
                <a:solidFill>
                  <a:srgbClr val="C63D45"/>
                </a:solidFill>
                <a:latin typeface="IBM Plex Sans Light"/>
              </a:rPr>
              <a:t>Downside case:</a:t>
            </a:r>
          </a:p>
          <a:p>
            <a:pPr algn="l">
              <a:lnSpc>
                <a:spcPct val="108000"/>
              </a:lnSpc>
              <a:spcAft>
                <a:spcPts val="400"/>
              </a:spcAft>
              <a:defRPr sz="2200" b="0">
                <a:solidFill>
                  <a:srgbClr val="C63D45"/>
                </a:solidFill>
                <a:latin typeface="IBM Plex Sans Light"/>
              </a:defRPr>
            </a:pPr>
            <a:r>
              <a:rPr sz="2200" b="0">
                <a:solidFill>
                  <a:srgbClr val="C63D45"/>
                </a:solidFill>
                <a:latin typeface="IBM Plex Sans Light"/>
              </a:rPr>
              <a:t>−S$11.28m</a:t>
            </a:r>
          </a:p>
        </p:txBody>
      </p:sp>
      <p:sp>
        <p:nvSpPr>
          <p:cNvPr id="15" name="Rectangle 14"/>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Review expected gain and downside together before committing capital.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04  /  DIGITAL TWIN EXPLORATION</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Digital twins test how the action mix changes</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A separate generated underwriting population explores base, stress and structural-change environments.</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Source: /digital-twins/dashboard. Separate synthetic underwriting; values are not comparable with the core portfolio.</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17</a:t>
            </a:r>
          </a:p>
        </p:txBody>
      </p:sp>
      <p:sp>
        <p:nvSpPr>
          <p:cNvPr id="9" name="TextBox 8"/>
          <p:cNvSpPr txBox="1"/>
          <p:nvPr/>
        </p:nvSpPr>
        <p:spPr>
          <a:xfrm>
            <a:off x="512064" y="2130552"/>
            <a:ext cx="6995160" cy="320040"/>
          </a:xfrm>
          <a:prstGeom prst="rect">
            <a:avLst/>
          </a:prstGeom>
          <a:noFill/>
          <a:effectLst/>
        </p:spPr>
        <p:txBody>
          <a:bodyPr wrap="square" lIns="0" tIns="0" rIns="0" bIns="0">
            <a:spAutoFit/>
          </a:bodyPr>
          <a:lstStyle/>
          <a:p>
            <a:pPr algn="l">
              <a:lnSpc>
                <a:spcPct val="108000"/>
              </a:lnSpc>
              <a:spcAft>
                <a:spcPts val="400"/>
              </a:spcAft>
              <a:defRPr sz="1600" b="0">
                <a:solidFill>
                  <a:srgbClr val="202A38"/>
                </a:solidFill>
                <a:latin typeface="IBM Plex Sans"/>
              </a:defRPr>
            </a:pPr>
            <a:r>
              <a:rPr sz="1600" b="0">
                <a:solidFill>
                  <a:srgbClr val="202A38"/>
                </a:solidFill>
                <a:latin typeface="IBM Plex Sans"/>
              </a:rPr>
              <a:t>Constrained expected incremental NPV (S$m)</a:t>
            </a:r>
          </a:p>
        </p:txBody>
      </p:sp>
      <p:graphicFrame>
        <p:nvGraphicFramePr>
          <p:cNvPr id="10" name="Chart 9"/>
          <p:cNvGraphicFramePr>
            <a:graphicFrameLocks noGrp="1"/>
          </p:cNvGraphicFramePr>
          <p:nvPr/>
        </p:nvGraphicFramePr>
        <p:xfrm>
          <a:off x="466344" y="2615184"/>
          <a:ext cx="6903720" cy="2898648"/>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7891272" y="2276856"/>
            <a:ext cx="3840480" cy="3255264"/>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29016" y="2514600"/>
            <a:ext cx="3346704" cy="320040"/>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PORTFOLIO SALES</a:t>
            </a:r>
          </a:p>
        </p:txBody>
      </p:sp>
      <p:sp>
        <p:nvSpPr>
          <p:cNvPr id="13" name="TextBox 12"/>
          <p:cNvSpPr txBox="1"/>
          <p:nvPr/>
        </p:nvSpPr>
        <p:spPr>
          <a:xfrm>
            <a:off x="8129016" y="3081528"/>
            <a:ext cx="2350008" cy="329184"/>
          </a:xfrm>
          <a:prstGeom prst="rect">
            <a:avLst/>
          </a:prstGeom>
          <a:noFill/>
          <a:effectLst/>
        </p:spPr>
        <p:txBody>
          <a:bodyPr wrap="square" lIns="0" tIns="0" rIns="0" bIns="0">
            <a:spAutoFit/>
          </a:bodyPr>
          <a:lstStyle/>
          <a:p>
            <a:pPr algn="l">
              <a:lnSpc>
                <a:spcPct val="108000"/>
              </a:lnSpc>
              <a:spcAft>
                <a:spcPts val="400"/>
              </a:spcAft>
              <a:defRPr sz="1800" b="0">
                <a:solidFill>
                  <a:srgbClr val="202A38"/>
                </a:solidFill>
                <a:latin typeface="IBM Plex Sans"/>
              </a:defRPr>
            </a:pPr>
            <a:r>
              <a:rPr sz="1800" b="0">
                <a:solidFill>
                  <a:srgbClr val="202A38"/>
                </a:solidFill>
                <a:latin typeface="IBM Plex Sans"/>
              </a:rPr>
              <a:t>Base</a:t>
            </a:r>
          </a:p>
        </p:txBody>
      </p:sp>
      <p:sp>
        <p:nvSpPr>
          <p:cNvPr id="14" name="TextBox 13"/>
          <p:cNvSpPr txBox="1"/>
          <p:nvPr/>
        </p:nvSpPr>
        <p:spPr>
          <a:xfrm>
            <a:off x="10634472" y="3017520"/>
            <a:ext cx="576072" cy="448056"/>
          </a:xfrm>
          <a:prstGeom prst="rect">
            <a:avLst/>
          </a:prstGeom>
          <a:noFill/>
          <a:effectLst/>
        </p:spPr>
        <p:txBody>
          <a:bodyPr wrap="square" lIns="0" tIns="0" rIns="0" bIns="0">
            <a:spAutoFit/>
          </a:bodyPr>
          <a:lstStyle/>
          <a:p>
            <a:pPr algn="r">
              <a:lnSpc>
                <a:spcPct val="108000"/>
              </a:lnSpc>
              <a:spcAft>
                <a:spcPts val="400"/>
              </a:spcAft>
              <a:defRPr sz="2700" b="0">
                <a:solidFill>
                  <a:srgbClr val="0F62FE"/>
                </a:solidFill>
                <a:latin typeface="IBM Plex Sans Light"/>
              </a:defRPr>
            </a:pPr>
            <a:r>
              <a:rPr sz="2700" b="0">
                <a:solidFill>
                  <a:srgbClr val="0F62FE"/>
                </a:solidFill>
                <a:latin typeface="IBM Plex Sans Light"/>
              </a:rPr>
              <a:t>6</a:t>
            </a:r>
          </a:p>
        </p:txBody>
      </p:sp>
      <p:sp>
        <p:nvSpPr>
          <p:cNvPr id="15" name="TextBox 14"/>
          <p:cNvSpPr txBox="1"/>
          <p:nvPr/>
        </p:nvSpPr>
        <p:spPr>
          <a:xfrm>
            <a:off x="8129016" y="3712464"/>
            <a:ext cx="2350008" cy="329184"/>
          </a:xfrm>
          <a:prstGeom prst="rect">
            <a:avLst/>
          </a:prstGeom>
          <a:noFill/>
          <a:effectLst/>
        </p:spPr>
        <p:txBody>
          <a:bodyPr wrap="square" lIns="0" tIns="0" rIns="0" bIns="0">
            <a:spAutoFit/>
          </a:bodyPr>
          <a:lstStyle/>
          <a:p>
            <a:pPr algn="l">
              <a:lnSpc>
                <a:spcPct val="108000"/>
              </a:lnSpc>
              <a:spcAft>
                <a:spcPts val="400"/>
              </a:spcAft>
              <a:defRPr sz="1800" b="0">
                <a:solidFill>
                  <a:srgbClr val="202A38"/>
                </a:solidFill>
                <a:latin typeface="IBM Plex Sans"/>
              </a:defRPr>
            </a:pPr>
            <a:r>
              <a:rPr sz="1800" b="0">
                <a:solidFill>
                  <a:srgbClr val="202A38"/>
                </a:solidFill>
                <a:latin typeface="IBM Plex Sans"/>
              </a:rPr>
              <a:t>Stress</a:t>
            </a:r>
          </a:p>
        </p:txBody>
      </p:sp>
      <p:sp>
        <p:nvSpPr>
          <p:cNvPr id="16" name="TextBox 15"/>
          <p:cNvSpPr txBox="1"/>
          <p:nvPr/>
        </p:nvSpPr>
        <p:spPr>
          <a:xfrm>
            <a:off x="10634472" y="3648456"/>
            <a:ext cx="576072" cy="448056"/>
          </a:xfrm>
          <a:prstGeom prst="rect">
            <a:avLst/>
          </a:prstGeom>
          <a:noFill/>
          <a:effectLst/>
        </p:spPr>
        <p:txBody>
          <a:bodyPr wrap="square" lIns="0" tIns="0" rIns="0" bIns="0">
            <a:spAutoFit/>
          </a:bodyPr>
          <a:lstStyle/>
          <a:p>
            <a:pPr algn="r">
              <a:lnSpc>
                <a:spcPct val="108000"/>
              </a:lnSpc>
              <a:spcAft>
                <a:spcPts val="400"/>
              </a:spcAft>
              <a:defRPr sz="2700" b="0">
                <a:solidFill>
                  <a:srgbClr val="0F62FE"/>
                </a:solidFill>
                <a:latin typeface="IBM Plex Sans Light"/>
              </a:defRPr>
            </a:pPr>
            <a:r>
              <a:rPr sz="2700" b="0">
                <a:solidFill>
                  <a:srgbClr val="0F62FE"/>
                </a:solidFill>
                <a:latin typeface="IBM Plex Sans Light"/>
              </a:rPr>
              <a:t>6</a:t>
            </a:r>
          </a:p>
        </p:txBody>
      </p:sp>
      <p:sp>
        <p:nvSpPr>
          <p:cNvPr id="17" name="TextBox 16"/>
          <p:cNvSpPr txBox="1"/>
          <p:nvPr/>
        </p:nvSpPr>
        <p:spPr>
          <a:xfrm>
            <a:off x="8129016" y="4343400"/>
            <a:ext cx="2350008" cy="329184"/>
          </a:xfrm>
          <a:prstGeom prst="rect">
            <a:avLst/>
          </a:prstGeom>
          <a:noFill/>
          <a:effectLst/>
        </p:spPr>
        <p:txBody>
          <a:bodyPr wrap="square" lIns="0" tIns="0" rIns="0" bIns="0">
            <a:spAutoFit/>
          </a:bodyPr>
          <a:lstStyle/>
          <a:p>
            <a:pPr algn="l">
              <a:lnSpc>
                <a:spcPct val="108000"/>
              </a:lnSpc>
              <a:spcAft>
                <a:spcPts val="400"/>
              </a:spcAft>
              <a:defRPr sz="1800" b="0">
                <a:solidFill>
                  <a:srgbClr val="202A38"/>
                </a:solidFill>
                <a:latin typeface="IBM Plex Sans"/>
              </a:defRPr>
            </a:pPr>
            <a:r>
              <a:rPr sz="1800" b="0">
                <a:solidFill>
                  <a:srgbClr val="202A38"/>
                </a:solidFill>
                <a:latin typeface="IBM Plex Sans"/>
              </a:rPr>
              <a:t>Structural</a:t>
            </a:r>
          </a:p>
        </p:txBody>
      </p:sp>
      <p:sp>
        <p:nvSpPr>
          <p:cNvPr id="18" name="TextBox 17"/>
          <p:cNvSpPr txBox="1"/>
          <p:nvPr/>
        </p:nvSpPr>
        <p:spPr>
          <a:xfrm>
            <a:off x="10634472" y="4279392"/>
            <a:ext cx="576072" cy="448056"/>
          </a:xfrm>
          <a:prstGeom prst="rect">
            <a:avLst/>
          </a:prstGeom>
          <a:noFill/>
          <a:effectLst/>
        </p:spPr>
        <p:txBody>
          <a:bodyPr wrap="square" lIns="0" tIns="0" rIns="0" bIns="0">
            <a:spAutoFit/>
          </a:bodyPr>
          <a:lstStyle/>
          <a:p>
            <a:pPr algn="r">
              <a:lnSpc>
                <a:spcPct val="108000"/>
              </a:lnSpc>
              <a:spcAft>
                <a:spcPts val="400"/>
              </a:spcAft>
              <a:defRPr sz="2700" b="0">
                <a:solidFill>
                  <a:srgbClr val="0F62FE"/>
                </a:solidFill>
                <a:latin typeface="IBM Plex Sans Light"/>
              </a:defRPr>
            </a:pPr>
            <a:r>
              <a:rPr sz="2700" b="0">
                <a:solidFill>
                  <a:srgbClr val="0F62FE"/>
                </a:solidFill>
                <a:latin typeface="IBM Plex Sans Light"/>
              </a:rPr>
              <a:t>2</a:t>
            </a:r>
          </a:p>
        </p:txBody>
      </p:sp>
      <p:sp>
        <p:nvSpPr>
          <p:cNvPr id="19" name="Rectangle 18"/>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Compare allocations as well as totals: the action mix changes with the environment.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05  /  DECISION GOVERNANCE</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An attractive candidate still needs decision-ready evidence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The dashboard separates economic screening from legal, planning and underwriting verification.</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18</a:t>
            </a:r>
          </a:p>
        </p:txBody>
      </p:sp>
      <p:sp>
        <p:nvSpPr>
          <p:cNvPr id="9" name="Rectangle 8"/>
          <p:cNvSpPr/>
          <p:nvPr/>
        </p:nvSpPr>
        <p:spPr>
          <a:xfrm>
            <a:off x="457200" y="2468880"/>
            <a:ext cx="2642616" cy="2093976"/>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 y="2697480"/>
            <a:ext cx="2258568" cy="374904"/>
          </a:xfrm>
          <a:prstGeom prst="rect">
            <a:avLst/>
          </a:prstGeom>
          <a:noFill/>
          <a:effectLst/>
        </p:spPr>
        <p:txBody>
          <a:bodyPr wrap="square" lIns="0" tIns="0" rIns="0" bIns="0">
            <a:spAutoFit/>
          </a:bodyPr>
          <a:lstStyle/>
          <a:p>
            <a:pPr algn="l">
              <a:lnSpc>
                <a:spcPct val="108000"/>
              </a:lnSpc>
              <a:spcAft>
                <a:spcPts val="400"/>
              </a:spcAft>
              <a:defRPr sz="2400" b="0">
                <a:solidFill>
                  <a:srgbClr val="202A38"/>
                </a:solidFill>
                <a:latin typeface="IBM Plex Sans Light"/>
              </a:defRPr>
            </a:pPr>
            <a:r>
              <a:rPr sz="2400" b="0">
                <a:solidFill>
                  <a:srgbClr val="202A38"/>
                </a:solidFill>
                <a:latin typeface="IBM Plex Sans Light"/>
              </a:rPr>
              <a:t>Economics</a:t>
            </a:r>
          </a:p>
        </p:txBody>
      </p:sp>
      <p:sp>
        <p:nvSpPr>
          <p:cNvPr id="11" name="TextBox 10"/>
          <p:cNvSpPr txBox="1"/>
          <p:nvPr/>
        </p:nvSpPr>
        <p:spPr>
          <a:xfrm>
            <a:off x="649224" y="3346704"/>
            <a:ext cx="2258568" cy="868680"/>
          </a:xfrm>
          <a:prstGeom prst="rect">
            <a:avLst/>
          </a:prstGeom>
          <a:noFill/>
          <a:effectLst/>
        </p:spPr>
        <p:txBody>
          <a:bodyPr wrap="square" lIns="0" tIns="0" rIns="0" bIns="0">
            <a:spAutoFit/>
          </a:bodyPr>
          <a:lstStyle/>
          <a:p>
            <a:pPr algn="l">
              <a:lnSpc>
                <a:spcPct val="108000"/>
              </a:lnSpc>
              <a:spcAft>
                <a:spcPts val="400"/>
              </a:spcAft>
              <a:defRPr sz="1800" b="0">
                <a:solidFill>
                  <a:srgbClr val="5B6573"/>
                </a:solidFill>
                <a:latin typeface="IBM Plex Sans"/>
              </a:defRPr>
            </a:pPr>
            <a:r>
              <a:rPr sz="1800" b="0">
                <a:solidFill>
                  <a:srgbClr val="5B6573"/>
                </a:solidFill>
                <a:latin typeface="IBM Plex Sans"/>
              </a:rPr>
              <a:t>Is the action worth</a:t>
            </a:r>
          </a:p>
          <a:p>
            <a:pPr algn="l">
              <a:lnSpc>
                <a:spcPct val="108000"/>
              </a:lnSpc>
              <a:spcAft>
                <a:spcPts val="400"/>
              </a:spcAft>
              <a:defRPr sz="1800" b="0">
                <a:solidFill>
                  <a:srgbClr val="5B6573"/>
                </a:solidFill>
                <a:latin typeface="IBM Plex Sans"/>
              </a:defRPr>
            </a:pPr>
            <a:r>
              <a:rPr sz="1800" b="0">
                <a:solidFill>
                  <a:srgbClr val="5B6573"/>
                </a:solidFill>
                <a:latin typeface="IBM Plex Sans"/>
              </a:rPr>
              <a:t>more than Hold?</a:t>
            </a:r>
          </a:p>
        </p:txBody>
      </p:sp>
      <p:cxnSp>
        <p:nvCxnSpPr>
          <p:cNvPr id="12" name="Connector 11"/>
          <p:cNvCxnSpPr/>
          <p:nvPr/>
        </p:nvCxnSpPr>
        <p:spPr>
          <a:xfrm>
            <a:off x="3099816" y="3502152"/>
            <a:ext cx="219456"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337560" y="2468880"/>
            <a:ext cx="2642616" cy="2093976"/>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9584" y="2697480"/>
            <a:ext cx="2258568" cy="374904"/>
          </a:xfrm>
          <a:prstGeom prst="rect">
            <a:avLst/>
          </a:prstGeom>
          <a:noFill/>
          <a:effectLst/>
        </p:spPr>
        <p:txBody>
          <a:bodyPr wrap="square" lIns="0" tIns="0" rIns="0" bIns="0">
            <a:spAutoFit/>
          </a:bodyPr>
          <a:lstStyle/>
          <a:p>
            <a:pPr algn="l">
              <a:lnSpc>
                <a:spcPct val="108000"/>
              </a:lnSpc>
              <a:spcAft>
                <a:spcPts val="400"/>
              </a:spcAft>
              <a:defRPr sz="2400" b="0">
                <a:solidFill>
                  <a:srgbClr val="202A38"/>
                </a:solidFill>
                <a:latin typeface="IBM Plex Sans Light"/>
              </a:defRPr>
            </a:pPr>
            <a:r>
              <a:rPr sz="2400" b="0">
                <a:solidFill>
                  <a:srgbClr val="202A38"/>
                </a:solidFill>
                <a:latin typeface="IBM Plex Sans Light"/>
              </a:rPr>
              <a:t>Feasibility</a:t>
            </a:r>
          </a:p>
        </p:txBody>
      </p:sp>
      <p:sp>
        <p:nvSpPr>
          <p:cNvPr id="15" name="TextBox 14"/>
          <p:cNvSpPr txBox="1"/>
          <p:nvPr/>
        </p:nvSpPr>
        <p:spPr>
          <a:xfrm>
            <a:off x="3529584" y="3346704"/>
            <a:ext cx="2258568" cy="868680"/>
          </a:xfrm>
          <a:prstGeom prst="rect">
            <a:avLst/>
          </a:prstGeom>
          <a:noFill/>
          <a:effectLst/>
        </p:spPr>
        <p:txBody>
          <a:bodyPr wrap="square" lIns="0" tIns="0" rIns="0" bIns="0">
            <a:spAutoFit/>
          </a:bodyPr>
          <a:lstStyle/>
          <a:p>
            <a:pPr algn="l">
              <a:lnSpc>
                <a:spcPct val="108000"/>
              </a:lnSpc>
              <a:spcAft>
                <a:spcPts val="400"/>
              </a:spcAft>
              <a:defRPr sz="1800" b="0">
                <a:solidFill>
                  <a:srgbClr val="5B6573"/>
                </a:solidFill>
                <a:latin typeface="IBM Plex Sans"/>
              </a:defRPr>
            </a:pPr>
            <a:r>
              <a:rPr sz="1800" b="0">
                <a:solidFill>
                  <a:srgbClr val="5B6573"/>
                </a:solidFill>
                <a:latin typeface="IBM Plex Sans"/>
              </a:rPr>
              <a:t>Does it satisfy</a:t>
            </a:r>
          </a:p>
          <a:p>
            <a:pPr algn="l">
              <a:lnSpc>
                <a:spcPct val="108000"/>
              </a:lnSpc>
              <a:spcAft>
                <a:spcPts val="400"/>
              </a:spcAft>
              <a:defRPr sz="1800" b="0">
                <a:solidFill>
                  <a:srgbClr val="5B6573"/>
                </a:solidFill>
                <a:latin typeface="IBM Plex Sans"/>
              </a:defRPr>
            </a:pPr>
            <a:r>
              <a:rPr sz="1800" b="0">
                <a:solidFill>
                  <a:srgbClr val="5B6573"/>
                </a:solidFill>
                <a:latin typeface="IBM Plex Sans"/>
              </a:rPr>
              <a:t>funding and policy?</a:t>
            </a:r>
          </a:p>
        </p:txBody>
      </p:sp>
      <p:cxnSp>
        <p:nvCxnSpPr>
          <p:cNvPr id="16" name="Connector 15"/>
          <p:cNvCxnSpPr/>
          <p:nvPr/>
        </p:nvCxnSpPr>
        <p:spPr>
          <a:xfrm>
            <a:off x="5980176" y="3502152"/>
            <a:ext cx="219455"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17920" y="2468880"/>
            <a:ext cx="2642616" cy="2093976"/>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2697480"/>
            <a:ext cx="2258568" cy="374904"/>
          </a:xfrm>
          <a:prstGeom prst="rect">
            <a:avLst/>
          </a:prstGeom>
          <a:noFill/>
          <a:effectLst/>
        </p:spPr>
        <p:txBody>
          <a:bodyPr wrap="square" lIns="0" tIns="0" rIns="0" bIns="0">
            <a:spAutoFit/>
          </a:bodyPr>
          <a:lstStyle/>
          <a:p>
            <a:pPr algn="l">
              <a:lnSpc>
                <a:spcPct val="108000"/>
              </a:lnSpc>
              <a:spcAft>
                <a:spcPts val="400"/>
              </a:spcAft>
              <a:defRPr sz="2400" b="0">
                <a:solidFill>
                  <a:srgbClr val="202A38"/>
                </a:solidFill>
                <a:latin typeface="IBM Plex Sans Light"/>
              </a:defRPr>
            </a:pPr>
            <a:r>
              <a:rPr sz="2400" b="0">
                <a:solidFill>
                  <a:srgbClr val="202A38"/>
                </a:solidFill>
                <a:latin typeface="IBM Plex Sans Light"/>
              </a:rPr>
              <a:t>Evidence</a:t>
            </a:r>
          </a:p>
        </p:txBody>
      </p:sp>
      <p:sp>
        <p:nvSpPr>
          <p:cNvPr id="19" name="TextBox 18"/>
          <p:cNvSpPr txBox="1"/>
          <p:nvPr/>
        </p:nvSpPr>
        <p:spPr>
          <a:xfrm>
            <a:off x="6409944" y="3346704"/>
            <a:ext cx="2258568" cy="868680"/>
          </a:xfrm>
          <a:prstGeom prst="rect">
            <a:avLst/>
          </a:prstGeom>
          <a:noFill/>
          <a:effectLst/>
        </p:spPr>
        <p:txBody>
          <a:bodyPr wrap="square" lIns="0" tIns="0" rIns="0" bIns="0">
            <a:spAutoFit/>
          </a:bodyPr>
          <a:lstStyle/>
          <a:p>
            <a:pPr algn="l">
              <a:lnSpc>
                <a:spcPct val="108000"/>
              </a:lnSpc>
              <a:spcAft>
                <a:spcPts val="400"/>
              </a:spcAft>
              <a:defRPr sz="1800" b="0">
                <a:solidFill>
                  <a:srgbClr val="5B6573"/>
                </a:solidFill>
                <a:latin typeface="IBM Plex Sans"/>
              </a:defRPr>
            </a:pPr>
            <a:r>
              <a:rPr sz="1800" b="0">
                <a:solidFill>
                  <a:srgbClr val="5B6573"/>
                </a:solidFill>
                <a:latin typeface="IBM Plex Sans"/>
              </a:rPr>
              <a:t>Are critical inputs</a:t>
            </a:r>
          </a:p>
          <a:p>
            <a:pPr algn="l">
              <a:lnSpc>
                <a:spcPct val="108000"/>
              </a:lnSpc>
              <a:spcAft>
                <a:spcPts val="400"/>
              </a:spcAft>
              <a:defRPr sz="1800" b="0">
                <a:solidFill>
                  <a:srgbClr val="5B6573"/>
                </a:solidFill>
                <a:latin typeface="IBM Plex Sans"/>
              </a:defRPr>
            </a:pPr>
            <a:r>
              <a:rPr sz="1800" b="0">
                <a:solidFill>
                  <a:srgbClr val="5B6573"/>
                </a:solidFill>
                <a:latin typeface="IBM Plex Sans"/>
              </a:rPr>
              <a:t>verified and current?</a:t>
            </a:r>
          </a:p>
        </p:txBody>
      </p:sp>
      <p:cxnSp>
        <p:nvCxnSpPr>
          <p:cNvPr id="20" name="Connector 19"/>
          <p:cNvCxnSpPr/>
          <p:nvPr/>
        </p:nvCxnSpPr>
        <p:spPr>
          <a:xfrm>
            <a:off x="8860536" y="3502152"/>
            <a:ext cx="384048"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1" name="Diamond 20"/>
          <p:cNvSpPr/>
          <p:nvPr/>
        </p:nvSpPr>
        <p:spPr>
          <a:xfrm>
            <a:off x="9308592" y="2523744"/>
            <a:ext cx="2322576" cy="2011680"/>
          </a:xfrm>
          <a:prstGeom prst="diamond">
            <a:avLst/>
          </a:prstGeom>
          <a:solidFill>
            <a:srgbClr val="FFF3DF"/>
          </a:solidFill>
          <a:ln>
            <a:solidFill>
              <a:srgbClr val="D58A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20072" y="3081528"/>
            <a:ext cx="1499616" cy="804672"/>
          </a:xfrm>
          <a:prstGeom prst="rect">
            <a:avLst/>
          </a:prstGeom>
          <a:noFill/>
          <a:effectLst/>
        </p:spPr>
        <p:txBody>
          <a:bodyPr wrap="square" lIns="0" tIns="0" rIns="0" bIns="0">
            <a:spAutoFit/>
          </a:bodyPr>
          <a:lstStyle/>
          <a:p>
            <a:pPr algn="ctr">
              <a:lnSpc>
                <a:spcPct val="108000"/>
              </a:lnSpc>
              <a:spcAft>
                <a:spcPts val="400"/>
              </a:spcAft>
              <a:defRPr sz="2000" b="0">
                <a:solidFill>
                  <a:srgbClr val="995910"/>
                </a:solidFill>
                <a:latin typeface="IBM Plex Sans"/>
              </a:defRPr>
            </a:pPr>
            <a:r>
              <a:rPr sz="2000" b="0">
                <a:solidFill>
                  <a:srgbClr val="995910"/>
                </a:solidFill>
                <a:latin typeface="IBM Plex Sans"/>
              </a:rPr>
              <a:t>Human</a:t>
            </a:r>
          </a:p>
          <a:p>
            <a:pPr algn="ctr">
              <a:lnSpc>
                <a:spcPct val="108000"/>
              </a:lnSpc>
              <a:spcAft>
                <a:spcPts val="400"/>
              </a:spcAft>
              <a:defRPr sz="2000" b="0">
                <a:solidFill>
                  <a:srgbClr val="995910"/>
                </a:solidFill>
                <a:latin typeface="IBM Plex Sans"/>
              </a:defRPr>
            </a:pPr>
            <a:r>
              <a:rPr sz="2000" b="0">
                <a:solidFill>
                  <a:srgbClr val="995910"/>
                </a:solidFill>
                <a:latin typeface="IBM Plex Sans"/>
              </a:rPr>
              <a:t>review</a:t>
            </a:r>
          </a:p>
        </p:txBody>
      </p:sp>
      <p:sp>
        <p:nvSpPr>
          <p:cNvPr id="23" name="Rectangle 22"/>
          <p:cNvSpPr/>
          <p:nvPr/>
        </p:nvSpPr>
        <p:spPr>
          <a:xfrm>
            <a:off x="658368" y="5056632"/>
            <a:ext cx="4462272" cy="274320"/>
          </a:xfrm>
          <a:prstGeom prst="rect">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106924"/>
            <a:ext cx="4279392" cy="192024"/>
          </a:xfrm>
          <a:prstGeom prst="rect">
            <a:avLst/>
          </a:prstGeom>
          <a:noFill/>
          <a:effectLst/>
        </p:spPr>
        <p:txBody>
          <a:bodyPr wrap="square" lIns="0" tIns="0" rIns="0" bIns="0">
            <a:spAutoFit/>
          </a:bodyPr>
          <a:lstStyle/>
          <a:p>
            <a:pPr algn="l">
              <a:lnSpc>
                <a:spcPct val="108000"/>
              </a:lnSpc>
              <a:spcAft>
                <a:spcPts val="400"/>
              </a:spcAft>
              <a:defRPr sz="1050" b="0">
                <a:solidFill>
                  <a:srgbClr val="995910"/>
                </a:solidFill>
                <a:latin typeface="IBM Plex Sans"/>
              </a:defRPr>
            </a:pPr>
            <a:r>
              <a:rPr sz="1050" b="0">
                <a:solidFill>
                  <a:srgbClr val="995910"/>
                </a:solidFill>
                <a:latin typeface="IBM Plex Sans"/>
              </a:rPr>
              <a:t>PUBLIC DEMO: ALL 10 ASSETS REQUIRE DATA</a:t>
            </a:r>
          </a:p>
        </p:txBody>
      </p:sp>
      <p:sp>
        <p:nvSpPr>
          <p:cNvPr id="25" name="TextBox 24"/>
          <p:cNvSpPr txBox="1"/>
          <p:nvPr/>
        </p:nvSpPr>
        <p:spPr>
          <a:xfrm>
            <a:off x="5669280" y="4946904"/>
            <a:ext cx="5687568" cy="813816"/>
          </a:xfrm>
          <a:prstGeom prst="rect">
            <a:avLst/>
          </a:prstGeom>
          <a:noFill/>
          <a:effectLst/>
        </p:spPr>
        <p:txBody>
          <a:bodyPr wrap="square" lIns="0" tIns="0" rIns="0" bIns="0">
            <a:spAutoFit/>
          </a:bodyPr>
          <a:lstStyle/>
          <a:p>
            <a:pPr algn="l">
              <a:lnSpc>
                <a:spcPct val="108000"/>
              </a:lnSpc>
              <a:spcAft>
                <a:spcPts val="400"/>
              </a:spcAft>
              <a:defRPr sz="2200" b="0">
                <a:solidFill>
                  <a:srgbClr val="202A38"/>
                </a:solidFill>
                <a:latin typeface="IBM Plex Sans Light"/>
              </a:defRPr>
            </a:pPr>
            <a:r>
              <a:rPr sz="2200" b="0">
                <a:solidFill>
                  <a:srgbClr val="202A38"/>
                </a:solidFill>
                <a:latin typeface="IBM Plex Sans Light"/>
              </a:rPr>
              <a:t>Missing evidence remains visible;</a:t>
            </a:r>
          </a:p>
          <a:p>
            <a:pPr algn="l">
              <a:lnSpc>
                <a:spcPct val="108000"/>
              </a:lnSpc>
              <a:spcAft>
                <a:spcPts val="400"/>
              </a:spcAft>
              <a:defRPr sz="2200" b="0">
                <a:solidFill>
                  <a:srgbClr val="202A38"/>
                </a:solidFill>
                <a:latin typeface="IBM Plex Sans Light"/>
              </a:defRPr>
            </a:pPr>
            <a:r>
              <a:rPr sz="2200" b="0">
                <a:solidFill>
                  <a:srgbClr val="202A38"/>
                </a:solidFill>
                <a:latin typeface="IBM Plex Sans Light"/>
              </a:rPr>
              <a:t>it is not converted into false certainty.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05  /  VALUE VALIDATION</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Turn possible alpha into a testable hypothesis</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The present evidence supports a working decision system. Investment outperformance still needs validation.</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19</a:t>
            </a:r>
          </a:p>
        </p:txBody>
      </p:sp>
      <p:sp>
        <p:nvSpPr>
          <p:cNvPr id="9" name="Rectangle 8"/>
          <p:cNvSpPr/>
          <p:nvPr/>
        </p:nvSpPr>
        <p:spPr>
          <a:xfrm>
            <a:off x="457200" y="2240280"/>
            <a:ext cx="3529584" cy="32186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240280"/>
            <a:ext cx="36576" cy="321868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404872"/>
            <a:ext cx="3163824"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01</a:t>
            </a:r>
          </a:p>
        </p:txBody>
      </p:sp>
      <p:sp>
        <p:nvSpPr>
          <p:cNvPr id="12" name="TextBox 11"/>
          <p:cNvSpPr txBox="1"/>
          <p:nvPr/>
        </p:nvSpPr>
        <p:spPr>
          <a:xfrm>
            <a:off x="640080" y="2807208"/>
            <a:ext cx="3163824"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Specify the edge</a:t>
            </a:r>
          </a:p>
        </p:txBody>
      </p:sp>
      <p:sp>
        <p:nvSpPr>
          <p:cNvPr id="13" name="TextBox 12"/>
          <p:cNvSpPr txBox="1"/>
          <p:nvPr/>
        </p:nvSpPr>
        <p:spPr>
          <a:xfrm>
            <a:off x="640080" y="3749039"/>
            <a:ext cx="3163824" cy="1545336"/>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Identify a repeatable</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leasing, timing or</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repositioning hypothesis.</a:t>
            </a:r>
          </a:p>
        </p:txBody>
      </p:sp>
      <p:sp>
        <p:nvSpPr>
          <p:cNvPr id="14" name="Rectangle 13"/>
          <p:cNvSpPr/>
          <p:nvPr/>
        </p:nvSpPr>
        <p:spPr>
          <a:xfrm>
            <a:off x="4325112" y="2240280"/>
            <a:ext cx="3529584" cy="32186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25112" y="2240280"/>
            <a:ext cx="36576" cy="321868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07992" y="2404872"/>
            <a:ext cx="3163824"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02</a:t>
            </a:r>
          </a:p>
        </p:txBody>
      </p:sp>
      <p:sp>
        <p:nvSpPr>
          <p:cNvPr id="17" name="TextBox 16"/>
          <p:cNvSpPr txBox="1"/>
          <p:nvPr/>
        </p:nvSpPr>
        <p:spPr>
          <a:xfrm>
            <a:off x="4507992" y="2807208"/>
            <a:ext cx="3163824"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Test out of sample</a:t>
            </a:r>
          </a:p>
        </p:txBody>
      </p:sp>
      <p:sp>
        <p:nvSpPr>
          <p:cNvPr id="18" name="TextBox 17"/>
          <p:cNvSpPr txBox="1"/>
          <p:nvPr/>
        </p:nvSpPr>
        <p:spPr>
          <a:xfrm>
            <a:off x="4507992" y="3749039"/>
            <a:ext cx="3163824" cy="1545336"/>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Use dated inputs and</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an untouched holdout;</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compare with a baseline.</a:t>
            </a:r>
          </a:p>
        </p:txBody>
      </p:sp>
      <p:sp>
        <p:nvSpPr>
          <p:cNvPr id="19" name="Rectangle 18"/>
          <p:cNvSpPr/>
          <p:nvPr/>
        </p:nvSpPr>
        <p:spPr>
          <a:xfrm>
            <a:off x="8193024" y="2240280"/>
            <a:ext cx="3529584" cy="3218688"/>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93024" y="2240280"/>
            <a:ext cx="36576" cy="3218688"/>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75904" y="2404872"/>
            <a:ext cx="3163824"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03</a:t>
            </a:r>
          </a:p>
        </p:txBody>
      </p:sp>
      <p:sp>
        <p:nvSpPr>
          <p:cNvPr id="22" name="TextBox 21"/>
          <p:cNvSpPr txBox="1"/>
          <p:nvPr/>
        </p:nvSpPr>
        <p:spPr>
          <a:xfrm>
            <a:off x="8375904" y="2807208"/>
            <a:ext cx="3163824"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Run a client pilot</a:t>
            </a:r>
          </a:p>
        </p:txBody>
      </p:sp>
      <p:sp>
        <p:nvSpPr>
          <p:cNvPr id="23" name="TextBox 22"/>
          <p:cNvSpPr txBox="1"/>
          <p:nvPr/>
        </p:nvSpPr>
        <p:spPr>
          <a:xfrm>
            <a:off x="8375904" y="3749039"/>
            <a:ext cx="3163824" cy="1545336"/>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Measure decision time,</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net outcomes and</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forecast calibration.</a:t>
            </a:r>
          </a:p>
        </p:txBody>
      </p:sp>
      <p:sp>
        <p:nvSpPr>
          <p:cNvPr id="24" name="Rectangle 23"/>
          <p:cNvSpPr/>
          <p:nvPr/>
        </p:nvSpPr>
        <p:spPr>
          <a:xfrm>
            <a:off x="457200" y="5715000"/>
            <a:ext cx="11274552" cy="502920"/>
          </a:xfrm>
          <a:prstGeom prst="rect">
            <a:avLst/>
          </a:prstGeom>
          <a:solidFill>
            <a:srgbClr val="ED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 y="5833872"/>
            <a:ext cx="10917936" cy="32918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No validated alpha claim today. Agree the benchmark before measuring improvement.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06  /  SYSTEM AND DELIVERY</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A modular system supports a staged client deployment</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Separate data, economic calculations and the dashboard so each layer can be reviewed and extended.</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20</a:t>
            </a:r>
          </a:p>
        </p:txBody>
      </p:sp>
      <p:sp>
        <p:nvSpPr>
          <p:cNvPr id="9" name="Rectangle 8"/>
          <p:cNvSpPr/>
          <p:nvPr/>
        </p:nvSpPr>
        <p:spPr>
          <a:xfrm>
            <a:off x="457200" y="2322576"/>
            <a:ext cx="2642616" cy="240487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 y="2542032"/>
            <a:ext cx="2295144" cy="8046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Data &amp; evidence</a:t>
            </a:r>
          </a:p>
        </p:txBody>
      </p:sp>
      <p:sp>
        <p:nvSpPr>
          <p:cNvPr id="11" name="TextBox 10"/>
          <p:cNvSpPr txBox="1"/>
          <p:nvPr/>
        </p:nvSpPr>
        <p:spPr>
          <a:xfrm>
            <a:off x="630936" y="3648456"/>
            <a:ext cx="2295144" cy="914400"/>
          </a:xfrm>
          <a:prstGeom prst="rect">
            <a:avLst/>
          </a:prstGeom>
          <a:noFill/>
          <a:effectLst/>
        </p:spPr>
        <p:txBody>
          <a:bodyPr wrap="square" lIns="0" tIns="0" rIns="0" bIns="0">
            <a:spAutoFit/>
          </a:bodyPr>
          <a:lstStyle/>
          <a:p>
            <a:pPr algn="l">
              <a:lnSpc>
                <a:spcPct val="108000"/>
              </a:lnSpc>
              <a:spcAft>
                <a:spcPts val="400"/>
              </a:spcAft>
              <a:defRPr sz="1500" b="0">
                <a:solidFill>
                  <a:srgbClr val="202A38"/>
                </a:solidFill>
                <a:latin typeface="IBM Plex Sans"/>
              </a:defRPr>
            </a:pPr>
            <a:r>
              <a:rPr sz="1500" b="0">
                <a:solidFill>
                  <a:srgbClr val="202A38"/>
                </a:solidFill>
                <a:latin typeface="IBM Plex Sans"/>
              </a:rPr>
              <a:t>Asset inputs</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Official market context</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Source provenance</a:t>
            </a:r>
          </a:p>
        </p:txBody>
      </p:sp>
      <p:cxnSp>
        <p:nvCxnSpPr>
          <p:cNvPr id="12" name="Connector 11"/>
          <p:cNvCxnSpPr/>
          <p:nvPr/>
        </p:nvCxnSpPr>
        <p:spPr>
          <a:xfrm>
            <a:off x="3099816" y="3557016"/>
            <a:ext cx="219456"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337560" y="2322576"/>
            <a:ext cx="2642616" cy="240487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11296" y="2542032"/>
            <a:ext cx="2295144" cy="8046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Model engines</a:t>
            </a:r>
          </a:p>
        </p:txBody>
      </p:sp>
      <p:sp>
        <p:nvSpPr>
          <p:cNvPr id="15" name="TextBox 14"/>
          <p:cNvSpPr txBox="1"/>
          <p:nvPr/>
        </p:nvSpPr>
        <p:spPr>
          <a:xfrm>
            <a:off x="3511296" y="3648456"/>
            <a:ext cx="2295144" cy="914400"/>
          </a:xfrm>
          <a:prstGeom prst="rect">
            <a:avLst/>
          </a:prstGeom>
          <a:noFill/>
          <a:effectLst/>
        </p:spPr>
        <p:txBody>
          <a:bodyPr wrap="square" lIns="0" tIns="0" rIns="0" bIns="0">
            <a:spAutoFit/>
          </a:bodyPr>
          <a:lstStyle/>
          <a:p>
            <a:pPr algn="l">
              <a:lnSpc>
                <a:spcPct val="108000"/>
              </a:lnSpc>
              <a:spcAft>
                <a:spcPts val="400"/>
              </a:spcAft>
              <a:defRPr sz="1500" b="0">
                <a:solidFill>
                  <a:srgbClr val="202A38"/>
                </a:solidFill>
                <a:latin typeface="IBM Plex Sans"/>
              </a:defRPr>
            </a:pPr>
            <a:r>
              <a:rPr sz="1500" b="0">
                <a:solidFill>
                  <a:srgbClr val="202A38"/>
                </a:solidFill>
                <a:latin typeface="IBM Plex Sans"/>
              </a:rPr>
              <a:t>Valuation &amp; development</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Scenarios &amp; optimisation</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Readiness checks</a:t>
            </a:r>
          </a:p>
        </p:txBody>
      </p:sp>
      <p:cxnSp>
        <p:nvCxnSpPr>
          <p:cNvPr id="16" name="Connector 15"/>
          <p:cNvCxnSpPr/>
          <p:nvPr/>
        </p:nvCxnSpPr>
        <p:spPr>
          <a:xfrm>
            <a:off x="5980176" y="3557016"/>
            <a:ext cx="219455"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17920" y="2322576"/>
            <a:ext cx="2642616" cy="240487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91656" y="2542032"/>
            <a:ext cx="2295144" cy="8046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Calculation service</a:t>
            </a:r>
          </a:p>
        </p:txBody>
      </p:sp>
      <p:sp>
        <p:nvSpPr>
          <p:cNvPr id="19" name="TextBox 18"/>
          <p:cNvSpPr txBox="1"/>
          <p:nvPr/>
        </p:nvSpPr>
        <p:spPr>
          <a:xfrm>
            <a:off x="6391656" y="3648456"/>
            <a:ext cx="2295144" cy="914400"/>
          </a:xfrm>
          <a:prstGeom prst="rect">
            <a:avLst/>
          </a:prstGeom>
          <a:noFill/>
          <a:effectLst/>
        </p:spPr>
        <p:txBody>
          <a:bodyPr wrap="square" lIns="0" tIns="0" rIns="0" bIns="0">
            <a:spAutoFit/>
          </a:bodyPr>
          <a:lstStyle/>
          <a:p>
            <a:pPr algn="l">
              <a:lnSpc>
                <a:spcPct val="108000"/>
              </a:lnSpc>
              <a:spcAft>
                <a:spcPts val="400"/>
              </a:spcAft>
              <a:defRPr sz="1500" b="0">
                <a:solidFill>
                  <a:srgbClr val="202A38"/>
                </a:solidFill>
                <a:latin typeface="IBM Plex Sans"/>
              </a:defRPr>
            </a:pPr>
            <a:r>
              <a:rPr sz="1500" b="0">
                <a:solidFill>
                  <a:srgbClr val="202A38"/>
                </a:solidFill>
                <a:latin typeface="IBM Plex Sans"/>
              </a:rPr>
              <a:t>Python API</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Bounded requests</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Versioned outputs</a:t>
            </a:r>
          </a:p>
        </p:txBody>
      </p:sp>
      <p:cxnSp>
        <p:nvCxnSpPr>
          <p:cNvPr id="20" name="Connector 19"/>
          <p:cNvCxnSpPr/>
          <p:nvPr/>
        </p:nvCxnSpPr>
        <p:spPr>
          <a:xfrm>
            <a:off x="8860536" y="3557016"/>
            <a:ext cx="219456" cy="0"/>
          </a:xfrm>
          <a:prstGeom prst="line">
            <a:avLst/>
          </a:prstGeom>
          <a:ln w="16510">
            <a:solidFill>
              <a:srgbClr val="0F62FE"/>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098280" y="2322576"/>
            <a:ext cx="2642616" cy="2404872"/>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72015" y="2542032"/>
            <a:ext cx="2295144" cy="804672"/>
          </a:xfrm>
          <a:prstGeom prst="rect">
            <a:avLst/>
          </a:prstGeom>
          <a:noFill/>
          <a:effectLst/>
        </p:spPr>
        <p:txBody>
          <a:bodyPr wrap="square" lIns="0" tIns="0" rIns="0" bIns="0">
            <a:spAutoFit/>
          </a:bodyPr>
          <a:lstStyle/>
          <a:p>
            <a:pPr algn="l">
              <a:lnSpc>
                <a:spcPct val="108000"/>
              </a:lnSpc>
              <a:spcAft>
                <a:spcPts val="400"/>
              </a:spcAft>
              <a:defRPr sz="2200" b="0">
                <a:solidFill>
                  <a:srgbClr val="0F62FE"/>
                </a:solidFill>
                <a:latin typeface="IBM Plex Sans Light"/>
              </a:defRPr>
            </a:pPr>
            <a:r>
              <a:rPr sz="2200" b="0">
                <a:solidFill>
                  <a:srgbClr val="0F62FE"/>
                </a:solidFill>
                <a:latin typeface="IBM Plex Sans Light"/>
              </a:rPr>
              <a:t>Client workspace</a:t>
            </a:r>
          </a:p>
        </p:txBody>
      </p:sp>
      <p:sp>
        <p:nvSpPr>
          <p:cNvPr id="23" name="TextBox 22"/>
          <p:cNvSpPr txBox="1"/>
          <p:nvPr/>
        </p:nvSpPr>
        <p:spPr>
          <a:xfrm>
            <a:off x="9272015" y="3648456"/>
            <a:ext cx="2295144" cy="914400"/>
          </a:xfrm>
          <a:prstGeom prst="rect">
            <a:avLst/>
          </a:prstGeom>
          <a:noFill/>
          <a:effectLst/>
        </p:spPr>
        <p:txBody>
          <a:bodyPr wrap="square" lIns="0" tIns="0" rIns="0" bIns="0">
            <a:spAutoFit/>
          </a:bodyPr>
          <a:lstStyle/>
          <a:p>
            <a:pPr algn="l">
              <a:lnSpc>
                <a:spcPct val="108000"/>
              </a:lnSpc>
              <a:spcAft>
                <a:spcPts val="400"/>
              </a:spcAft>
              <a:defRPr sz="1500" b="0">
                <a:solidFill>
                  <a:srgbClr val="202A38"/>
                </a:solidFill>
                <a:latin typeface="IBM Plex Sans"/>
              </a:defRPr>
            </a:pPr>
            <a:r>
              <a:rPr sz="1500" b="0">
                <a:solidFill>
                  <a:srgbClr val="202A38"/>
                </a:solidFill>
                <a:latin typeface="IBM Plex Sans"/>
              </a:rPr>
              <a:t>Interactive charts</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Decision comparisons</a:t>
            </a:r>
          </a:p>
          <a:p>
            <a:pPr algn="l">
              <a:lnSpc>
                <a:spcPct val="108000"/>
              </a:lnSpc>
              <a:spcAft>
                <a:spcPts val="400"/>
              </a:spcAft>
              <a:defRPr sz="1500" b="0">
                <a:solidFill>
                  <a:srgbClr val="202A38"/>
                </a:solidFill>
                <a:latin typeface="IBM Plex Sans"/>
              </a:defRPr>
            </a:pPr>
            <a:r>
              <a:rPr sz="1500" b="0">
                <a:solidFill>
                  <a:srgbClr val="202A38"/>
                </a:solidFill>
                <a:latin typeface="IBM Plex Sans"/>
              </a:rPr>
              <a:t>Word / PDF reporting</a:t>
            </a:r>
          </a:p>
        </p:txBody>
      </p:sp>
      <p:sp>
        <p:nvSpPr>
          <p:cNvPr id="24" name="Rectangle 23"/>
          <p:cNvSpPr/>
          <p:nvPr/>
        </p:nvSpPr>
        <p:spPr>
          <a:xfrm>
            <a:off x="457200" y="5074920"/>
            <a:ext cx="5513832" cy="841248"/>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 y="5239512"/>
            <a:ext cx="5129784" cy="493776"/>
          </a:xfrm>
          <a:prstGeom prst="rect">
            <a:avLst/>
          </a:prstGeom>
          <a:noFill/>
          <a:effectLst/>
        </p:spPr>
        <p:txBody>
          <a:bodyPr wrap="square" lIns="0" tIns="0" rIns="0" bIns="0">
            <a:spAutoFit/>
          </a:bodyPr>
          <a:lstStyle/>
          <a:p>
            <a:pPr algn="l">
              <a:lnSpc>
                <a:spcPct val="108000"/>
              </a:lnSpc>
              <a:spcAft>
                <a:spcPts val="400"/>
              </a:spcAft>
              <a:defRPr sz="1400" b="0">
                <a:solidFill>
                  <a:srgbClr val="202A38"/>
                </a:solidFill>
                <a:latin typeface="IBM Plex Sans"/>
              </a:defRPr>
            </a:pPr>
            <a:r>
              <a:rPr sz="1400" b="0">
                <a:solidFill>
                  <a:srgbClr val="202A38"/>
                </a:solidFill>
                <a:latin typeface="IBM Plex Sans"/>
              </a:rPr>
              <a:t>Available now</a:t>
            </a:r>
          </a:p>
          <a:p>
            <a:pPr algn="l">
              <a:lnSpc>
                <a:spcPct val="108000"/>
              </a:lnSpc>
              <a:spcAft>
                <a:spcPts val="400"/>
              </a:spcAft>
              <a:defRPr sz="1400" b="0">
                <a:solidFill>
                  <a:srgbClr val="202A38"/>
                </a:solidFill>
                <a:latin typeface="IBM Plex Sans"/>
              </a:defRPr>
            </a:pPr>
            <a:r>
              <a:rPr sz="1400" b="0">
                <a:solidFill>
                  <a:srgbClr val="202A38"/>
                </a:solidFill>
                <a:latin typeface="IBM Plex Sans"/>
              </a:rPr>
              <a:t>Public saved results; local live calculations</a:t>
            </a:r>
          </a:p>
        </p:txBody>
      </p:sp>
      <p:sp>
        <p:nvSpPr>
          <p:cNvPr id="26" name="Rectangle 25"/>
          <p:cNvSpPr/>
          <p:nvPr/>
        </p:nvSpPr>
        <p:spPr>
          <a:xfrm>
            <a:off x="6199632" y="5074920"/>
            <a:ext cx="5532120" cy="841248"/>
          </a:xfrm>
          <a:prstGeom prst="rect">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82512" y="5239512"/>
            <a:ext cx="5138928" cy="493776"/>
          </a:xfrm>
          <a:prstGeom prst="rect">
            <a:avLst/>
          </a:prstGeom>
          <a:noFill/>
          <a:effectLst/>
        </p:spPr>
        <p:txBody>
          <a:bodyPr wrap="square" lIns="0" tIns="0" rIns="0" bIns="0">
            <a:spAutoFit/>
          </a:bodyPr>
          <a:lstStyle/>
          <a:p>
            <a:pPr algn="l">
              <a:lnSpc>
                <a:spcPct val="108000"/>
              </a:lnSpc>
              <a:spcAft>
                <a:spcPts val="400"/>
              </a:spcAft>
              <a:defRPr sz="1400" b="0">
                <a:solidFill>
                  <a:srgbClr val="995910"/>
                </a:solidFill>
                <a:latin typeface="IBM Plex Sans"/>
              </a:defRPr>
            </a:pPr>
            <a:r>
              <a:rPr sz="1400" b="0">
                <a:solidFill>
                  <a:srgbClr val="995910"/>
                </a:solidFill>
                <a:latin typeface="IBM Plex Sans"/>
              </a:rPr>
              <a:t>Deployment step</a:t>
            </a:r>
          </a:p>
          <a:p>
            <a:pPr algn="l">
              <a:lnSpc>
                <a:spcPct val="108000"/>
              </a:lnSpc>
              <a:spcAft>
                <a:spcPts val="400"/>
              </a:spcAft>
              <a:defRPr sz="1400" b="0">
                <a:solidFill>
                  <a:srgbClr val="995910"/>
                </a:solidFill>
                <a:latin typeface="IBM Plex Sans"/>
              </a:defRPr>
            </a:pPr>
            <a:r>
              <a:rPr sz="1400" b="0">
                <a:solidFill>
                  <a:srgbClr val="995910"/>
                </a:solidFill>
                <a:latin typeface="IBM Plex Sans"/>
              </a:rPr>
              <a:t>Connect Render; scope client security and operations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06  /  CLIENT PILOT PROPOSAL</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Start with a pilot that has measurable acceptance criteria</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Proposed scope: a small, representative asset set and one agreed investment decision mandate.</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21</a:t>
            </a:r>
          </a:p>
        </p:txBody>
      </p:sp>
      <p:sp>
        <p:nvSpPr>
          <p:cNvPr id="9" name="Rectangle 8"/>
          <p:cNvSpPr/>
          <p:nvPr/>
        </p:nvSpPr>
        <p:spPr>
          <a:xfrm>
            <a:off x="457200" y="2240280"/>
            <a:ext cx="3529584" cy="3072384"/>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240280"/>
            <a:ext cx="36576" cy="3072384"/>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404872"/>
            <a:ext cx="3163824"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GATE 1</a:t>
            </a:r>
          </a:p>
        </p:txBody>
      </p:sp>
      <p:sp>
        <p:nvSpPr>
          <p:cNvPr id="12" name="TextBox 11"/>
          <p:cNvSpPr txBox="1"/>
          <p:nvPr/>
        </p:nvSpPr>
        <p:spPr>
          <a:xfrm>
            <a:off x="640080" y="2807208"/>
            <a:ext cx="3163824"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Establish the baseline</a:t>
            </a:r>
          </a:p>
        </p:txBody>
      </p:sp>
      <p:sp>
        <p:nvSpPr>
          <p:cNvPr id="13" name="TextBox 12"/>
          <p:cNvSpPr txBox="1"/>
          <p:nvPr/>
        </p:nvSpPr>
        <p:spPr>
          <a:xfrm>
            <a:off x="640080" y="3749039"/>
            <a:ext cx="3163824" cy="1399031"/>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Validate source data.</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Reproduce current</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underwriting decisions.</a:t>
            </a:r>
          </a:p>
        </p:txBody>
      </p:sp>
      <p:sp>
        <p:nvSpPr>
          <p:cNvPr id="14" name="Rectangle 13"/>
          <p:cNvSpPr/>
          <p:nvPr/>
        </p:nvSpPr>
        <p:spPr>
          <a:xfrm>
            <a:off x="4325112" y="2240280"/>
            <a:ext cx="3529584" cy="3072384"/>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25112" y="2240280"/>
            <a:ext cx="36576" cy="3072384"/>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07992" y="2404872"/>
            <a:ext cx="3163824"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GATE 2</a:t>
            </a:r>
          </a:p>
        </p:txBody>
      </p:sp>
      <p:sp>
        <p:nvSpPr>
          <p:cNvPr id="17" name="TextBox 16"/>
          <p:cNvSpPr txBox="1"/>
          <p:nvPr/>
        </p:nvSpPr>
        <p:spPr>
          <a:xfrm>
            <a:off x="4507992" y="2807208"/>
            <a:ext cx="3163824"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Review real alternatives</a:t>
            </a:r>
          </a:p>
        </p:txBody>
      </p:sp>
      <p:sp>
        <p:nvSpPr>
          <p:cNvPr id="18" name="TextBox 17"/>
          <p:cNvSpPr txBox="1"/>
          <p:nvPr/>
        </p:nvSpPr>
        <p:spPr>
          <a:xfrm>
            <a:off x="4507992" y="3749039"/>
            <a:ext cx="3163824" cy="1399031"/>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Run agreed scenarios.</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Explain differences and</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resolve material gaps.</a:t>
            </a:r>
          </a:p>
        </p:txBody>
      </p:sp>
      <p:sp>
        <p:nvSpPr>
          <p:cNvPr id="19" name="Rectangle 18"/>
          <p:cNvSpPr/>
          <p:nvPr/>
        </p:nvSpPr>
        <p:spPr>
          <a:xfrm>
            <a:off x="8193024" y="2240280"/>
            <a:ext cx="3529584" cy="3072384"/>
          </a:xfrm>
          <a:prstGeom prst="rect">
            <a:avLst/>
          </a:prstGeom>
          <a:solidFill>
            <a:srgbClr val="EDF5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93024" y="2240280"/>
            <a:ext cx="36576" cy="3072384"/>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75904" y="2404872"/>
            <a:ext cx="3163824" cy="256032"/>
          </a:xfrm>
          <a:prstGeom prst="rect">
            <a:avLst/>
          </a:prstGeom>
          <a:noFill/>
          <a:effectLst/>
        </p:spPr>
        <p:txBody>
          <a:bodyPr wrap="square" lIns="0" tIns="0" rIns="0" bIns="0">
            <a:spAutoFit/>
          </a:bodyPr>
          <a:lstStyle/>
          <a:p>
            <a:pPr algn="l">
              <a:lnSpc>
                <a:spcPct val="108000"/>
              </a:lnSpc>
              <a:spcAft>
                <a:spcPts val="400"/>
              </a:spcAft>
              <a:defRPr sz="1100" b="0">
                <a:solidFill>
                  <a:srgbClr val="0F62FE"/>
                </a:solidFill>
                <a:latin typeface="IBM Plex Sans"/>
              </a:defRPr>
            </a:pPr>
            <a:r>
              <a:rPr sz="1100" b="0">
                <a:solidFill>
                  <a:srgbClr val="0F62FE"/>
                </a:solidFill>
                <a:latin typeface="IBM Plex Sans"/>
              </a:rPr>
              <a:t>GATE 3</a:t>
            </a:r>
          </a:p>
        </p:txBody>
      </p:sp>
      <p:sp>
        <p:nvSpPr>
          <p:cNvPr id="22" name="TextBox 21"/>
          <p:cNvSpPr txBox="1"/>
          <p:nvPr/>
        </p:nvSpPr>
        <p:spPr>
          <a:xfrm>
            <a:off x="8375904" y="2807208"/>
            <a:ext cx="3163824" cy="777240"/>
          </a:xfrm>
          <a:prstGeom prst="rect">
            <a:avLst/>
          </a:prstGeom>
          <a:noFill/>
          <a:effectLst/>
        </p:spPr>
        <p:txBody>
          <a:bodyPr wrap="square" lIns="0" tIns="0" rIns="0" bIns="0">
            <a:spAutoFit/>
          </a:bodyPr>
          <a:lstStyle/>
          <a:p>
            <a:pPr algn="l">
              <a:lnSpc>
                <a:spcPct val="108000"/>
              </a:lnSpc>
              <a:spcAft>
                <a:spcPts val="400"/>
              </a:spcAft>
              <a:defRPr sz="2300" b="0">
                <a:solidFill>
                  <a:srgbClr val="202A38"/>
                </a:solidFill>
                <a:latin typeface="IBM Plex Sans Light"/>
              </a:defRPr>
            </a:pPr>
            <a:r>
              <a:rPr sz="2300" b="0">
                <a:solidFill>
                  <a:srgbClr val="202A38"/>
                </a:solidFill>
                <a:latin typeface="IBM Plex Sans Light"/>
              </a:rPr>
              <a:t>Measure and decide</a:t>
            </a:r>
          </a:p>
        </p:txBody>
      </p:sp>
      <p:sp>
        <p:nvSpPr>
          <p:cNvPr id="23" name="TextBox 22"/>
          <p:cNvSpPr txBox="1"/>
          <p:nvPr/>
        </p:nvSpPr>
        <p:spPr>
          <a:xfrm>
            <a:off x="8375904" y="3749039"/>
            <a:ext cx="3163824" cy="1399031"/>
          </a:xfrm>
          <a:prstGeom prst="rect">
            <a:avLst/>
          </a:prstGeom>
          <a:noFill/>
          <a:effectLst/>
        </p:spPr>
        <p:txBody>
          <a:bodyPr wrap="square" lIns="0" tIns="0" rIns="0" bIns="0">
            <a:spAutoFit/>
          </a:bodyPr>
          <a:lstStyle/>
          <a:p>
            <a:pPr algn="l">
              <a:lnSpc>
                <a:spcPct val="108000"/>
              </a:lnSpc>
              <a:spcAft>
                <a:spcPts val="400"/>
              </a:spcAft>
              <a:defRPr sz="1600" b="0">
                <a:solidFill>
                  <a:srgbClr val="5B6573"/>
                </a:solidFill>
                <a:latin typeface="IBM Plex Sans"/>
              </a:defRPr>
            </a:pPr>
            <a:r>
              <a:rPr sz="1600" b="0">
                <a:solidFill>
                  <a:srgbClr val="5B6573"/>
                </a:solidFill>
                <a:latin typeface="IBM Plex Sans"/>
              </a:rPr>
              <a:t>Compare with the baseline.</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Accept, refine or stop</a:t>
            </a:r>
          </a:p>
          <a:p>
            <a:pPr algn="l">
              <a:lnSpc>
                <a:spcPct val="108000"/>
              </a:lnSpc>
              <a:spcAft>
                <a:spcPts val="400"/>
              </a:spcAft>
              <a:defRPr sz="1600" b="0">
                <a:solidFill>
                  <a:srgbClr val="5B6573"/>
                </a:solidFill>
                <a:latin typeface="IBM Plex Sans"/>
              </a:defRPr>
            </a:pPr>
            <a:r>
              <a:rPr sz="1600" b="0">
                <a:solidFill>
                  <a:srgbClr val="5B6573"/>
                </a:solidFill>
                <a:latin typeface="IBM Plex Sans"/>
              </a:rPr>
              <a:t>before wider rollout.</a:t>
            </a:r>
          </a:p>
        </p:txBody>
      </p:sp>
      <p:sp>
        <p:nvSpPr>
          <p:cNvPr id="24" name="TextBox 23"/>
          <p:cNvSpPr txBox="1"/>
          <p:nvPr/>
        </p:nvSpPr>
        <p:spPr>
          <a:xfrm>
            <a:off x="640080" y="5623560"/>
            <a:ext cx="10972800" cy="429768"/>
          </a:xfrm>
          <a:prstGeom prst="rect">
            <a:avLst/>
          </a:prstGeom>
          <a:noFill/>
          <a:effectLst/>
        </p:spPr>
        <p:txBody>
          <a:bodyPr wrap="square" lIns="0" tIns="0" rIns="0" bIns="0">
            <a:spAutoFit/>
          </a:bodyPr>
          <a:lstStyle/>
          <a:p>
            <a:pPr algn="l">
              <a:lnSpc>
                <a:spcPct val="108000"/>
              </a:lnSpc>
              <a:spcAft>
                <a:spcPts val="400"/>
              </a:spcAft>
              <a:defRPr sz="1900" b="0">
                <a:solidFill>
                  <a:srgbClr val="0F62FE"/>
                </a:solidFill>
                <a:latin typeface="IBM Plex Sans"/>
              </a:defRPr>
            </a:pPr>
            <a:r>
              <a:rPr sz="1900" b="0">
                <a:solidFill>
                  <a:srgbClr val="0F62FE"/>
                </a:solidFill>
                <a:latin typeface="IBM Plex Sans"/>
              </a:rPr>
              <a:t>Measure: review time   •   verified inputs   •   reconciliation   •   decision quality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0789920" cy="210312"/>
          </a:xfrm>
          <a:prstGeom prst="rect">
            <a:avLst/>
          </a:prstGeom>
          <a:noFill/>
          <a:effectLst/>
        </p:spPr>
        <p:txBody>
          <a:bodyPr wrap="square" lIns="0" tIns="0" rIns="0" bIns="0">
            <a:spAutoFit/>
          </a:bodyPr>
          <a:lstStyle/>
          <a:p>
            <a:pPr algn="l">
              <a:lnSpc>
                <a:spcPct val="108000"/>
              </a:lnSpc>
              <a:spcAft>
                <a:spcPts val="400"/>
              </a:spcAft>
              <a:defRPr sz="1000" b="0">
                <a:solidFill>
                  <a:srgbClr val="0F62FE"/>
                </a:solidFill>
                <a:latin typeface="IBM Plex Sans"/>
              </a:defRPr>
            </a:pPr>
            <a:r>
              <a:rPr sz="1000" b="0">
                <a:solidFill>
                  <a:srgbClr val="0F62FE"/>
                </a:solidFill>
                <a:latin typeface="IBM Plex Sans"/>
              </a:rPr>
              <a:t>07  /  NEXT DISCUSSION</a:t>
            </a:r>
          </a:p>
        </p:txBody>
      </p:sp>
      <p:sp>
        <p:nvSpPr>
          <p:cNvPr id="3" name="TextBox 2"/>
          <p:cNvSpPr txBox="1"/>
          <p:nvPr/>
        </p:nvSpPr>
        <p:spPr>
          <a:xfrm>
            <a:off x="457200" y="585216"/>
            <a:ext cx="11201400" cy="713232"/>
          </a:xfrm>
          <a:prstGeom prst="rect">
            <a:avLst/>
          </a:prstGeom>
          <a:noFill/>
          <a:effectLst/>
        </p:spPr>
        <p:txBody>
          <a:bodyPr wrap="square" lIns="0" tIns="0" rIns="0" bIns="0">
            <a:spAutoFit/>
          </a:bodyPr>
          <a:lstStyle/>
          <a:p>
            <a:pPr algn="l">
              <a:lnSpc>
                <a:spcPct val="108000"/>
              </a:lnSpc>
              <a:spcAft>
                <a:spcPts val="400"/>
              </a:spcAft>
              <a:defRPr sz="3000" b="0">
                <a:solidFill>
                  <a:srgbClr val="202A38"/>
                </a:solidFill>
                <a:latin typeface="IBM Plex Sans Light"/>
              </a:defRPr>
            </a:pPr>
            <a:r>
              <a:rPr sz="3000" b="0">
                <a:solidFill>
                  <a:srgbClr val="202A38"/>
                </a:solidFill>
                <a:latin typeface="IBM Plex Sans Light"/>
              </a:rPr>
              <a:t>Start with one portfolio and one decision mandate</a:t>
            </a:r>
          </a:p>
        </p:txBody>
      </p:sp>
      <p:sp>
        <p:nvSpPr>
          <p:cNvPr id="4" name="TextBox 3"/>
          <p:cNvSpPr txBox="1"/>
          <p:nvPr/>
        </p:nvSpPr>
        <p:spPr>
          <a:xfrm>
            <a:off x="475488" y="1298448"/>
            <a:ext cx="10972800" cy="438912"/>
          </a:xfrm>
          <a:prstGeom prst="rect">
            <a:avLst/>
          </a:prstGeom>
          <a:noFill/>
          <a:effectLst/>
        </p:spPr>
        <p:txBody>
          <a:bodyPr wrap="square" lIns="0" tIns="0" rIns="0" bIns="0">
            <a:spAutoFit/>
          </a:bodyPr>
          <a:lstStyle/>
          <a:p>
            <a:pPr algn="l">
              <a:lnSpc>
                <a:spcPct val="108000"/>
              </a:lnSpc>
              <a:spcAft>
                <a:spcPts val="400"/>
              </a:spcAft>
              <a:defRPr sz="1500" b="0">
                <a:solidFill>
                  <a:srgbClr val="5B6573"/>
                </a:solidFill>
                <a:latin typeface="IBM Plex Sans"/>
              </a:defRPr>
            </a:pPr>
            <a:r>
              <a:rPr sz="1500" b="0">
                <a:solidFill>
                  <a:srgbClr val="5B6573"/>
                </a:solidFill>
                <a:latin typeface="IBM Plex Sans"/>
              </a:rPr>
              <a:t>A focused proof of value can show which decisions improve — and what evidence is still missing.</a:t>
            </a:r>
          </a:p>
        </p:txBody>
      </p:sp>
      <p:cxnSp>
        <p:nvCxnSpPr>
          <p:cNvPr id="5" name="Connector 4"/>
          <p:cNvCxnSpPr/>
          <p:nvPr/>
        </p:nvCxnSpPr>
        <p:spPr>
          <a:xfrm>
            <a:off x="457200" y="1819656"/>
            <a:ext cx="11274552" cy="0"/>
          </a:xfrm>
          <a:prstGeom prst="line">
            <a:avLst/>
          </a:prstGeom>
          <a:ln w="11430">
            <a:solidFill>
              <a:srgbClr val="0F62F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 y="6409944"/>
            <a:ext cx="11274552" cy="0"/>
          </a:xfrm>
          <a:prstGeom prst="line">
            <a:avLst/>
          </a:prstGeom>
          <a:ln w="762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66344" y="6492240"/>
            <a:ext cx="10515600" cy="210312"/>
          </a:xfrm>
          <a:prstGeom prst="rect">
            <a:avLst/>
          </a:prstGeom>
          <a:noFill/>
          <a:effectLst/>
        </p:spPr>
        <p:txBody>
          <a:bodyPr wrap="square" lIns="0" tIns="0" rIns="0" bIns="0">
            <a:spAutoFit/>
          </a:bodyPr>
          <a:lstStyle/>
          <a:p>
            <a:pPr algn="l">
              <a:lnSpc>
                <a:spcPct val="108000"/>
              </a:lnSpc>
              <a:spcAft>
                <a:spcPts val="400"/>
              </a:spcAft>
              <a:defRPr sz="900" b="0">
                <a:solidFill>
                  <a:srgbClr val="5B6573"/>
                </a:solidFill>
                <a:latin typeface="IBM Plex Sans"/>
              </a:defRPr>
            </a:pPr>
            <a:r>
              <a:rPr sz="900" b="0">
                <a:solidFill>
                  <a:srgbClr val="5B6573"/>
                </a:solidFill>
                <a:latin typeface="IBM Plex Sans"/>
              </a:rPr>
              <a:t>Real Estate Portfolio Intelligence  |  Client discussion  |  September 2026</a:t>
            </a:r>
          </a:p>
        </p:txBody>
      </p:sp>
      <p:sp>
        <p:nvSpPr>
          <p:cNvPr id="8" name="TextBox 7"/>
          <p:cNvSpPr txBox="1"/>
          <p:nvPr/>
        </p:nvSpPr>
        <p:spPr>
          <a:xfrm>
            <a:off x="11292840" y="6473952"/>
            <a:ext cx="438912" cy="228600"/>
          </a:xfrm>
          <a:prstGeom prst="rect">
            <a:avLst/>
          </a:prstGeom>
          <a:noFill/>
          <a:effectLst/>
        </p:spPr>
        <p:txBody>
          <a:bodyPr wrap="square" lIns="0" tIns="0" rIns="0" bIns="0">
            <a:spAutoFit/>
          </a:bodyPr>
          <a:lstStyle/>
          <a:p>
            <a:pPr algn="r">
              <a:lnSpc>
                <a:spcPct val="108000"/>
              </a:lnSpc>
              <a:spcAft>
                <a:spcPts val="400"/>
              </a:spcAft>
              <a:defRPr sz="1000" b="0">
                <a:solidFill>
                  <a:srgbClr val="5B6573"/>
                </a:solidFill>
                <a:latin typeface="IBM Plex Sans"/>
              </a:defRPr>
            </a:pPr>
            <a:r>
              <a:rPr sz="1000" b="0">
                <a:solidFill>
                  <a:srgbClr val="5B6573"/>
                </a:solidFill>
                <a:latin typeface="IBM Plex Sans"/>
              </a:rPr>
              <a:t>22</a:t>
            </a:r>
          </a:p>
        </p:txBody>
      </p:sp>
      <p:sp>
        <p:nvSpPr>
          <p:cNvPr id="9" name="Oval 8"/>
          <p:cNvSpPr/>
          <p:nvPr/>
        </p:nvSpPr>
        <p:spPr>
          <a:xfrm>
            <a:off x="530352" y="2514600"/>
            <a:ext cx="448056" cy="448056"/>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3503" y="2615184"/>
            <a:ext cx="301752" cy="219456"/>
          </a:xfrm>
          <a:prstGeom prst="rect">
            <a:avLst/>
          </a:prstGeom>
          <a:noFill/>
          <a:effectLst/>
        </p:spPr>
        <p:txBody>
          <a:bodyPr wrap="square" lIns="0" tIns="0" rIns="0" bIns="0">
            <a:spAutoFit/>
          </a:bodyPr>
          <a:lstStyle/>
          <a:p>
            <a:pPr algn="ctr">
              <a:lnSpc>
                <a:spcPct val="108000"/>
              </a:lnSpc>
              <a:spcAft>
                <a:spcPts val="400"/>
              </a:spcAft>
              <a:defRPr sz="1200" b="0">
                <a:solidFill>
                  <a:srgbClr val="FFFFFF"/>
                </a:solidFill>
                <a:latin typeface="IBM Plex Sans"/>
              </a:defRPr>
            </a:pPr>
            <a:r>
              <a:rPr sz="1200" b="0">
                <a:solidFill>
                  <a:srgbClr val="FFFFFF"/>
                </a:solidFill>
                <a:latin typeface="IBM Plex Sans"/>
              </a:rPr>
              <a:t>01</a:t>
            </a:r>
          </a:p>
        </p:txBody>
      </p:sp>
      <p:sp>
        <p:nvSpPr>
          <p:cNvPr id="11" name="TextBox 10"/>
          <p:cNvSpPr txBox="1"/>
          <p:nvPr/>
        </p:nvSpPr>
        <p:spPr>
          <a:xfrm>
            <a:off x="530352" y="3227832"/>
            <a:ext cx="3374136" cy="640080"/>
          </a:xfrm>
          <a:prstGeom prst="rect">
            <a:avLst/>
          </a:prstGeom>
          <a:noFill/>
          <a:effectLst/>
        </p:spPr>
        <p:txBody>
          <a:bodyPr wrap="square" lIns="0" tIns="0" rIns="0" bIns="0">
            <a:spAutoFit/>
          </a:bodyPr>
          <a:lstStyle/>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Choose the assets</a:t>
            </a:r>
          </a:p>
        </p:txBody>
      </p:sp>
      <p:sp>
        <p:nvSpPr>
          <p:cNvPr id="12" name="TextBox 11"/>
          <p:cNvSpPr txBox="1"/>
          <p:nvPr/>
        </p:nvSpPr>
        <p:spPr>
          <a:xfrm>
            <a:off x="530352" y="4041648"/>
            <a:ext cx="3374136" cy="795528"/>
          </a:xfrm>
          <a:prstGeom prst="rect">
            <a:avLst/>
          </a:prstGeom>
          <a:noFill/>
          <a:effectLst/>
        </p:spPr>
        <p:txBody>
          <a:bodyPr wrap="square" lIns="0" tIns="0" rIns="0" bIns="0">
            <a:spAutoFit/>
          </a:bodyPr>
          <a:lstStyle/>
          <a:p>
            <a:pPr algn="l">
              <a:lnSpc>
                <a:spcPct val="108000"/>
              </a:lnSpc>
              <a:spcAft>
                <a:spcPts val="400"/>
              </a:spcAft>
              <a:defRPr sz="1900" b="0">
                <a:solidFill>
                  <a:srgbClr val="5B6573"/>
                </a:solidFill>
                <a:latin typeface="IBM Plex Sans"/>
              </a:defRPr>
            </a:pPr>
            <a:r>
              <a:rPr sz="1900" b="0">
                <a:solidFill>
                  <a:srgbClr val="5B6573"/>
                </a:solidFill>
                <a:latin typeface="IBM Plex Sans"/>
              </a:rPr>
              <a:t>A representative sample</a:t>
            </a:r>
          </a:p>
          <a:p>
            <a:pPr algn="l">
              <a:lnSpc>
                <a:spcPct val="108000"/>
              </a:lnSpc>
              <a:spcAft>
                <a:spcPts val="400"/>
              </a:spcAft>
              <a:defRPr sz="1900" b="0">
                <a:solidFill>
                  <a:srgbClr val="5B6573"/>
                </a:solidFill>
                <a:latin typeface="IBM Plex Sans"/>
              </a:defRPr>
            </a:pPr>
            <a:r>
              <a:rPr sz="1900" b="0">
                <a:solidFill>
                  <a:srgbClr val="5B6573"/>
                </a:solidFill>
                <a:latin typeface="IBM Plex Sans"/>
              </a:rPr>
              <a:t>with accessible records.</a:t>
            </a:r>
          </a:p>
        </p:txBody>
      </p:sp>
      <p:sp>
        <p:nvSpPr>
          <p:cNvPr id="13" name="Oval 12"/>
          <p:cNvSpPr/>
          <p:nvPr/>
        </p:nvSpPr>
        <p:spPr>
          <a:xfrm>
            <a:off x="4379976" y="2514600"/>
            <a:ext cx="448056" cy="448056"/>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53128" y="2615184"/>
            <a:ext cx="301752" cy="219456"/>
          </a:xfrm>
          <a:prstGeom prst="rect">
            <a:avLst/>
          </a:prstGeom>
          <a:noFill/>
          <a:effectLst/>
        </p:spPr>
        <p:txBody>
          <a:bodyPr wrap="square" lIns="0" tIns="0" rIns="0" bIns="0">
            <a:spAutoFit/>
          </a:bodyPr>
          <a:lstStyle/>
          <a:p>
            <a:pPr algn="ctr">
              <a:lnSpc>
                <a:spcPct val="108000"/>
              </a:lnSpc>
              <a:spcAft>
                <a:spcPts val="400"/>
              </a:spcAft>
              <a:defRPr sz="1200" b="0">
                <a:solidFill>
                  <a:srgbClr val="FFFFFF"/>
                </a:solidFill>
                <a:latin typeface="IBM Plex Sans"/>
              </a:defRPr>
            </a:pPr>
            <a:r>
              <a:rPr sz="1200" b="0">
                <a:solidFill>
                  <a:srgbClr val="FFFFFF"/>
                </a:solidFill>
                <a:latin typeface="IBM Plex Sans"/>
              </a:rPr>
              <a:t>02</a:t>
            </a:r>
          </a:p>
        </p:txBody>
      </p:sp>
      <p:sp>
        <p:nvSpPr>
          <p:cNvPr id="15" name="TextBox 14"/>
          <p:cNvSpPr txBox="1"/>
          <p:nvPr/>
        </p:nvSpPr>
        <p:spPr>
          <a:xfrm>
            <a:off x="4379976" y="3227832"/>
            <a:ext cx="3374136" cy="640080"/>
          </a:xfrm>
          <a:prstGeom prst="rect">
            <a:avLst/>
          </a:prstGeom>
          <a:noFill/>
          <a:effectLst/>
        </p:spPr>
        <p:txBody>
          <a:bodyPr wrap="square" lIns="0" tIns="0" rIns="0" bIns="0">
            <a:spAutoFit/>
          </a:bodyPr>
          <a:lstStyle/>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Define the mandate</a:t>
            </a:r>
          </a:p>
        </p:txBody>
      </p:sp>
      <p:sp>
        <p:nvSpPr>
          <p:cNvPr id="16" name="TextBox 15"/>
          <p:cNvSpPr txBox="1"/>
          <p:nvPr/>
        </p:nvSpPr>
        <p:spPr>
          <a:xfrm>
            <a:off x="4379976" y="4041648"/>
            <a:ext cx="3374136" cy="795528"/>
          </a:xfrm>
          <a:prstGeom prst="rect">
            <a:avLst/>
          </a:prstGeom>
          <a:noFill/>
          <a:effectLst/>
        </p:spPr>
        <p:txBody>
          <a:bodyPr wrap="square" lIns="0" tIns="0" rIns="0" bIns="0">
            <a:spAutoFit/>
          </a:bodyPr>
          <a:lstStyle/>
          <a:p>
            <a:pPr algn="l">
              <a:lnSpc>
                <a:spcPct val="108000"/>
              </a:lnSpc>
              <a:spcAft>
                <a:spcPts val="400"/>
              </a:spcAft>
              <a:defRPr sz="1900" b="0">
                <a:solidFill>
                  <a:srgbClr val="5B6573"/>
                </a:solidFill>
                <a:latin typeface="IBM Plex Sans"/>
              </a:defRPr>
            </a:pPr>
            <a:r>
              <a:rPr sz="1900" b="0">
                <a:solidFill>
                  <a:srgbClr val="5B6573"/>
                </a:solidFill>
                <a:latin typeface="IBM Plex Sans"/>
              </a:rPr>
              <a:t>Return, risk, income</a:t>
            </a:r>
          </a:p>
          <a:p>
            <a:pPr algn="l">
              <a:lnSpc>
                <a:spcPct val="108000"/>
              </a:lnSpc>
              <a:spcAft>
                <a:spcPts val="400"/>
              </a:spcAft>
              <a:defRPr sz="1900" b="0">
                <a:solidFill>
                  <a:srgbClr val="5B6573"/>
                </a:solidFill>
                <a:latin typeface="IBM Plex Sans"/>
              </a:defRPr>
            </a:pPr>
            <a:r>
              <a:rPr sz="1900" b="0">
                <a:solidFill>
                  <a:srgbClr val="5B6573"/>
                </a:solidFill>
                <a:latin typeface="IBM Plex Sans"/>
              </a:rPr>
              <a:t>and liquidity priorities.</a:t>
            </a:r>
          </a:p>
        </p:txBody>
      </p:sp>
      <p:sp>
        <p:nvSpPr>
          <p:cNvPr id="17" name="Oval 16"/>
          <p:cNvSpPr/>
          <p:nvPr/>
        </p:nvSpPr>
        <p:spPr>
          <a:xfrm>
            <a:off x="8229600" y="2514600"/>
            <a:ext cx="448056" cy="448056"/>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2615184"/>
            <a:ext cx="301752" cy="219456"/>
          </a:xfrm>
          <a:prstGeom prst="rect">
            <a:avLst/>
          </a:prstGeom>
          <a:noFill/>
          <a:effectLst/>
        </p:spPr>
        <p:txBody>
          <a:bodyPr wrap="square" lIns="0" tIns="0" rIns="0" bIns="0">
            <a:spAutoFit/>
          </a:bodyPr>
          <a:lstStyle/>
          <a:p>
            <a:pPr algn="ctr">
              <a:lnSpc>
                <a:spcPct val="108000"/>
              </a:lnSpc>
              <a:spcAft>
                <a:spcPts val="400"/>
              </a:spcAft>
              <a:defRPr sz="1200" b="0">
                <a:solidFill>
                  <a:srgbClr val="FFFFFF"/>
                </a:solidFill>
                <a:latin typeface="IBM Plex Sans"/>
              </a:defRPr>
            </a:pPr>
            <a:r>
              <a:rPr sz="1200" b="0">
                <a:solidFill>
                  <a:srgbClr val="FFFFFF"/>
                </a:solidFill>
                <a:latin typeface="IBM Plex Sans"/>
              </a:rPr>
              <a:t>03</a:t>
            </a:r>
          </a:p>
        </p:txBody>
      </p:sp>
      <p:sp>
        <p:nvSpPr>
          <p:cNvPr id="19" name="TextBox 18"/>
          <p:cNvSpPr txBox="1"/>
          <p:nvPr/>
        </p:nvSpPr>
        <p:spPr>
          <a:xfrm>
            <a:off x="8229600" y="3227832"/>
            <a:ext cx="3374136" cy="640080"/>
          </a:xfrm>
          <a:prstGeom prst="rect">
            <a:avLst/>
          </a:prstGeom>
          <a:noFill/>
          <a:effectLst/>
        </p:spPr>
        <p:txBody>
          <a:bodyPr wrap="square" lIns="0" tIns="0" rIns="0" bIns="0">
            <a:spAutoFit/>
          </a:bodyPr>
          <a:lstStyle/>
          <a:p>
            <a:pPr algn="l">
              <a:lnSpc>
                <a:spcPct val="108000"/>
              </a:lnSpc>
              <a:spcAft>
                <a:spcPts val="400"/>
              </a:spcAft>
              <a:defRPr sz="2500" b="0">
                <a:solidFill>
                  <a:srgbClr val="202A38"/>
                </a:solidFill>
                <a:latin typeface="IBM Plex Sans Light"/>
              </a:defRPr>
            </a:pPr>
            <a:r>
              <a:rPr sz="2500" b="0">
                <a:solidFill>
                  <a:srgbClr val="202A38"/>
                </a:solidFill>
                <a:latin typeface="IBM Plex Sans Light"/>
              </a:rPr>
              <a:t>Agree the benchmark</a:t>
            </a:r>
          </a:p>
        </p:txBody>
      </p:sp>
      <p:sp>
        <p:nvSpPr>
          <p:cNvPr id="20" name="TextBox 19"/>
          <p:cNvSpPr txBox="1"/>
          <p:nvPr/>
        </p:nvSpPr>
        <p:spPr>
          <a:xfrm>
            <a:off x="8229600" y="4041648"/>
            <a:ext cx="3374136" cy="795528"/>
          </a:xfrm>
          <a:prstGeom prst="rect">
            <a:avLst/>
          </a:prstGeom>
          <a:noFill/>
          <a:effectLst/>
        </p:spPr>
        <p:txBody>
          <a:bodyPr wrap="square" lIns="0" tIns="0" rIns="0" bIns="0">
            <a:spAutoFit/>
          </a:bodyPr>
          <a:lstStyle/>
          <a:p>
            <a:pPr algn="l">
              <a:lnSpc>
                <a:spcPct val="108000"/>
              </a:lnSpc>
              <a:spcAft>
                <a:spcPts val="400"/>
              </a:spcAft>
              <a:defRPr sz="1900" b="0">
                <a:solidFill>
                  <a:srgbClr val="5B6573"/>
                </a:solidFill>
                <a:latin typeface="IBM Plex Sans"/>
              </a:defRPr>
            </a:pPr>
            <a:r>
              <a:rPr sz="1900" b="0">
                <a:solidFill>
                  <a:srgbClr val="5B6573"/>
                </a:solidFill>
                <a:latin typeface="IBM Plex Sans"/>
              </a:rPr>
              <a:t>Current decisions and</a:t>
            </a:r>
          </a:p>
          <a:p>
            <a:pPr algn="l">
              <a:lnSpc>
                <a:spcPct val="108000"/>
              </a:lnSpc>
              <a:spcAft>
                <a:spcPts val="400"/>
              </a:spcAft>
              <a:defRPr sz="1900" b="0">
                <a:solidFill>
                  <a:srgbClr val="5B6573"/>
                </a:solidFill>
                <a:latin typeface="IBM Plex Sans"/>
              </a:defRPr>
            </a:pPr>
            <a:r>
              <a:rPr sz="1900" b="0">
                <a:solidFill>
                  <a:srgbClr val="5B6573"/>
                </a:solidFill>
                <a:latin typeface="IBM Plex Sans"/>
              </a:rPr>
              <a:t>measurable acceptance.</a:t>
            </a:r>
          </a:p>
        </p:txBody>
      </p:sp>
      <p:sp>
        <p:nvSpPr>
          <p:cNvPr id="21" name="Rectangle 20">
            <a:hlinkClick r:id="rId3"/>
          </p:cNvPr>
          <p:cNvSpPr/>
          <p:nvPr/>
        </p:nvSpPr>
        <p:spPr>
          <a:xfrm>
            <a:off x="548640" y="5285232"/>
            <a:ext cx="3666744" cy="521207"/>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hlinkClick r:id="rId3"/>
          </p:cNvPr>
          <p:cNvSpPr txBox="1"/>
          <p:nvPr/>
        </p:nvSpPr>
        <p:spPr>
          <a:xfrm>
            <a:off x="694944" y="5413248"/>
            <a:ext cx="3374136" cy="292608"/>
          </a:xfrm>
          <a:prstGeom prst="rect">
            <a:avLst/>
          </a:prstGeom>
          <a:noFill/>
          <a:effectLst/>
        </p:spPr>
        <p:txBody>
          <a:bodyPr wrap="square" lIns="0" tIns="0" rIns="0" bIns="0">
            <a:spAutoFit/>
          </a:bodyPr>
          <a:lstStyle/>
          <a:p>
            <a:pPr algn="l">
              <a:lnSpc>
                <a:spcPct val="108000"/>
              </a:lnSpc>
              <a:spcAft>
                <a:spcPts val="400"/>
              </a:spcAft>
              <a:defRPr sz="1600" b="0">
                <a:solidFill>
                  <a:srgbClr val="FFFFFF"/>
                </a:solidFill>
                <a:latin typeface="IBM Plex Sans"/>
              </a:defRPr>
            </a:pPr>
            <a:r>
              <a:rPr sz="1600" b="0">
                <a:solidFill>
                  <a:srgbClr val="FFFFFF"/>
                </a:solidFill>
                <a:latin typeface="IBM Plex Sans"/>
              </a:rPr>
              <a:t>Explore the public dashboard  →</a:t>
            </a:r>
          </a:p>
        </p:txBody>
      </p:sp>
      <p:sp>
        <p:nvSpPr>
          <p:cNvPr id="23" name="Rectangle 22">
            <a:hlinkClick r:id="rId4"/>
          </p:cNvPr>
          <p:cNvSpPr/>
          <p:nvPr/>
        </p:nvSpPr>
        <p:spPr>
          <a:xfrm>
            <a:off x="4517136" y="5285232"/>
            <a:ext cx="3383280" cy="521207"/>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hlinkClick r:id="rId4"/>
          </p:cNvPr>
          <p:cNvSpPr txBox="1"/>
          <p:nvPr/>
        </p:nvSpPr>
        <p:spPr>
          <a:xfrm>
            <a:off x="4663440" y="5413248"/>
            <a:ext cx="3090672" cy="292608"/>
          </a:xfrm>
          <a:prstGeom prst="rect">
            <a:avLst/>
          </a:prstGeom>
          <a:noFill/>
          <a:effectLst/>
        </p:spPr>
        <p:txBody>
          <a:bodyPr wrap="square" lIns="0" tIns="0" rIns="0" bIns="0">
            <a:spAutoFit/>
          </a:bodyPr>
          <a:lstStyle/>
          <a:p>
            <a:pPr algn="l">
              <a:lnSpc>
                <a:spcPct val="108000"/>
              </a:lnSpc>
              <a:spcAft>
                <a:spcPts val="400"/>
              </a:spcAft>
              <a:defRPr sz="1600" b="0">
                <a:solidFill>
                  <a:srgbClr val="FFFFFF"/>
                </a:solidFill>
                <a:latin typeface="IBM Plex Sans"/>
              </a:defRPr>
            </a:pPr>
            <a:r>
              <a:rPr sz="1600" b="0">
                <a:solidFill>
                  <a:srgbClr val="FFFFFF"/>
                </a:solidFill>
                <a:latin typeface="IBM Plex Sans"/>
              </a:rPr>
              <a:t>Read the detailed report  →</a:t>
            </a:r>
          </a:p>
        </p:txBody>
      </p:sp>
      <p:sp>
        <p:nvSpPr>
          <p:cNvPr id="25" name="TextBox 24"/>
          <p:cNvSpPr txBox="1"/>
          <p:nvPr/>
        </p:nvSpPr>
        <p:spPr>
          <a:xfrm>
            <a:off x="8247888" y="5330952"/>
            <a:ext cx="3374136" cy="694944"/>
          </a:xfrm>
          <a:prstGeom prst="rect">
            <a:avLst/>
          </a:prstGeom>
          <a:noFill/>
          <a:effectLst/>
        </p:spPr>
        <p:txBody>
          <a:bodyPr wrap="square" lIns="0" tIns="0" rIns="0" bIns="0">
            <a:spAutoFit/>
          </a:bodyPr>
          <a:lstStyle/>
          <a:p>
            <a:pPr algn="l">
              <a:lnSpc>
                <a:spcPct val="108000"/>
              </a:lnSpc>
              <a:spcAft>
                <a:spcPts val="400"/>
              </a:spcAft>
              <a:defRPr sz="1700" b="0">
                <a:solidFill>
                  <a:srgbClr val="0F62FE"/>
                </a:solidFill>
                <a:latin typeface="IBM Plex Sans"/>
              </a:defRPr>
            </a:pPr>
            <a:r>
              <a:rPr sz="1700" b="0">
                <a:solidFill>
                  <a:srgbClr val="0F62FE"/>
                </a:solidFill>
                <a:latin typeface="IBM Plex Sans"/>
              </a:rPr>
              <a:t>Inspect the assumptions.</a:t>
            </a:r>
          </a:p>
          <a:p>
            <a:pPr algn="l">
              <a:lnSpc>
                <a:spcPct val="108000"/>
              </a:lnSpc>
              <a:spcAft>
                <a:spcPts val="400"/>
              </a:spcAft>
              <a:defRPr sz="1700" b="0">
                <a:solidFill>
                  <a:srgbClr val="0F62FE"/>
                </a:solidFill>
                <a:latin typeface="IBM Plex Sans"/>
              </a:defRPr>
            </a:pPr>
            <a:r>
              <a:rPr sz="1700" b="0">
                <a:solidFill>
                  <a:srgbClr val="0F62FE"/>
                </a:solidFill>
                <a:latin typeface="IBM Plex Sans"/>
              </a:rPr>
              <a:t>Make the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4181</Words>
  <Application>Microsoft Office PowerPoint</Application>
  <PresentationFormat>Widescreen</PresentationFormat>
  <Paragraphs>473</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IBM Plex Sans</vt:lpstr>
      <vt:lpstr>IBM Plex Sans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Estate Portfolio Intelligence | Client Demonstration</dc:title>
  <dc:subject>Asset economics, portfolio decisions and an explainable dashboard</dc:subject>
  <dc:creator>Portfolio Intelligence</dc:creator>
  <cp:keywords>real estate; portfolio; valuation; dashboard; client demonstration</cp:keywords>
  <dc:description>generated using python-pptx</dc:description>
  <cp:lastModifiedBy>Rohen Veera</cp:lastModifiedBy>
  <cp:revision>2</cp:revision>
  <dcterms:created xsi:type="dcterms:W3CDTF">2013-01-27T09:14:16Z</dcterms:created>
  <dcterms:modified xsi:type="dcterms:W3CDTF">2026-09-25T00:44:50Z</dcterms:modified>
  <cp:category/>
</cp:coreProperties>
</file>