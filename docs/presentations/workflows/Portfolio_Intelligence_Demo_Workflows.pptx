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IBM Plex Sans" panose="020B0503050203000203" pitchFamily="34" charset="0"/>
      <p:regular r:id="rId14"/>
    </p:embeddedFont>
    <p:embeddedFont>
      <p:font typeface="IBM Plex Sans Light" panose="020B0403050203000203" pitchFamily="34" charset="0"/>
      <p:regular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7991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the demonstration with the overall workflow. The main engine values five owned-asset alternatives, simulates outcomes and ranks expected incremental NPV less 0.3 times nonnegative loss CVaR. Readiness is reported separately and can remain incomplete while demo calculations are shown. Portfolio optimisation uses the full action set, not only each asset winner. The lower planning lane is separate: current ML diagnostics and advanced monthly development values do not feed the core action rankings. The dashed connection represents human interpretation only. The application neither approves nor executes a transaction. Public Pages provides saved results; calculations require the backend. Source: packages/orchestration/engine.py, advanced.py, packages/selection/engine.py and optimisation modules.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editable presentation schematic, not a screenshot or a new dashboard design. Every navigation group uses existing tab names. DEMO-001 is fictional. Sell has expected incremental NPV 3.756268m and loss CVaR 7.210666m; the risk-adjusted score is 1.593m after the 0.3 penalty. Ranking chart values come from selection.action_comparison. Data Required / Monitor blocks treating the candidate as a verified investment decision. The main public snapshot contains ten fictional assets, while Digital Twins uses a separate synthetic population. Ask the audience to follow one asset from its evidence to its candidate action, then review the portfolio plan.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Asset page presents the selected asset, economics and provisional recommendation. Evidence shows source details, proxy assumptions and outstanding inputs. The selection readiness function requires current valuation, NOI, site and existing floor area; title, tenure, sources and owner; verified financial and planning evidence; dates within the permitted freshness window; and verified action costs. The diagram summarises analyst review of those checks. Both branches permit a provisional demonstration to be explored; a missing field does not turn an economic recommendation into Hold. Public DEMO-001 lacks verified underwriting evidence.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Implemented LightGBM code targets current core land use, subtype and GPR band. It includes spatial validation, calibration and abstention machinery. A separate change classifier exists, but a real forecast needs dated change labels, a horizon and calibration evidence. Public outputs are hand-authored fictional fixtures: no eligible trained predictions are displayed. The dashboard suppresses unsupported confidence and change probabilities. The eligibility diamond summarises presentation checks, not a guarantee that an eligible model has investment skill. Current-class discrepancies and future-change scores have distinct targets and are never combined as a trading probability. Neither enters core action rankings. Source: zoning/challenger.py, change_model.py and src/components/zoningEvidence.ts.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Zoning shows statutory, physical, de-facto and economic GFA, unused capacity and binding controls. Development constructs a synthetic site rectangle and candidate envelopes from related inputs; it does not use a surveyed or approved design. Preferred envelope gross area feeds detailed monthly redevelopment cash flows. En-bloc residual valuation is a related separate calculation using legal GPR and a cost waterfall; it is not a Buy recommendation. Assessed LBC and other verified project evidence are missing in the demo. DEMO-001 has core unused capacity 2184sqm and detailed redevelopment NPV -37.022416m relative to Hold. Its advanced gross area differs from the core adjusted capacity because the assumptions differ. Detailed values are not substituted into main annual rankings. Source: orchestration/advanced.py, actions/detailed_cashflow.py and actions/enbloc.py.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implemented owned-asset alternatives are Hold, Retrofit, Repurpose, Redevelop and Sell. The main action engine builds annual cash flows and branches from assumed economics, computes a Hold counterfactual and measures the incremental difference. Project capex, downtime and terminal or disposal value must be consistently included. Its Redevelop template differs from the detailed monthly Development tab and those outputs are not interchangeable. Hold incremental NPV is zero by construction; that does not mean the asset has no absolute risk. Buy is not implemented. Capacity residual, en-bloc and transformation-screen values are excluded from additive NPV adjustments. Source: valuation/engine.py and actions/real_options.py.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simulated actions preserve shared market and approval factors and asset-specific variation. Expected incremental NPV, P10/P50/P90, loss probability and positive-loss CVaR are derived from simulated action outcomes. CVaR95 is the average in the worst five-percent loss tail; it is not a percentile value or a probability. The Selection page subtracts 0.3 times nonnegative loss CVaR from mean incremental NPV. DEMO-001 Sell: expected 3.756268m; probability of loss .2444; CVaR 7.210666m. These are fictional assumed scenarios, not observed investment performance. The scenario page follows the selected action and does not choose the maximum raw NPV independently. Source: scenarios/engine.py and selection/engine.py.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implemented score is expected incremental NPV minus 0.3 times max(0, loss CVaR95). Rank all five alternatives, then require asset evidence and verified action costs/cash flows before describing the candidate as ready for portfolio review. The no branch changes the management signal to Data Required / Monitor but retains the preferred screening action. DEMO-001 Sell mean NPV 3.756268 less .3*7.210666 gives 1.593068m, versus Hold score zero. The model therefore favours Sell financially but reports Data Required / Monitor. This is not an executable sell instruction. The yes branch is a candidate for further human and portfolio review, not automatic investment approval. Buy absent; no demonstrated alpha. Source: packages/selection/engine.py.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Input all action alternatives for the portfolio, not just independently selected asset winners. Main optimisation chooses actions and start years while checking capex, cumulative liquidity, retained income, project concurrency and development share. Joint loss CVaR uses aligned scenarios rather than summing marginal risks. The returned schedule is rechecked by the constraint audit. It remains a conditional model plan with synthetic inputs. The two-stage calculation creates contingent plans across scenarios; stability reruns perturb assumptions. Public Pages displays saved runs and disables new backend calculation controls. Funding released by sale is not profit, and annual liquidity buckets permit within-year netting. Source: optimisation/multi_period.py, two_stage.py, constraints.py and the Optimiser UI.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Digital Twins presents separate generated histories, lease and action scenarios, and a synthetic population. Environment selection loads the saved results for that environment. Independent preferred actions and the full constrained portfolio allocation are distinct paths. Asset/search filters change visible rows and asset plots but do not rerun or subset the full portfolio optimisation. Changing decisions is a sensitivity flag. The example rows on this slide describe display fields and do not invent asset outcomes. Simulation regret, action match and interval coverage are generator diagnostics, not historical backtests or realised alpha. Source: src/components/DigitalTwinDashboard.tsx and digital-twin snapshot methodology.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Models provides forecast and diagnostic views, but public forecast cards are formula fixtures, not a fitted production forecast. Architecture explains the implemented calculation modules. Audit surfaces evidence and readiness checks; it is not a complete immutable transaction approval log. The diagram is a user review workflow: these three screens do not automatically combine into a recommendation service. A human investment decision and any implementation approval occur outside the demonstration. End the demo by naming the candidate, its downside, the binding portfolio constraint if any, and the missing information that would change the decision. No investment alpha has been established.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Portfolio"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rohen97.github.io/Real-Estate-Portfolio-Multi-Asset-Quant-Model/?tab=Optimiser" TargetMode="External"/><Relationship Id="rId4" Type="http://schemas.openxmlformats.org/officeDocument/2006/relationships/hyperlink" Target="https://rohen97.github.io/Real-Estate-Portfolio-Multi-Asset-Quant-Model/?tab=Selection"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Portfolio"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https://rohen97.github.io/Real-Estate-Portfolio-Multi-Asset-Quant-Model/?tab=Selection" TargetMode="External"/><Relationship Id="rId4" Type="http://schemas.openxmlformats.org/officeDocument/2006/relationships/hyperlink" Target="https://rohen97.github.io/Real-Estate-Portfolio-Multi-Asset-Quant-Model/?tab=Asset"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Asset"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rohen97.github.io/Real-Estate-Portfolio-Multi-Asset-Quant-Model/?tab=Evidenc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Zoning%20ML"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rohen97.github.io/Real-Estate-Portfolio-Multi-Asset-Quant-Model/?tab=Zoning"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Zoning"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rohen97.github.io/Real-Estate-Portfolio-Multi-Asset-Quant-Model/?tab=Developmen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Valuation"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rohen97.github.io/Real-Estate-Portfolio-Multi-Asset-Quant-Model/?tab=Action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Scenario"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Selection"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rohen97.github.io/Real-Estate-Portfolio-Multi-Asset-Quant-Model/?tab=Action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Optimiser"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Digital%20Twins"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rohen97.github.io/Real-Estate-Portfolio-Multi-Asset-Quant-Model/?tab=Models"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rohen97.github.io/Real-Estate-Portfolio-Multi-Asset-Quant-Model/?tab=Audit" TargetMode="External"/><Relationship Id="rId4" Type="http://schemas.openxmlformats.org/officeDocument/2006/relationships/hyperlink" Target="https://rohen97.github.io/Real-Estate-Portfolio-Multi-Asset-Quant-Model/?tab=Architec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From asset information to a portfolio decision</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Read the financial path from left to right; planning studies support a separate analyst review.</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Portfolio</a:t>
            </a:r>
          </a:p>
        </p:txBody>
      </p:sp>
      <p:sp>
        <p:nvSpPr>
          <p:cNvPr id="8" name="Rectangle 7">
            <a:hlinkClick r:id="rId4"/>
          </p:cNvPr>
          <p:cNvSpPr/>
          <p:nvPr/>
        </p:nvSpPr>
        <p:spPr>
          <a:xfrm>
            <a:off x="242824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52984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Selection</a:t>
            </a:r>
          </a:p>
        </p:txBody>
      </p:sp>
      <p:sp>
        <p:nvSpPr>
          <p:cNvPr id="10" name="Rectangle 9">
            <a:hlinkClick r:id="rId5"/>
          </p:cNvPr>
          <p:cNvSpPr/>
          <p:nvPr/>
        </p:nvSpPr>
        <p:spPr>
          <a:xfrm>
            <a:off x="3421379"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r:id="rId5"/>
          </p:cNvPr>
          <p:cNvSpPr txBox="1"/>
          <p:nvPr/>
        </p:nvSpPr>
        <p:spPr>
          <a:xfrm>
            <a:off x="3522979"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Optimiser</a:t>
            </a:r>
          </a:p>
        </p:txBody>
      </p:sp>
      <p:sp>
        <p:nvSpPr>
          <p:cNvPr id="12" name="TextBox 11"/>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3" name="TextBox 12"/>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01</a:t>
            </a:r>
          </a:p>
        </p:txBody>
      </p:sp>
      <p:sp>
        <p:nvSpPr>
          <p:cNvPr id="14" name="TextBox 13"/>
          <p:cNvSpPr txBox="1"/>
          <p:nvPr/>
        </p:nvSpPr>
        <p:spPr>
          <a:xfrm>
            <a:off x="355600" y="2044700"/>
            <a:ext cx="1727200" cy="241300"/>
          </a:xfrm>
          <a:prstGeom prst="rect">
            <a:avLst/>
          </a:prstGeom>
          <a:noFill/>
        </p:spPr>
        <p:txBody>
          <a:bodyPr wrap="square" lIns="0" tIns="0" rIns="0" bIns="0">
            <a:spAutoFit/>
          </a:bodyPr>
          <a:lstStyle/>
          <a:p>
            <a:pPr algn="l">
              <a:lnSpc>
                <a:spcPct val="104000"/>
              </a:lnSpc>
              <a:spcAft>
                <a:spcPts val="200"/>
              </a:spcAft>
              <a:defRPr sz="1050" b="1">
                <a:solidFill>
                  <a:srgbClr val="657080"/>
                </a:solidFill>
                <a:latin typeface="IBM Plex Sans"/>
              </a:defRPr>
            </a:pPr>
            <a:r>
              <a:rPr sz="1050" b="1">
                <a:solidFill>
                  <a:srgbClr val="657080"/>
                </a:solidFill>
                <a:latin typeface="IBM Plex Sans"/>
              </a:rPr>
              <a:t>INPUTS</a:t>
            </a:r>
          </a:p>
        </p:txBody>
      </p:sp>
      <p:sp>
        <p:nvSpPr>
          <p:cNvPr id="15" name="TextBox 14"/>
          <p:cNvSpPr txBox="1"/>
          <p:nvPr/>
        </p:nvSpPr>
        <p:spPr>
          <a:xfrm>
            <a:off x="2794000" y="2044700"/>
            <a:ext cx="1727200" cy="241300"/>
          </a:xfrm>
          <a:prstGeom prst="rect">
            <a:avLst/>
          </a:prstGeom>
          <a:noFill/>
        </p:spPr>
        <p:txBody>
          <a:bodyPr wrap="square" lIns="0" tIns="0" rIns="0" bIns="0">
            <a:spAutoFit/>
          </a:bodyPr>
          <a:lstStyle/>
          <a:p>
            <a:pPr algn="l">
              <a:lnSpc>
                <a:spcPct val="104000"/>
              </a:lnSpc>
              <a:spcAft>
                <a:spcPts val="200"/>
              </a:spcAft>
              <a:defRPr sz="1050" b="1">
                <a:solidFill>
                  <a:srgbClr val="657080"/>
                </a:solidFill>
                <a:latin typeface="IBM Plex Sans"/>
              </a:defRPr>
            </a:pPr>
            <a:r>
              <a:rPr sz="1050" b="1">
                <a:solidFill>
                  <a:srgbClr val="657080"/>
                </a:solidFill>
                <a:latin typeface="IBM Plex Sans"/>
              </a:rPr>
              <a:t>ANALYSIS</a:t>
            </a:r>
          </a:p>
        </p:txBody>
      </p:sp>
      <p:sp>
        <p:nvSpPr>
          <p:cNvPr id="16" name="TextBox 15"/>
          <p:cNvSpPr txBox="1"/>
          <p:nvPr/>
        </p:nvSpPr>
        <p:spPr>
          <a:xfrm>
            <a:off x="5232400" y="2044700"/>
            <a:ext cx="1727200" cy="241300"/>
          </a:xfrm>
          <a:prstGeom prst="rect">
            <a:avLst/>
          </a:prstGeom>
          <a:noFill/>
        </p:spPr>
        <p:txBody>
          <a:bodyPr wrap="square" lIns="0" tIns="0" rIns="0" bIns="0">
            <a:spAutoFit/>
          </a:bodyPr>
          <a:lstStyle/>
          <a:p>
            <a:pPr algn="l">
              <a:lnSpc>
                <a:spcPct val="104000"/>
              </a:lnSpc>
              <a:spcAft>
                <a:spcPts val="200"/>
              </a:spcAft>
              <a:defRPr sz="1050" b="1">
                <a:solidFill>
                  <a:srgbClr val="657080"/>
                </a:solidFill>
                <a:latin typeface="IBM Plex Sans"/>
              </a:defRPr>
            </a:pPr>
            <a:r>
              <a:rPr sz="1050" b="1">
                <a:solidFill>
                  <a:srgbClr val="657080"/>
                </a:solidFill>
                <a:latin typeface="IBM Plex Sans"/>
              </a:rPr>
              <a:t>SELECTION</a:t>
            </a:r>
          </a:p>
        </p:txBody>
      </p:sp>
      <p:sp>
        <p:nvSpPr>
          <p:cNvPr id="17" name="TextBox 16"/>
          <p:cNvSpPr txBox="1"/>
          <p:nvPr/>
        </p:nvSpPr>
        <p:spPr>
          <a:xfrm>
            <a:off x="7670800" y="2044700"/>
            <a:ext cx="1727200" cy="241300"/>
          </a:xfrm>
          <a:prstGeom prst="rect">
            <a:avLst/>
          </a:prstGeom>
          <a:noFill/>
        </p:spPr>
        <p:txBody>
          <a:bodyPr wrap="square" lIns="0" tIns="0" rIns="0" bIns="0">
            <a:spAutoFit/>
          </a:bodyPr>
          <a:lstStyle/>
          <a:p>
            <a:pPr algn="l">
              <a:lnSpc>
                <a:spcPct val="104000"/>
              </a:lnSpc>
              <a:spcAft>
                <a:spcPts val="200"/>
              </a:spcAft>
              <a:defRPr sz="1050" b="1">
                <a:solidFill>
                  <a:srgbClr val="657080"/>
                </a:solidFill>
                <a:latin typeface="IBM Plex Sans"/>
              </a:defRPr>
            </a:pPr>
            <a:r>
              <a:rPr sz="1050" b="1">
                <a:solidFill>
                  <a:srgbClr val="657080"/>
                </a:solidFill>
                <a:latin typeface="IBM Plex Sans"/>
              </a:rPr>
              <a:t>ALLOCATION</a:t>
            </a:r>
          </a:p>
        </p:txBody>
      </p:sp>
      <p:sp>
        <p:nvSpPr>
          <p:cNvPr id="18" name="TextBox 17"/>
          <p:cNvSpPr txBox="1"/>
          <p:nvPr/>
        </p:nvSpPr>
        <p:spPr>
          <a:xfrm>
            <a:off x="10109200" y="2044700"/>
            <a:ext cx="1727200" cy="241300"/>
          </a:xfrm>
          <a:prstGeom prst="rect">
            <a:avLst/>
          </a:prstGeom>
          <a:noFill/>
        </p:spPr>
        <p:txBody>
          <a:bodyPr wrap="square" lIns="0" tIns="0" rIns="0" bIns="0">
            <a:spAutoFit/>
          </a:bodyPr>
          <a:lstStyle/>
          <a:p>
            <a:pPr algn="l">
              <a:lnSpc>
                <a:spcPct val="104000"/>
              </a:lnSpc>
              <a:spcAft>
                <a:spcPts val="200"/>
              </a:spcAft>
              <a:defRPr sz="1050" b="1">
                <a:solidFill>
                  <a:srgbClr val="657080"/>
                </a:solidFill>
                <a:latin typeface="IBM Plex Sans"/>
              </a:defRPr>
            </a:pPr>
            <a:r>
              <a:rPr sz="1050" b="1">
                <a:solidFill>
                  <a:srgbClr val="657080"/>
                </a:solidFill>
                <a:latin typeface="IBM Plex Sans"/>
              </a:rPr>
              <a:t>HUMAN REVIEW</a:t>
            </a:r>
          </a:p>
        </p:txBody>
      </p:sp>
      <p:cxnSp>
        <p:nvCxnSpPr>
          <p:cNvPr id="19" name="Connector 18"/>
          <p:cNvCxnSpPr/>
          <p:nvPr/>
        </p:nvCxnSpPr>
        <p:spPr>
          <a:xfrm>
            <a:off x="2082800" y="3263900"/>
            <a:ext cx="711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21200" y="3263900"/>
            <a:ext cx="711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959600" y="3263900"/>
            <a:ext cx="711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398000" y="3263900"/>
            <a:ext cx="711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5600" y="2552700"/>
            <a:ext cx="1727200" cy="14224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55600" y="2552700"/>
            <a:ext cx="50800" cy="14224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8000" y="2692400"/>
            <a:ext cx="1435100" cy="5588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Asset + market</a:t>
            </a:r>
          </a:p>
          <a:p>
            <a:pPr algn="l">
              <a:lnSpc>
                <a:spcPct val="104000"/>
              </a:lnSpc>
              <a:spcAft>
                <a:spcPts val="200"/>
              </a:spcAft>
              <a:defRPr sz="1450" b="1">
                <a:solidFill>
                  <a:srgbClr val="202A38"/>
                </a:solidFill>
                <a:latin typeface="IBM Plex Sans"/>
              </a:defRPr>
            </a:pPr>
            <a:r>
              <a:rPr sz="1450" b="1">
                <a:solidFill>
                  <a:srgbClr val="202A38"/>
                </a:solidFill>
                <a:latin typeface="IBM Plex Sans"/>
              </a:rPr>
              <a:t>information</a:t>
            </a:r>
          </a:p>
        </p:txBody>
      </p:sp>
      <p:sp>
        <p:nvSpPr>
          <p:cNvPr id="26" name="TextBox 25"/>
          <p:cNvSpPr txBox="1"/>
          <p:nvPr/>
        </p:nvSpPr>
        <p:spPr>
          <a:xfrm>
            <a:off x="508000" y="3327400"/>
            <a:ext cx="1422400" cy="5969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Value, income,</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leases, assumptions</a:t>
            </a:r>
          </a:p>
        </p:txBody>
      </p:sp>
      <p:sp>
        <p:nvSpPr>
          <p:cNvPr id="27" name="Rounded Rectangle 26"/>
          <p:cNvSpPr/>
          <p:nvPr/>
        </p:nvSpPr>
        <p:spPr>
          <a:xfrm>
            <a:off x="2794000" y="2552700"/>
            <a:ext cx="1727200" cy="14224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794000" y="2552700"/>
            <a:ext cx="50800" cy="14224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46400" y="2692400"/>
            <a:ext cx="1435100" cy="5588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Cash flows</a:t>
            </a:r>
          </a:p>
          <a:p>
            <a:pPr algn="l">
              <a:lnSpc>
                <a:spcPct val="104000"/>
              </a:lnSpc>
              <a:spcAft>
                <a:spcPts val="200"/>
              </a:spcAft>
              <a:defRPr sz="1450" b="1">
                <a:solidFill>
                  <a:srgbClr val="202A38"/>
                </a:solidFill>
                <a:latin typeface="IBM Plex Sans"/>
              </a:defRPr>
            </a:pPr>
            <a:r>
              <a:rPr sz="1450" b="1">
                <a:solidFill>
                  <a:srgbClr val="202A38"/>
                </a:solidFill>
                <a:latin typeface="IBM Plex Sans"/>
              </a:rPr>
              <a:t>and scenarios</a:t>
            </a:r>
          </a:p>
        </p:txBody>
      </p:sp>
      <p:sp>
        <p:nvSpPr>
          <p:cNvPr id="30" name="TextBox 29"/>
          <p:cNvSpPr txBox="1"/>
          <p:nvPr/>
        </p:nvSpPr>
        <p:spPr>
          <a:xfrm>
            <a:off x="2946400" y="3327400"/>
            <a:ext cx="1422400" cy="5969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Five alternatives;</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value and downside</a:t>
            </a:r>
          </a:p>
        </p:txBody>
      </p:sp>
      <p:sp>
        <p:nvSpPr>
          <p:cNvPr id="31" name="Rounded Rectangle 30"/>
          <p:cNvSpPr/>
          <p:nvPr/>
        </p:nvSpPr>
        <p:spPr>
          <a:xfrm>
            <a:off x="5232400" y="2552700"/>
            <a:ext cx="1727200" cy="14224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232400" y="2552700"/>
            <a:ext cx="50800" cy="14224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84800" y="2692400"/>
            <a:ext cx="1435100" cy="5588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Rank actions</a:t>
            </a:r>
          </a:p>
          <a:p>
            <a:pPr algn="l">
              <a:lnSpc>
                <a:spcPct val="104000"/>
              </a:lnSpc>
              <a:spcAft>
                <a:spcPts val="200"/>
              </a:spcAft>
              <a:defRPr sz="1450" b="1">
                <a:solidFill>
                  <a:srgbClr val="202A38"/>
                </a:solidFill>
                <a:latin typeface="IBM Plex Sans"/>
              </a:defRPr>
            </a:pPr>
            <a:r>
              <a:rPr sz="1450" b="1">
                <a:solidFill>
                  <a:srgbClr val="202A38"/>
                </a:solidFill>
                <a:latin typeface="IBM Plex Sans"/>
              </a:rPr>
              <a:t>+ show evidence</a:t>
            </a:r>
          </a:p>
        </p:txBody>
      </p:sp>
      <p:sp>
        <p:nvSpPr>
          <p:cNvPr id="34" name="TextBox 33"/>
          <p:cNvSpPr txBox="1"/>
          <p:nvPr/>
        </p:nvSpPr>
        <p:spPr>
          <a:xfrm>
            <a:off x="5384800" y="3327400"/>
            <a:ext cx="1422400" cy="5969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Preferred action;</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readiness status</a:t>
            </a:r>
          </a:p>
        </p:txBody>
      </p:sp>
      <p:sp>
        <p:nvSpPr>
          <p:cNvPr id="35" name="Rounded Rectangle 34"/>
          <p:cNvSpPr/>
          <p:nvPr/>
        </p:nvSpPr>
        <p:spPr>
          <a:xfrm>
            <a:off x="7670800" y="2552700"/>
            <a:ext cx="1727200" cy="14224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670800" y="2552700"/>
            <a:ext cx="50800" cy="14224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823200" y="2692400"/>
            <a:ext cx="1435100" cy="5588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Optimise actions</a:t>
            </a:r>
          </a:p>
          <a:p>
            <a:pPr algn="l">
              <a:lnSpc>
                <a:spcPct val="104000"/>
              </a:lnSpc>
              <a:spcAft>
                <a:spcPts val="200"/>
              </a:spcAft>
              <a:defRPr sz="1450" b="1">
                <a:solidFill>
                  <a:srgbClr val="202A38"/>
                </a:solidFill>
                <a:latin typeface="IBM Plex Sans"/>
              </a:defRPr>
            </a:pPr>
            <a:r>
              <a:rPr sz="1450" b="1">
                <a:solidFill>
                  <a:srgbClr val="202A38"/>
                </a:solidFill>
                <a:latin typeface="IBM Plex Sans"/>
              </a:rPr>
              <a:t>and timing</a:t>
            </a:r>
          </a:p>
        </p:txBody>
      </p:sp>
      <p:sp>
        <p:nvSpPr>
          <p:cNvPr id="38" name="TextBox 37"/>
          <p:cNvSpPr txBox="1"/>
          <p:nvPr/>
        </p:nvSpPr>
        <p:spPr>
          <a:xfrm>
            <a:off x="7823200" y="3327400"/>
            <a:ext cx="1422400" cy="5969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Funding, income</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and risk constraints</a:t>
            </a:r>
          </a:p>
        </p:txBody>
      </p:sp>
      <p:sp>
        <p:nvSpPr>
          <p:cNvPr id="39" name="Rounded Rectangle 38"/>
          <p:cNvSpPr/>
          <p:nvPr/>
        </p:nvSpPr>
        <p:spPr>
          <a:xfrm>
            <a:off x="10109200" y="2552700"/>
            <a:ext cx="1727200" cy="14224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109200" y="2552700"/>
            <a:ext cx="50800" cy="14224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261600" y="2692400"/>
            <a:ext cx="1435100" cy="5588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Review plan</a:t>
            </a:r>
          </a:p>
          <a:p>
            <a:pPr algn="l">
              <a:lnSpc>
                <a:spcPct val="104000"/>
              </a:lnSpc>
              <a:spcAft>
                <a:spcPts val="200"/>
              </a:spcAft>
              <a:defRPr sz="1450" b="1">
                <a:solidFill>
                  <a:srgbClr val="202A38"/>
                </a:solidFill>
                <a:latin typeface="IBM Plex Sans"/>
              </a:defRPr>
            </a:pPr>
            <a:r>
              <a:rPr sz="1450" b="1">
                <a:solidFill>
                  <a:srgbClr val="202A38"/>
                </a:solidFill>
                <a:latin typeface="IBM Plex Sans"/>
              </a:rPr>
              <a:t>and open issues</a:t>
            </a:r>
          </a:p>
        </p:txBody>
      </p:sp>
      <p:sp>
        <p:nvSpPr>
          <p:cNvPr id="42" name="TextBox 41"/>
          <p:cNvSpPr txBox="1"/>
          <p:nvPr/>
        </p:nvSpPr>
        <p:spPr>
          <a:xfrm>
            <a:off x="10261600" y="3327400"/>
            <a:ext cx="1422400" cy="5969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Accept for further</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underwriting or revise</a:t>
            </a:r>
          </a:p>
        </p:txBody>
      </p:sp>
      <p:sp>
        <p:nvSpPr>
          <p:cNvPr id="43" name="TextBox 42"/>
          <p:cNvSpPr txBox="1"/>
          <p:nvPr/>
        </p:nvSpPr>
        <p:spPr>
          <a:xfrm>
            <a:off x="6972300" y="3035300"/>
            <a:ext cx="685800" cy="165100"/>
          </a:xfrm>
          <a:prstGeom prst="rect">
            <a:avLst/>
          </a:prstGeom>
          <a:noFill/>
        </p:spPr>
        <p:txBody>
          <a:bodyPr wrap="square" lIns="0" tIns="0" rIns="0" bIns="0">
            <a:spAutoFit/>
          </a:bodyPr>
          <a:lstStyle/>
          <a:p>
            <a:pPr algn="ctr">
              <a:lnSpc>
                <a:spcPct val="104000"/>
              </a:lnSpc>
              <a:spcAft>
                <a:spcPts val="200"/>
              </a:spcAft>
              <a:defRPr sz="900" b="0">
                <a:solidFill>
                  <a:srgbClr val="0F62FE"/>
                </a:solidFill>
                <a:latin typeface="IBM Plex Sans"/>
              </a:defRPr>
            </a:pPr>
            <a:r>
              <a:rPr sz="900" b="0">
                <a:solidFill>
                  <a:srgbClr val="0F62FE"/>
                </a:solidFill>
                <a:latin typeface="IBM Plex Sans"/>
              </a:rPr>
              <a:t>All actions</a:t>
            </a:r>
          </a:p>
        </p:txBody>
      </p:sp>
      <p:cxnSp>
        <p:nvCxnSpPr>
          <p:cNvPr id="44" name="Connector 43"/>
          <p:cNvCxnSpPr/>
          <p:nvPr/>
        </p:nvCxnSpPr>
        <p:spPr>
          <a:xfrm>
            <a:off x="2082800" y="4902200"/>
            <a:ext cx="7112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521200" y="4902200"/>
            <a:ext cx="7112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355600" y="4432300"/>
            <a:ext cx="1727200" cy="9525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55600" y="4432300"/>
            <a:ext cx="50800" cy="9525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8000" y="4572000"/>
            <a:ext cx="14351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Planning inputs</a:t>
            </a:r>
          </a:p>
        </p:txBody>
      </p:sp>
      <p:sp>
        <p:nvSpPr>
          <p:cNvPr id="49" name="TextBox 48"/>
          <p:cNvSpPr txBox="1"/>
          <p:nvPr/>
        </p:nvSpPr>
        <p:spPr>
          <a:xfrm>
            <a:off x="508000" y="4927600"/>
            <a:ext cx="1422400" cy="4064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Site, controls,</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location context</a:t>
            </a:r>
          </a:p>
        </p:txBody>
      </p:sp>
      <p:sp>
        <p:nvSpPr>
          <p:cNvPr id="50" name="Rounded Rectangle 49"/>
          <p:cNvSpPr/>
          <p:nvPr/>
        </p:nvSpPr>
        <p:spPr>
          <a:xfrm>
            <a:off x="2794000" y="4432300"/>
            <a:ext cx="1727200" cy="9525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2794000" y="4432300"/>
            <a:ext cx="50800" cy="9525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946400" y="4572000"/>
            <a:ext cx="14351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Zoning / ML</a:t>
            </a:r>
          </a:p>
        </p:txBody>
      </p:sp>
      <p:sp>
        <p:nvSpPr>
          <p:cNvPr id="53" name="TextBox 52"/>
          <p:cNvSpPr txBox="1"/>
          <p:nvPr/>
        </p:nvSpPr>
        <p:spPr>
          <a:xfrm>
            <a:off x="2946400" y="4927600"/>
            <a:ext cx="1422400" cy="4064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Capacity screens;</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evidence diagnostics</a:t>
            </a:r>
          </a:p>
        </p:txBody>
      </p:sp>
      <p:sp>
        <p:nvSpPr>
          <p:cNvPr id="54" name="TextBox 53"/>
          <p:cNvSpPr txBox="1"/>
          <p:nvPr/>
        </p:nvSpPr>
        <p:spPr>
          <a:xfrm>
            <a:off x="4572000" y="4457700"/>
            <a:ext cx="635000" cy="342900"/>
          </a:xfrm>
          <a:prstGeom prst="rect">
            <a:avLst/>
          </a:prstGeom>
          <a:noFill/>
        </p:spPr>
        <p:txBody>
          <a:bodyPr wrap="square" lIns="0" tIns="0" rIns="0" bIns="0">
            <a:spAutoFit/>
          </a:bodyPr>
          <a:lstStyle/>
          <a:p>
            <a:pPr algn="ctr">
              <a:lnSpc>
                <a:spcPct val="104000"/>
              </a:lnSpc>
              <a:spcAft>
                <a:spcPts val="200"/>
              </a:spcAft>
              <a:defRPr sz="950" b="0">
                <a:solidFill>
                  <a:srgbClr val="008A80"/>
                </a:solidFill>
                <a:latin typeface="IBM Plex Sans"/>
              </a:defRPr>
            </a:pPr>
            <a:r>
              <a:rPr sz="950" b="0">
                <a:solidFill>
                  <a:srgbClr val="008A80"/>
                </a:solidFill>
                <a:latin typeface="IBM Plex Sans"/>
              </a:rPr>
              <a:t>Capacity</a:t>
            </a:r>
          </a:p>
          <a:p>
            <a:pPr algn="ctr">
              <a:lnSpc>
                <a:spcPct val="104000"/>
              </a:lnSpc>
              <a:spcAft>
                <a:spcPts val="200"/>
              </a:spcAft>
              <a:defRPr sz="950" b="0">
                <a:solidFill>
                  <a:srgbClr val="008A80"/>
                </a:solidFill>
                <a:latin typeface="IBM Plex Sans"/>
              </a:defRPr>
            </a:pPr>
            <a:r>
              <a:rPr sz="950" b="0">
                <a:solidFill>
                  <a:srgbClr val="008A80"/>
                </a:solidFill>
                <a:latin typeface="IBM Plex Sans"/>
              </a:rPr>
              <a:t>only</a:t>
            </a:r>
          </a:p>
        </p:txBody>
      </p:sp>
      <p:sp>
        <p:nvSpPr>
          <p:cNvPr id="55" name="Rounded Rectangle 54"/>
          <p:cNvSpPr/>
          <p:nvPr/>
        </p:nvSpPr>
        <p:spPr>
          <a:xfrm>
            <a:off x="5232400" y="4432300"/>
            <a:ext cx="1727200" cy="9525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232400" y="4432300"/>
            <a:ext cx="50800" cy="9525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384800" y="4572000"/>
            <a:ext cx="14351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Development</a:t>
            </a:r>
          </a:p>
        </p:txBody>
      </p:sp>
      <p:sp>
        <p:nvSpPr>
          <p:cNvPr id="58" name="TextBox 57"/>
          <p:cNvSpPr txBox="1"/>
          <p:nvPr/>
        </p:nvSpPr>
        <p:spPr>
          <a:xfrm>
            <a:off x="5384800" y="4927600"/>
            <a:ext cx="1422400" cy="406400"/>
          </a:xfrm>
          <a:prstGeom prst="rect">
            <a:avLst/>
          </a:prstGeom>
          <a:noFill/>
        </p:spPr>
        <p:txBody>
          <a:bodyPr wrap="square" lIns="0" tIns="0" rIns="0" bIns="0">
            <a:spAutoFit/>
          </a:bodyPr>
          <a:lstStyle/>
          <a:p>
            <a:pPr algn="l">
              <a:lnSpc>
                <a:spcPct val="104000"/>
              </a:lnSpc>
              <a:spcAft>
                <a:spcPts val="200"/>
              </a:spcAft>
              <a:defRPr sz="1180" b="0">
                <a:solidFill>
                  <a:srgbClr val="657080"/>
                </a:solidFill>
                <a:latin typeface="IBM Plex Sans"/>
              </a:defRPr>
            </a:pPr>
            <a:r>
              <a:rPr sz="1180" b="0">
                <a:solidFill>
                  <a:srgbClr val="657080"/>
                </a:solidFill>
                <a:latin typeface="IBM Plex Sans"/>
              </a:rPr>
              <a:t>Envelope and</a:t>
            </a:r>
          </a:p>
          <a:p>
            <a:pPr algn="l">
              <a:lnSpc>
                <a:spcPct val="104000"/>
              </a:lnSpc>
              <a:spcAft>
                <a:spcPts val="200"/>
              </a:spcAft>
              <a:defRPr sz="1180" b="0">
                <a:solidFill>
                  <a:srgbClr val="657080"/>
                </a:solidFill>
                <a:latin typeface="IBM Plex Sans"/>
              </a:defRPr>
            </a:pPr>
            <a:r>
              <a:rPr sz="1180" b="0">
                <a:solidFill>
                  <a:srgbClr val="657080"/>
                </a:solidFill>
                <a:latin typeface="IBM Plex Sans"/>
              </a:rPr>
              <a:t>separate feasibility</a:t>
            </a:r>
          </a:p>
        </p:txBody>
      </p:sp>
      <p:cxnSp>
        <p:nvCxnSpPr>
          <p:cNvPr id="59" name="Connector 58"/>
          <p:cNvCxnSpPr/>
          <p:nvPr/>
        </p:nvCxnSpPr>
        <p:spPr>
          <a:xfrm>
            <a:off x="6959600" y="4902200"/>
            <a:ext cx="4013200" cy="0"/>
          </a:xfrm>
          <a:prstGeom prst="line">
            <a:avLst/>
          </a:prstGeom>
          <a:ln w="15875">
            <a:solidFill>
              <a:srgbClr val="008A80"/>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0972800" y="3975100"/>
            <a:ext cx="0" cy="927100"/>
          </a:xfrm>
          <a:prstGeom prst="line">
            <a:avLst/>
          </a:prstGeom>
          <a:ln w="15875">
            <a:solidFill>
              <a:srgbClr val="008A8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569200" y="4521200"/>
            <a:ext cx="2362200" cy="520700"/>
          </a:xfrm>
          <a:prstGeom prst="rect">
            <a:avLst/>
          </a:prstGeom>
          <a:noFill/>
        </p:spPr>
        <p:txBody>
          <a:bodyPr wrap="square" lIns="0" tIns="0" rIns="0" bIns="0">
            <a:spAutoFit/>
          </a:bodyPr>
          <a:lstStyle/>
          <a:p>
            <a:pPr algn="l">
              <a:lnSpc>
                <a:spcPct val="104000"/>
              </a:lnSpc>
              <a:spcAft>
                <a:spcPts val="200"/>
              </a:spcAft>
              <a:defRPr sz="1200" b="0">
                <a:solidFill>
                  <a:srgbClr val="008A80"/>
                </a:solidFill>
                <a:latin typeface="IBM Plex Sans"/>
              </a:defRPr>
            </a:pPr>
            <a:r>
              <a:rPr sz="1200" b="0">
                <a:solidFill>
                  <a:srgbClr val="008A80"/>
                </a:solidFill>
                <a:latin typeface="IBM Plex Sans"/>
              </a:rPr>
              <a:t>Analyst interpretation</a:t>
            </a:r>
          </a:p>
          <a:p>
            <a:pPr algn="l">
              <a:lnSpc>
                <a:spcPct val="104000"/>
              </a:lnSpc>
              <a:spcAft>
                <a:spcPts val="200"/>
              </a:spcAft>
              <a:defRPr sz="1200" b="0">
                <a:solidFill>
                  <a:srgbClr val="008A80"/>
                </a:solidFill>
                <a:latin typeface="IBM Plex Sans"/>
              </a:defRPr>
            </a:pPr>
            <a:r>
              <a:rPr sz="1200" b="0">
                <a:solidFill>
                  <a:srgbClr val="008A80"/>
                </a:solidFill>
                <a:latin typeface="IBM Plex Sans"/>
              </a:rPr>
              <a:t>—not an input to ranking</a:t>
            </a:r>
          </a:p>
        </p:txBody>
      </p:sp>
      <p:sp>
        <p:nvSpPr>
          <p:cNvPr id="62" name="Rectangle 61"/>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65" name="TextBox 64"/>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Ranked asset candidates, evidence gaps and a constrained portfolio plan.</a:t>
            </a:r>
          </a:p>
        </p:txBody>
      </p:sp>
      <p:sp>
        <p:nvSpPr>
          <p:cNvPr id="66" name="TextBox 65"/>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The planning lane is visible context; it does not automatically change the financial ranking.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Demo overview | the dashboard follows the decision</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A simplified workspace view shows the candidate, its economics and what still needs verification.</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Portfolio</a:t>
            </a:r>
          </a:p>
        </p:txBody>
      </p:sp>
      <p:sp>
        <p:nvSpPr>
          <p:cNvPr id="8" name="Rectangle 7">
            <a:hlinkClick r:id="rId4"/>
          </p:cNvPr>
          <p:cNvSpPr/>
          <p:nvPr/>
        </p:nvSpPr>
        <p:spPr>
          <a:xfrm>
            <a:off x="2428240" y="1346200"/>
            <a:ext cx="60960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529840" y="1409700"/>
            <a:ext cx="40640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Asset</a:t>
            </a:r>
          </a:p>
        </p:txBody>
      </p:sp>
      <p:sp>
        <p:nvSpPr>
          <p:cNvPr id="10" name="Rectangle 9">
            <a:hlinkClick r:id="rId5"/>
          </p:cNvPr>
          <p:cNvSpPr/>
          <p:nvPr/>
        </p:nvSpPr>
        <p:spPr>
          <a:xfrm>
            <a:off x="312674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r:id="rId5"/>
          </p:cNvPr>
          <p:cNvSpPr txBox="1"/>
          <p:nvPr/>
        </p:nvSpPr>
        <p:spPr>
          <a:xfrm>
            <a:off x="322834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Selection</a:t>
            </a:r>
          </a:p>
        </p:txBody>
      </p:sp>
      <p:sp>
        <p:nvSpPr>
          <p:cNvPr id="12" name="TextBox 11"/>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3" name="TextBox 12"/>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02</a:t>
            </a:r>
          </a:p>
        </p:txBody>
      </p:sp>
      <p:sp>
        <p:nvSpPr>
          <p:cNvPr id="14" name="Rectangle 13"/>
          <p:cNvSpPr/>
          <p:nvPr/>
        </p:nvSpPr>
        <p:spPr>
          <a:xfrm>
            <a:off x="355600" y="1841500"/>
            <a:ext cx="11480800" cy="3860800"/>
          </a:xfrm>
          <a:prstGeom prst="rect">
            <a:avLst/>
          </a:prstGeom>
          <a:solidFill>
            <a:srgbClr val="F8FAFD"/>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3400" y="1981200"/>
            <a:ext cx="6604000" cy="3048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Portfolio intelligence  /  DEMO-001</a:t>
            </a:r>
          </a:p>
        </p:txBody>
      </p:sp>
      <p:sp>
        <p:nvSpPr>
          <p:cNvPr id="16" name="Rectangle 15"/>
          <p:cNvSpPr/>
          <p:nvPr/>
        </p:nvSpPr>
        <p:spPr>
          <a:xfrm>
            <a:off x="9880600" y="1943100"/>
            <a:ext cx="1676400" cy="2667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82200" y="1993900"/>
            <a:ext cx="1473200" cy="203200"/>
          </a:xfrm>
          <a:prstGeom prst="rect">
            <a:avLst/>
          </a:prstGeom>
          <a:noFill/>
        </p:spPr>
        <p:txBody>
          <a:bodyPr wrap="square" lIns="0" tIns="0" rIns="0" bIns="0">
            <a:spAutoFit/>
          </a:bodyPr>
          <a:lstStyle/>
          <a:p>
            <a:pPr algn="l">
              <a:lnSpc>
                <a:spcPct val="104000"/>
              </a:lnSpc>
              <a:spcAft>
                <a:spcPts val="200"/>
              </a:spcAft>
              <a:defRPr sz="1050" b="1">
                <a:solidFill>
                  <a:srgbClr val="0F62FE"/>
                </a:solidFill>
                <a:latin typeface="IBM Plex Sans"/>
              </a:defRPr>
            </a:pPr>
            <a:r>
              <a:rPr sz="1050" b="1">
                <a:solidFill>
                  <a:srgbClr val="0F62FE"/>
                </a:solidFill>
                <a:latin typeface="IBM Plex Sans"/>
              </a:rPr>
              <a:t>SAVED DEMO</a:t>
            </a:r>
          </a:p>
        </p:txBody>
      </p:sp>
      <p:sp>
        <p:nvSpPr>
          <p:cNvPr id="18" name="Rectangle 17"/>
          <p:cNvSpPr/>
          <p:nvPr/>
        </p:nvSpPr>
        <p:spPr>
          <a:xfrm>
            <a:off x="533400" y="2374900"/>
            <a:ext cx="2654300" cy="8382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3400" y="2374900"/>
            <a:ext cx="38100" cy="838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3100" y="2489200"/>
            <a:ext cx="2387600" cy="190500"/>
          </a:xfrm>
          <a:prstGeom prst="rect">
            <a:avLst/>
          </a:prstGeom>
          <a:noFill/>
        </p:spPr>
        <p:txBody>
          <a:bodyPr wrap="square" lIns="0" tIns="0" rIns="0" bIns="0">
            <a:spAutoFit/>
          </a:bodyPr>
          <a:lstStyle/>
          <a:p>
            <a:pPr algn="l">
              <a:lnSpc>
                <a:spcPct val="104000"/>
              </a:lnSpc>
              <a:spcAft>
                <a:spcPts val="200"/>
              </a:spcAft>
              <a:defRPr sz="1050" b="0">
                <a:solidFill>
                  <a:srgbClr val="657080"/>
                </a:solidFill>
                <a:latin typeface="IBM Plex Sans"/>
              </a:defRPr>
            </a:pPr>
            <a:r>
              <a:rPr sz="1050" b="0">
                <a:solidFill>
                  <a:srgbClr val="657080"/>
                </a:solidFill>
                <a:latin typeface="IBM Plex Sans"/>
              </a:rPr>
              <a:t>Preferred action</a:t>
            </a:r>
          </a:p>
        </p:txBody>
      </p:sp>
      <p:sp>
        <p:nvSpPr>
          <p:cNvPr id="21" name="TextBox 20"/>
          <p:cNvSpPr txBox="1"/>
          <p:nvPr/>
        </p:nvSpPr>
        <p:spPr>
          <a:xfrm>
            <a:off x="673100" y="2768600"/>
            <a:ext cx="2387600" cy="342900"/>
          </a:xfrm>
          <a:prstGeom prst="rect">
            <a:avLst/>
          </a:prstGeom>
          <a:noFill/>
        </p:spPr>
        <p:txBody>
          <a:bodyPr wrap="square" lIns="0" tIns="0" rIns="0" bIns="0">
            <a:spAutoFit/>
          </a:bodyPr>
          <a:lstStyle/>
          <a:p>
            <a:pPr algn="l">
              <a:lnSpc>
                <a:spcPct val="104000"/>
              </a:lnSpc>
              <a:spcAft>
                <a:spcPts val="200"/>
              </a:spcAft>
              <a:defRPr sz="2300" b="1">
                <a:solidFill>
                  <a:srgbClr val="0F62FE"/>
                </a:solidFill>
                <a:latin typeface="IBM Plex Sans"/>
              </a:defRPr>
            </a:pPr>
            <a:r>
              <a:rPr sz="2300" b="1">
                <a:solidFill>
                  <a:srgbClr val="0F62FE"/>
                </a:solidFill>
                <a:latin typeface="IBM Plex Sans"/>
              </a:rPr>
              <a:t>Sell</a:t>
            </a:r>
          </a:p>
        </p:txBody>
      </p:sp>
      <p:sp>
        <p:nvSpPr>
          <p:cNvPr id="22" name="Rectangle 21"/>
          <p:cNvSpPr/>
          <p:nvPr/>
        </p:nvSpPr>
        <p:spPr>
          <a:xfrm>
            <a:off x="3352800" y="2374900"/>
            <a:ext cx="2654300" cy="8382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52800" y="2374900"/>
            <a:ext cx="38100" cy="838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92500" y="2489200"/>
            <a:ext cx="2387600" cy="190500"/>
          </a:xfrm>
          <a:prstGeom prst="rect">
            <a:avLst/>
          </a:prstGeom>
          <a:noFill/>
        </p:spPr>
        <p:txBody>
          <a:bodyPr wrap="square" lIns="0" tIns="0" rIns="0" bIns="0">
            <a:spAutoFit/>
          </a:bodyPr>
          <a:lstStyle/>
          <a:p>
            <a:pPr algn="l">
              <a:lnSpc>
                <a:spcPct val="104000"/>
              </a:lnSpc>
              <a:spcAft>
                <a:spcPts val="200"/>
              </a:spcAft>
              <a:defRPr sz="1050" b="0">
                <a:solidFill>
                  <a:srgbClr val="657080"/>
                </a:solidFill>
                <a:latin typeface="IBM Plex Sans"/>
              </a:defRPr>
            </a:pPr>
            <a:r>
              <a:rPr sz="1050" b="0">
                <a:solidFill>
                  <a:srgbClr val="657080"/>
                </a:solidFill>
                <a:latin typeface="IBM Plex Sans"/>
              </a:rPr>
              <a:t>Expected NPV vs Hold</a:t>
            </a:r>
          </a:p>
        </p:txBody>
      </p:sp>
      <p:sp>
        <p:nvSpPr>
          <p:cNvPr id="25" name="TextBox 24"/>
          <p:cNvSpPr txBox="1"/>
          <p:nvPr/>
        </p:nvSpPr>
        <p:spPr>
          <a:xfrm>
            <a:off x="3492500" y="2768600"/>
            <a:ext cx="2387600" cy="342900"/>
          </a:xfrm>
          <a:prstGeom prst="rect">
            <a:avLst/>
          </a:prstGeom>
          <a:noFill/>
        </p:spPr>
        <p:txBody>
          <a:bodyPr wrap="square" lIns="0" tIns="0" rIns="0" bIns="0">
            <a:spAutoFit/>
          </a:bodyPr>
          <a:lstStyle/>
          <a:p>
            <a:pPr algn="l">
              <a:lnSpc>
                <a:spcPct val="104000"/>
              </a:lnSpc>
              <a:spcAft>
                <a:spcPts val="200"/>
              </a:spcAft>
              <a:defRPr sz="2300" b="1">
                <a:solidFill>
                  <a:srgbClr val="0F62FE"/>
                </a:solidFill>
                <a:latin typeface="IBM Plex Sans"/>
              </a:defRPr>
            </a:pPr>
            <a:r>
              <a:rPr sz="2300" b="1">
                <a:solidFill>
                  <a:srgbClr val="0F62FE"/>
                </a:solidFill>
                <a:latin typeface="IBM Plex Sans"/>
              </a:rPr>
              <a:t>+S$3.76m</a:t>
            </a:r>
          </a:p>
        </p:txBody>
      </p:sp>
      <p:sp>
        <p:nvSpPr>
          <p:cNvPr id="26" name="Rectangle 25"/>
          <p:cNvSpPr/>
          <p:nvPr/>
        </p:nvSpPr>
        <p:spPr>
          <a:xfrm>
            <a:off x="6172200" y="2374900"/>
            <a:ext cx="2654300" cy="8382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72200" y="2374900"/>
            <a:ext cx="38100" cy="838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11900" y="2489200"/>
            <a:ext cx="2387600" cy="190500"/>
          </a:xfrm>
          <a:prstGeom prst="rect">
            <a:avLst/>
          </a:prstGeom>
          <a:noFill/>
        </p:spPr>
        <p:txBody>
          <a:bodyPr wrap="square" lIns="0" tIns="0" rIns="0" bIns="0">
            <a:spAutoFit/>
          </a:bodyPr>
          <a:lstStyle/>
          <a:p>
            <a:pPr algn="l">
              <a:lnSpc>
                <a:spcPct val="104000"/>
              </a:lnSpc>
              <a:spcAft>
                <a:spcPts val="200"/>
              </a:spcAft>
              <a:defRPr sz="1050" b="0">
                <a:solidFill>
                  <a:srgbClr val="657080"/>
                </a:solidFill>
                <a:latin typeface="IBM Plex Sans"/>
              </a:defRPr>
            </a:pPr>
            <a:r>
              <a:rPr sz="1050" b="0">
                <a:solidFill>
                  <a:srgbClr val="657080"/>
                </a:solidFill>
                <a:latin typeface="IBM Plex Sans"/>
              </a:rPr>
              <a:t>Loss CVaR 95%</a:t>
            </a:r>
          </a:p>
        </p:txBody>
      </p:sp>
      <p:sp>
        <p:nvSpPr>
          <p:cNvPr id="29" name="TextBox 28"/>
          <p:cNvSpPr txBox="1"/>
          <p:nvPr/>
        </p:nvSpPr>
        <p:spPr>
          <a:xfrm>
            <a:off x="6311900" y="2768600"/>
            <a:ext cx="2387600" cy="342900"/>
          </a:xfrm>
          <a:prstGeom prst="rect">
            <a:avLst/>
          </a:prstGeom>
          <a:noFill/>
        </p:spPr>
        <p:txBody>
          <a:bodyPr wrap="square" lIns="0" tIns="0" rIns="0" bIns="0">
            <a:spAutoFit/>
          </a:bodyPr>
          <a:lstStyle/>
          <a:p>
            <a:pPr algn="l">
              <a:lnSpc>
                <a:spcPct val="104000"/>
              </a:lnSpc>
              <a:spcAft>
                <a:spcPts val="200"/>
              </a:spcAft>
              <a:defRPr sz="2300" b="1">
                <a:solidFill>
                  <a:srgbClr val="0F62FE"/>
                </a:solidFill>
                <a:latin typeface="IBM Plex Sans"/>
              </a:defRPr>
            </a:pPr>
            <a:r>
              <a:rPr sz="2300" b="1">
                <a:solidFill>
                  <a:srgbClr val="0F62FE"/>
                </a:solidFill>
                <a:latin typeface="IBM Plex Sans"/>
              </a:rPr>
              <a:t>S$7.21m</a:t>
            </a:r>
          </a:p>
        </p:txBody>
      </p:sp>
      <p:sp>
        <p:nvSpPr>
          <p:cNvPr id="30" name="Rectangle 29"/>
          <p:cNvSpPr/>
          <p:nvPr/>
        </p:nvSpPr>
        <p:spPr>
          <a:xfrm>
            <a:off x="8991600" y="2374900"/>
            <a:ext cx="2654300" cy="8382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991600" y="2374900"/>
            <a:ext cx="38100" cy="8382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31300" y="2489200"/>
            <a:ext cx="2387600" cy="190500"/>
          </a:xfrm>
          <a:prstGeom prst="rect">
            <a:avLst/>
          </a:prstGeom>
          <a:noFill/>
        </p:spPr>
        <p:txBody>
          <a:bodyPr wrap="square" lIns="0" tIns="0" rIns="0" bIns="0">
            <a:spAutoFit/>
          </a:bodyPr>
          <a:lstStyle/>
          <a:p>
            <a:pPr algn="l">
              <a:lnSpc>
                <a:spcPct val="104000"/>
              </a:lnSpc>
              <a:spcAft>
                <a:spcPts val="200"/>
              </a:spcAft>
              <a:defRPr sz="1050" b="0">
                <a:solidFill>
                  <a:srgbClr val="657080"/>
                </a:solidFill>
                <a:latin typeface="IBM Plex Sans"/>
              </a:defRPr>
            </a:pPr>
            <a:r>
              <a:rPr sz="1050" b="0">
                <a:solidFill>
                  <a:srgbClr val="657080"/>
                </a:solidFill>
                <a:latin typeface="IBM Plex Sans"/>
              </a:rPr>
              <a:t>Evidence status</a:t>
            </a:r>
          </a:p>
        </p:txBody>
      </p:sp>
      <p:sp>
        <p:nvSpPr>
          <p:cNvPr id="33" name="TextBox 32"/>
          <p:cNvSpPr txBox="1"/>
          <p:nvPr/>
        </p:nvSpPr>
        <p:spPr>
          <a:xfrm>
            <a:off x="9131300" y="2768600"/>
            <a:ext cx="2387600" cy="342900"/>
          </a:xfrm>
          <a:prstGeom prst="rect">
            <a:avLst/>
          </a:prstGeom>
          <a:noFill/>
        </p:spPr>
        <p:txBody>
          <a:bodyPr wrap="square" lIns="0" tIns="0" rIns="0" bIns="0">
            <a:spAutoFit/>
          </a:bodyPr>
          <a:lstStyle/>
          <a:p>
            <a:pPr algn="l">
              <a:lnSpc>
                <a:spcPct val="104000"/>
              </a:lnSpc>
              <a:spcAft>
                <a:spcPts val="200"/>
              </a:spcAft>
              <a:defRPr sz="1800" b="1">
                <a:solidFill>
                  <a:srgbClr val="A65A00"/>
                </a:solidFill>
                <a:latin typeface="IBM Plex Sans"/>
              </a:defRPr>
            </a:pPr>
            <a:r>
              <a:rPr sz="1800" b="1">
                <a:solidFill>
                  <a:srgbClr val="A65A00"/>
                </a:solidFill>
                <a:latin typeface="IBM Plex Sans"/>
              </a:rPr>
              <a:t>Data Required</a:t>
            </a:r>
          </a:p>
        </p:txBody>
      </p:sp>
      <p:sp>
        <p:nvSpPr>
          <p:cNvPr id="34" name="Rectangle 33"/>
          <p:cNvSpPr/>
          <p:nvPr/>
        </p:nvSpPr>
        <p:spPr>
          <a:xfrm>
            <a:off x="533400" y="3365500"/>
            <a:ext cx="3429000" cy="21463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114800" y="3365500"/>
            <a:ext cx="3975100" cy="21463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42300" y="3365500"/>
            <a:ext cx="3403600" cy="2146300"/>
          </a:xfrm>
          <a:prstGeom prst="rect">
            <a:avLst/>
          </a:prstGeom>
          <a:solidFill>
            <a:srgbClr val="FFFF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3492500"/>
            <a:ext cx="3098800" cy="292100"/>
          </a:xfrm>
          <a:prstGeom prst="rect">
            <a:avLst/>
          </a:prstGeom>
          <a:noFill/>
        </p:spPr>
        <p:txBody>
          <a:bodyPr wrap="square" lIns="0" tIns="0" rIns="0" bIns="0">
            <a:spAutoFit/>
          </a:bodyPr>
          <a:lstStyle/>
          <a:p>
            <a:pPr algn="l">
              <a:lnSpc>
                <a:spcPct val="104000"/>
              </a:lnSpc>
              <a:spcAft>
                <a:spcPts val="200"/>
              </a:spcAft>
              <a:defRPr sz="1350" b="1">
                <a:solidFill>
                  <a:srgbClr val="202A38"/>
                </a:solidFill>
                <a:latin typeface="IBM Plex Sans"/>
              </a:defRPr>
            </a:pPr>
            <a:r>
              <a:rPr sz="1350" b="1">
                <a:solidFill>
                  <a:srgbClr val="202A38"/>
                </a:solidFill>
                <a:latin typeface="IBM Plex Sans"/>
              </a:rPr>
              <a:t>01  Open the relevant segment</a:t>
            </a:r>
          </a:p>
        </p:txBody>
      </p:sp>
      <p:sp>
        <p:nvSpPr>
          <p:cNvPr id="38" name="TextBox 37"/>
          <p:cNvSpPr txBox="1"/>
          <p:nvPr/>
        </p:nvSpPr>
        <p:spPr>
          <a:xfrm>
            <a:off x="685800" y="3873500"/>
            <a:ext cx="800100" cy="203200"/>
          </a:xfrm>
          <a:prstGeom prst="rect">
            <a:avLst/>
          </a:prstGeom>
          <a:noFill/>
        </p:spPr>
        <p:txBody>
          <a:bodyPr wrap="square" lIns="0" tIns="0" rIns="0" bIns="0">
            <a:spAutoFit/>
          </a:bodyPr>
          <a:lstStyle/>
          <a:p>
            <a:pPr algn="l">
              <a:lnSpc>
                <a:spcPct val="104000"/>
              </a:lnSpc>
              <a:spcAft>
                <a:spcPts val="200"/>
              </a:spcAft>
              <a:defRPr sz="1000" b="1">
                <a:solidFill>
                  <a:srgbClr val="0F62FE"/>
                </a:solidFill>
                <a:latin typeface="IBM Plex Sans"/>
              </a:defRPr>
            </a:pPr>
            <a:r>
              <a:rPr sz="1000" b="1">
                <a:solidFill>
                  <a:srgbClr val="0F62FE"/>
                </a:solidFill>
                <a:latin typeface="IBM Plex Sans"/>
              </a:rPr>
              <a:t>Understand</a:t>
            </a:r>
          </a:p>
        </p:txBody>
      </p:sp>
      <p:sp>
        <p:nvSpPr>
          <p:cNvPr id="39" name="TextBox 38"/>
          <p:cNvSpPr txBox="1"/>
          <p:nvPr/>
        </p:nvSpPr>
        <p:spPr>
          <a:xfrm>
            <a:off x="1511300" y="3873500"/>
            <a:ext cx="2311400" cy="2921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Portfolio · Digital Twins</a:t>
            </a:r>
          </a:p>
        </p:txBody>
      </p:sp>
      <p:sp>
        <p:nvSpPr>
          <p:cNvPr id="40" name="TextBox 39"/>
          <p:cNvSpPr txBox="1"/>
          <p:nvPr/>
        </p:nvSpPr>
        <p:spPr>
          <a:xfrm>
            <a:off x="685800" y="4178300"/>
            <a:ext cx="800100" cy="203200"/>
          </a:xfrm>
          <a:prstGeom prst="rect">
            <a:avLst/>
          </a:prstGeom>
          <a:noFill/>
        </p:spPr>
        <p:txBody>
          <a:bodyPr wrap="square" lIns="0" tIns="0" rIns="0" bIns="0">
            <a:spAutoFit/>
          </a:bodyPr>
          <a:lstStyle/>
          <a:p>
            <a:pPr algn="l">
              <a:lnSpc>
                <a:spcPct val="104000"/>
              </a:lnSpc>
              <a:spcAft>
                <a:spcPts val="200"/>
              </a:spcAft>
              <a:defRPr sz="1000" b="1">
                <a:solidFill>
                  <a:srgbClr val="0F62FE"/>
                </a:solidFill>
                <a:latin typeface="IBM Plex Sans"/>
              </a:defRPr>
            </a:pPr>
            <a:r>
              <a:rPr sz="1000" b="1">
                <a:solidFill>
                  <a:srgbClr val="0F62FE"/>
                </a:solidFill>
                <a:latin typeface="IBM Plex Sans"/>
              </a:rPr>
              <a:t>Evidence</a:t>
            </a:r>
          </a:p>
        </p:txBody>
      </p:sp>
      <p:sp>
        <p:nvSpPr>
          <p:cNvPr id="41" name="TextBox 40"/>
          <p:cNvSpPr txBox="1"/>
          <p:nvPr/>
        </p:nvSpPr>
        <p:spPr>
          <a:xfrm>
            <a:off x="1511300" y="4178300"/>
            <a:ext cx="2311400" cy="2921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Asset · Evidence</a:t>
            </a:r>
          </a:p>
        </p:txBody>
      </p:sp>
      <p:sp>
        <p:nvSpPr>
          <p:cNvPr id="42" name="TextBox 41"/>
          <p:cNvSpPr txBox="1"/>
          <p:nvPr/>
        </p:nvSpPr>
        <p:spPr>
          <a:xfrm>
            <a:off x="685800" y="4483100"/>
            <a:ext cx="800100" cy="203200"/>
          </a:xfrm>
          <a:prstGeom prst="rect">
            <a:avLst/>
          </a:prstGeom>
          <a:noFill/>
        </p:spPr>
        <p:txBody>
          <a:bodyPr wrap="square" lIns="0" tIns="0" rIns="0" bIns="0">
            <a:spAutoFit/>
          </a:bodyPr>
          <a:lstStyle/>
          <a:p>
            <a:pPr algn="l">
              <a:lnSpc>
                <a:spcPct val="104000"/>
              </a:lnSpc>
              <a:spcAft>
                <a:spcPts val="200"/>
              </a:spcAft>
              <a:defRPr sz="1000" b="1">
                <a:solidFill>
                  <a:srgbClr val="0F62FE"/>
                </a:solidFill>
                <a:latin typeface="IBM Plex Sans"/>
              </a:defRPr>
            </a:pPr>
            <a:r>
              <a:rPr sz="1000" b="1">
                <a:solidFill>
                  <a:srgbClr val="0F62FE"/>
                </a:solidFill>
                <a:latin typeface="IBM Plex Sans"/>
              </a:rPr>
              <a:t>Planning</a:t>
            </a:r>
          </a:p>
        </p:txBody>
      </p:sp>
      <p:sp>
        <p:nvSpPr>
          <p:cNvPr id="43" name="TextBox 42"/>
          <p:cNvSpPr txBox="1"/>
          <p:nvPr/>
        </p:nvSpPr>
        <p:spPr>
          <a:xfrm>
            <a:off x="1511300" y="4483100"/>
            <a:ext cx="2311400" cy="2921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Zoning · Zoning ML · Development</a:t>
            </a:r>
          </a:p>
        </p:txBody>
      </p:sp>
      <p:sp>
        <p:nvSpPr>
          <p:cNvPr id="44" name="TextBox 43"/>
          <p:cNvSpPr txBox="1"/>
          <p:nvPr/>
        </p:nvSpPr>
        <p:spPr>
          <a:xfrm>
            <a:off x="685800" y="4787900"/>
            <a:ext cx="800100" cy="203200"/>
          </a:xfrm>
          <a:prstGeom prst="rect">
            <a:avLst/>
          </a:prstGeom>
          <a:noFill/>
        </p:spPr>
        <p:txBody>
          <a:bodyPr wrap="square" lIns="0" tIns="0" rIns="0" bIns="0">
            <a:spAutoFit/>
          </a:bodyPr>
          <a:lstStyle/>
          <a:p>
            <a:pPr algn="l">
              <a:lnSpc>
                <a:spcPct val="104000"/>
              </a:lnSpc>
              <a:spcAft>
                <a:spcPts val="200"/>
              </a:spcAft>
              <a:defRPr sz="1000" b="1">
                <a:solidFill>
                  <a:srgbClr val="0F62FE"/>
                </a:solidFill>
                <a:latin typeface="IBM Plex Sans"/>
              </a:defRPr>
            </a:pPr>
            <a:r>
              <a:rPr sz="1000" b="1">
                <a:solidFill>
                  <a:srgbClr val="0F62FE"/>
                </a:solidFill>
                <a:latin typeface="IBM Plex Sans"/>
              </a:rPr>
              <a:t>Compare</a:t>
            </a:r>
          </a:p>
        </p:txBody>
      </p:sp>
      <p:sp>
        <p:nvSpPr>
          <p:cNvPr id="45" name="TextBox 44"/>
          <p:cNvSpPr txBox="1"/>
          <p:nvPr/>
        </p:nvSpPr>
        <p:spPr>
          <a:xfrm>
            <a:off x="1511300" y="4787900"/>
            <a:ext cx="2311400" cy="2921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Valuation · Scenario · Actions · Selection</a:t>
            </a:r>
          </a:p>
        </p:txBody>
      </p:sp>
      <p:sp>
        <p:nvSpPr>
          <p:cNvPr id="46" name="TextBox 45"/>
          <p:cNvSpPr txBox="1"/>
          <p:nvPr/>
        </p:nvSpPr>
        <p:spPr>
          <a:xfrm>
            <a:off x="685800" y="5092700"/>
            <a:ext cx="800100" cy="203200"/>
          </a:xfrm>
          <a:prstGeom prst="rect">
            <a:avLst/>
          </a:prstGeom>
          <a:noFill/>
        </p:spPr>
        <p:txBody>
          <a:bodyPr wrap="square" lIns="0" tIns="0" rIns="0" bIns="0">
            <a:spAutoFit/>
          </a:bodyPr>
          <a:lstStyle/>
          <a:p>
            <a:pPr algn="l">
              <a:lnSpc>
                <a:spcPct val="104000"/>
              </a:lnSpc>
              <a:spcAft>
                <a:spcPts val="200"/>
              </a:spcAft>
              <a:defRPr sz="1000" b="1">
                <a:solidFill>
                  <a:srgbClr val="0F62FE"/>
                </a:solidFill>
                <a:latin typeface="IBM Plex Sans"/>
              </a:defRPr>
            </a:pPr>
            <a:r>
              <a:rPr sz="1000" b="1">
                <a:solidFill>
                  <a:srgbClr val="0F62FE"/>
                </a:solidFill>
                <a:latin typeface="IBM Plex Sans"/>
              </a:rPr>
              <a:t>Review</a:t>
            </a:r>
          </a:p>
        </p:txBody>
      </p:sp>
      <p:sp>
        <p:nvSpPr>
          <p:cNvPr id="47" name="TextBox 46"/>
          <p:cNvSpPr txBox="1"/>
          <p:nvPr/>
        </p:nvSpPr>
        <p:spPr>
          <a:xfrm>
            <a:off x="1511300" y="5092700"/>
            <a:ext cx="2311400" cy="2921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Optimiser · Models · Architecture · Audit</a:t>
            </a:r>
          </a:p>
        </p:txBody>
      </p:sp>
      <p:sp>
        <p:nvSpPr>
          <p:cNvPr id="48" name="TextBox 47"/>
          <p:cNvSpPr txBox="1"/>
          <p:nvPr/>
        </p:nvSpPr>
        <p:spPr>
          <a:xfrm>
            <a:off x="4267200" y="3492500"/>
            <a:ext cx="3619500" cy="292100"/>
          </a:xfrm>
          <a:prstGeom prst="rect">
            <a:avLst/>
          </a:prstGeom>
          <a:noFill/>
        </p:spPr>
        <p:txBody>
          <a:bodyPr wrap="square" lIns="0" tIns="0" rIns="0" bIns="0">
            <a:spAutoFit/>
          </a:bodyPr>
          <a:lstStyle/>
          <a:p>
            <a:pPr algn="l">
              <a:lnSpc>
                <a:spcPct val="104000"/>
              </a:lnSpc>
              <a:spcAft>
                <a:spcPts val="200"/>
              </a:spcAft>
              <a:defRPr sz="1350" b="1">
                <a:solidFill>
                  <a:srgbClr val="202A38"/>
                </a:solidFill>
                <a:latin typeface="IBM Plex Sans"/>
              </a:defRPr>
            </a:pPr>
            <a:r>
              <a:rPr sz="1350" b="1">
                <a:solidFill>
                  <a:srgbClr val="202A38"/>
                </a:solidFill>
                <a:latin typeface="IBM Plex Sans"/>
              </a:rPr>
              <a:t>02  Compare action scores (S$m)</a:t>
            </a:r>
          </a:p>
        </p:txBody>
      </p:sp>
      <p:cxnSp>
        <p:nvCxnSpPr>
          <p:cNvPr id="49" name="Connector 48"/>
          <p:cNvCxnSpPr/>
          <p:nvPr/>
        </p:nvCxnSpPr>
        <p:spPr>
          <a:xfrm>
            <a:off x="7454900" y="3835400"/>
            <a:ext cx="0" cy="1562100"/>
          </a:xfrm>
          <a:prstGeom prst="line">
            <a:avLst/>
          </a:prstGeom>
          <a:ln w="9525">
            <a:solidFill>
              <a:srgbClr val="D5DFE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292600" y="3898900"/>
            <a:ext cx="965200" cy="215900"/>
          </a:xfrm>
          <a:prstGeom prst="rect">
            <a:avLst/>
          </a:prstGeom>
          <a:noFill/>
        </p:spPr>
        <p:txBody>
          <a:bodyPr wrap="square" lIns="0" tIns="0" rIns="0" bIns="0">
            <a:spAutoFit/>
          </a:bodyPr>
          <a:lstStyle/>
          <a:p>
            <a:pPr algn="l">
              <a:lnSpc>
                <a:spcPct val="104000"/>
              </a:lnSpc>
              <a:spcAft>
                <a:spcPts val="200"/>
              </a:spcAft>
              <a:defRPr sz="1100" b="0">
                <a:solidFill>
                  <a:srgbClr val="202A38"/>
                </a:solidFill>
                <a:latin typeface="IBM Plex Sans"/>
              </a:defRPr>
            </a:pPr>
            <a:r>
              <a:rPr sz="1100" b="0">
                <a:solidFill>
                  <a:srgbClr val="202A38"/>
                </a:solidFill>
                <a:latin typeface="IBM Plex Sans"/>
              </a:rPr>
              <a:t>Hold</a:t>
            </a:r>
          </a:p>
        </p:txBody>
      </p:sp>
      <p:sp>
        <p:nvSpPr>
          <p:cNvPr id="51" name="Rectangle 50"/>
          <p:cNvSpPr/>
          <p:nvPr/>
        </p:nvSpPr>
        <p:spPr>
          <a:xfrm>
            <a:off x="7442200" y="3924300"/>
            <a:ext cx="25400" cy="1270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594600" y="3886200"/>
            <a:ext cx="393700" cy="2286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0.00</a:t>
            </a:r>
          </a:p>
        </p:txBody>
      </p:sp>
      <p:sp>
        <p:nvSpPr>
          <p:cNvPr id="53" name="TextBox 52"/>
          <p:cNvSpPr txBox="1"/>
          <p:nvPr/>
        </p:nvSpPr>
        <p:spPr>
          <a:xfrm>
            <a:off x="4292600" y="4191000"/>
            <a:ext cx="965200" cy="215900"/>
          </a:xfrm>
          <a:prstGeom prst="rect">
            <a:avLst/>
          </a:prstGeom>
          <a:noFill/>
        </p:spPr>
        <p:txBody>
          <a:bodyPr wrap="square" lIns="0" tIns="0" rIns="0" bIns="0">
            <a:spAutoFit/>
          </a:bodyPr>
          <a:lstStyle/>
          <a:p>
            <a:pPr algn="l">
              <a:lnSpc>
                <a:spcPct val="104000"/>
              </a:lnSpc>
              <a:spcAft>
                <a:spcPts val="200"/>
              </a:spcAft>
              <a:defRPr sz="1100" b="0">
                <a:solidFill>
                  <a:srgbClr val="202A38"/>
                </a:solidFill>
                <a:latin typeface="IBM Plex Sans"/>
              </a:defRPr>
            </a:pPr>
            <a:r>
              <a:rPr sz="1100" b="0">
                <a:solidFill>
                  <a:srgbClr val="202A38"/>
                </a:solidFill>
                <a:latin typeface="IBM Plex Sans"/>
              </a:rPr>
              <a:t>Retrofit</a:t>
            </a:r>
          </a:p>
        </p:txBody>
      </p:sp>
      <p:sp>
        <p:nvSpPr>
          <p:cNvPr id="54" name="Rectangle 53"/>
          <p:cNvSpPr/>
          <p:nvPr/>
        </p:nvSpPr>
        <p:spPr>
          <a:xfrm>
            <a:off x="7255035" y="4216400"/>
            <a:ext cx="199864" cy="127000"/>
          </a:xfrm>
          <a:prstGeom prst="rect">
            <a:avLst/>
          </a:prstGeom>
          <a:solidFill>
            <a:srgbClr val="A7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594600" y="4178300"/>
            <a:ext cx="393700" cy="2286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-2.50</a:t>
            </a:r>
          </a:p>
        </p:txBody>
      </p:sp>
      <p:sp>
        <p:nvSpPr>
          <p:cNvPr id="56" name="TextBox 55"/>
          <p:cNvSpPr txBox="1"/>
          <p:nvPr/>
        </p:nvSpPr>
        <p:spPr>
          <a:xfrm>
            <a:off x="4292600" y="4483100"/>
            <a:ext cx="965200" cy="215900"/>
          </a:xfrm>
          <a:prstGeom prst="rect">
            <a:avLst/>
          </a:prstGeom>
          <a:noFill/>
        </p:spPr>
        <p:txBody>
          <a:bodyPr wrap="square" lIns="0" tIns="0" rIns="0" bIns="0">
            <a:spAutoFit/>
          </a:bodyPr>
          <a:lstStyle/>
          <a:p>
            <a:pPr algn="l">
              <a:lnSpc>
                <a:spcPct val="104000"/>
              </a:lnSpc>
              <a:spcAft>
                <a:spcPts val="200"/>
              </a:spcAft>
              <a:defRPr sz="1100" b="0">
                <a:solidFill>
                  <a:srgbClr val="202A38"/>
                </a:solidFill>
                <a:latin typeface="IBM Plex Sans"/>
              </a:defRPr>
            </a:pPr>
            <a:r>
              <a:rPr sz="1100" b="0">
                <a:solidFill>
                  <a:srgbClr val="202A38"/>
                </a:solidFill>
                <a:latin typeface="IBM Plex Sans"/>
              </a:rPr>
              <a:t>Repurpose</a:t>
            </a:r>
          </a:p>
        </p:txBody>
      </p:sp>
      <p:sp>
        <p:nvSpPr>
          <p:cNvPr id="57" name="Rectangle 56"/>
          <p:cNvSpPr/>
          <p:nvPr/>
        </p:nvSpPr>
        <p:spPr>
          <a:xfrm>
            <a:off x="6730649" y="4508500"/>
            <a:ext cx="724250" cy="127000"/>
          </a:xfrm>
          <a:prstGeom prst="rect">
            <a:avLst/>
          </a:prstGeom>
          <a:solidFill>
            <a:srgbClr val="A7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594600" y="4470400"/>
            <a:ext cx="393700" cy="2286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-9.05</a:t>
            </a:r>
          </a:p>
        </p:txBody>
      </p:sp>
      <p:sp>
        <p:nvSpPr>
          <p:cNvPr id="59" name="TextBox 58"/>
          <p:cNvSpPr txBox="1"/>
          <p:nvPr/>
        </p:nvSpPr>
        <p:spPr>
          <a:xfrm>
            <a:off x="4292600" y="4775200"/>
            <a:ext cx="965200" cy="215900"/>
          </a:xfrm>
          <a:prstGeom prst="rect">
            <a:avLst/>
          </a:prstGeom>
          <a:noFill/>
        </p:spPr>
        <p:txBody>
          <a:bodyPr wrap="square" lIns="0" tIns="0" rIns="0" bIns="0">
            <a:spAutoFit/>
          </a:bodyPr>
          <a:lstStyle/>
          <a:p>
            <a:pPr algn="l">
              <a:lnSpc>
                <a:spcPct val="104000"/>
              </a:lnSpc>
              <a:spcAft>
                <a:spcPts val="200"/>
              </a:spcAft>
              <a:defRPr sz="1100" b="0">
                <a:solidFill>
                  <a:srgbClr val="202A38"/>
                </a:solidFill>
                <a:latin typeface="IBM Plex Sans"/>
              </a:defRPr>
            </a:pPr>
            <a:r>
              <a:rPr sz="1100" b="0">
                <a:solidFill>
                  <a:srgbClr val="202A38"/>
                </a:solidFill>
                <a:latin typeface="IBM Plex Sans"/>
              </a:rPr>
              <a:t>Redevelop</a:t>
            </a:r>
          </a:p>
        </p:txBody>
      </p:sp>
      <p:sp>
        <p:nvSpPr>
          <p:cNvPr id="60" name="Rectangle 59"/>
          <p:cNvSpPr/>
          <p:nvPr/>
        </p:nvSpPr>
        <p:spPr>
          <a:xfrm>
            <a:off x="6018240" y="4800600"/>
            <a:ext cx="1436659" cy="127000"/>
          </a:xfrm>
          <a:prstGeom prst="rect">
            <a:avLst/>
          </a:prstGeom>
          <a:solidFill>
            <a:srgbClr val="A7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594600" y="4762500"/>
            <a:ext cx="393700" cy="228600"/>
          </a:xfrm>
          <a:prstGeom prst="rect">
            <a:avLst/>
          </a:prstGeom>
          <a:noFill/>
        </p:spPr>
        <p:txBody>
          <a:bodyPr wrap="square" lIns="0" tIns="0" rIns="0" bIns="0">
            <a:spAutoFit/>
          </a:bodyPr>
          <a:lstStyle/>
          <a:p>
            <a:pPr algn="l">
              <a:lnSpc>
                <a:spcPct val="104000"/>
              </a:lnSpc>
              <a:spcAft>
                <a:spcPts val="200"/>
              </a:spcAft>
              <a:defRPr sz="950" b="0">
                <a:solidFill>
                  <a:srgbClr val="657080"/>
                </a:solidFill>
                <a:latin typeface="IBM Plex Sans"/>
              </a:defRPr>
            </a:pPr>
            <a:r>
              <a:rPr sz="950" b="0">
                <a:solidFill>
                  <a:srgbClr val="657080"/>
                </a:solidFill>
                <a:latin typeface="IBM Plex Sans"/>
              </a:rPr>
              <a:t>-17.96</a:t>
            </a:r>
          </a:p>
        </p:txBody>
      </p:sp>
      <p:sp>
        <p:nvSpPr>
          <p:cNvPr id="62" name="TextBox 61"/>
          <p:cNvSpPr txBox="1"/>
          <p:nvPr/>
        </p:nvSpPr>
        <p:spPr>
          <a:xfrm>
            <a:off x="4292600" y="5067300"/>
            <a:ext cx="965200" cy="215900"/>
          </a:xfrm>
          <a:prstGeom prst="rect">
            <a:avLst/>
          </a:prstGeom>
          <a:noFill/>
        </p:spPr>
        <p:txBody>
          <a:bodyPr wrap="square" lIns="0" tIns="0" rIns="0" bIns="0">
            <a:spAutoFit/>
          </a:bodyPr>
          <a:lstStyle/>
          <a:p>
            <a:pPr algn="l">
              <a:lnSpc>
                <a:spcPct val="104000"/>
              </a:lnSpc>
              <a:spcAft>
                <a:spcPts val="200"/>
              </a:spcAft>
              <a:defRPr sz="1100" b="0">
                <a:solidFill>
                  <a:srgbClr val="202A38"/>
                </a:solidFill>
                <a:latin typeface="IBM Plex Sans"/>
              </a:defRPr>
            </a:pPr>
            <a:r>
              <a:rPr sz="1100" b="0">
                <a:solidFill>
                  <a:srgbClr val="202A38"/>
                </a:solidFill>
                <a:latin typeface="IBM Plex Sans"/>
              </a:rPr>
              <a:t>Sell</a:t>
            </a:r>
          </a:p>
        </p:txBody>
      </p:sp>
      <p:sp>
        <p:nvSpPr>
          <p:cNvPr id="63" name="Rectangle 62"/>
          <p:cNvSpPr/>
          <p:nvPr/>
        </p:nvSpPr>
        <p:spPr>
          <a:xfrm>
            <a:off x="7454900" y="5092700"/>
            <a:ext cx="127455" cy="1270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594600" y="5054600"/>
            <a:ext cx="393700" cy="228600"/>
          </a:xfrm>
          <a:prstGeom prst="rect">
            <a:avLst/>
          </a:prstGeom>
          <a:noFill/>
        </p:spPr>
        <p:txBody>
          <a:bodyPr wrap="square" lIns="0" tIns="0" rIns="0" bIns="0">
            <a:spAutoFit/>
          </a:bodyPr>
          <a:lstStyle/>
          <a:p>
            <a:pPr algn="l">
              <a:lnSpc>
                <a:spcPct val="104000"/>
              </a:lnSpc>
              <a:spcAft>
                <a:spcPts val="200"/>
              </a:spcAft>
              <a:defRPr sz="950" b="0">
                <a:solidFill>
                  <a:srgbClr val="0F62FE"/>
                </a:solidFill>
                <a:latin typeface="IBM Plex Sans"/>
              </a:defRPr>
            </a:pPr>
            <a:r>
              <a:rPr sz="950" b="0">
                <a:solidFill>
                  <a:srgbClr val="0F62FE"/>
                </a:solidFill>
                <a:latin typeface="IBM Plex Sans"/>
              </a:rPr>
              <a:t>1.59</a:t>
            </a:r>
          </a:p>
        </p:txBody>
      </p:sp>
      <p:sp>
        <p:nvSpPr>
          <p:cNvPr id="65" name="TextBox 64"/>
          <p:cNvSpPr txBox="1"/>
          <p:nvPr/>
        </p:nvSpPr>
        <p:spPr>
          <a:xfrm>
            <a:off x="8394700" y="3492500"/>
            <a:ext cx="3086100" cy="292100"/>
          </a:xfrm>
          <a:prstGeom prst="rect">
            <a:avLst/>
          </a:prstGeom>
          <a:noFill/>
        </p:spPr>
        <p:txBody>
          <a:bodyPr wrap="square" lIns="0" tIns="0" rIns="0" bIns="0">
            <a:spAutoFit/>
          </a:bodyPr>
          <a:lstStyle/>
          <a:p>
            <a:pPr algn="l">
              <a:lnSpc>
                <a:spcPct val="104000"/>
              </a:lnSpc>
              <a:spcAft>
                <a:spcPts val="200"/>
              </a:spcAft>
              <a:defRPr sz="1350" b="1">
                <a:solidFill>
                  <a:srgbClr val="202A38"/>
                </a:solidFill>
                <a:latin typeface="IBM Plex Sans"/>
              </a:defRPr>
            </a:pPr>
            <a:r>
              <a:rPr sz="1350" b="1">
                <a:solidFill>
                  <a:srgbClr val="202A38"/>
                </a:solidFill>
                <a:latin typeface="IBM Plex Sans"/>
              </a:rPr>
              <a:t>03  Explain the decision</a:t>
            </a:r>
          </a:p>
        </p:txBody>
      </p:sp>
      <p:sp>
        <p:nvSpPr>
          <p:cNvPr id="66" name="Oval 65"/>
          <p:cNvSpPr/>
          <p:nvPr/>
        </p:nvSpPr>
        <p:spPr>
          <a:xfrm>
            <a:off x="8420100" y="3924300"/>
            <a:ext cx="203200" cy="2032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420100" y="3937000"/>
            <a:ext cx="203200" cy="177800"/>
          </a:xfrm>
          <a:prstGeom prst="rect">
            <a:avLst/>
          </a:prstGeom>
          <a:noFill/>
        </p:spPr>
        <p:txBody>
          <a:bodyPr wrap="square" lIns="0" tIns="0" rIns="0" bIns="0">
            <a:spAutoFit/>
          </a:bodyPr>
          <a:lstStyle/>
          <a:p>
            <a:pPr algn="ctr">
              <a:lnSpc>
                <a:spcPct val="104000"/>
              </a:lnSpc>
              <a:spcAft>
                <a:spcPts val="200"/>
              </a:spcAft>
              <a:defRPr sz="900" b="1">
                <a:solidFill>
                  <a:srgbClr val="FFFFFF"/>
                </a:solidFill>
                <a:latin typeface="IBM Plex Sans"/>
              </a:defRPr>
            </a:pPr>
            <a:r>
              <a:rPr sz="900" b="1">
                <a:solidFill>
                  <a:srgbClr val="FFFFFF"/>
                </a:solidFill>
                <a:latin typeface="IBM Plex Sans"/>
              </a:rPr>
              <a:t>1</a:t>
            </a:r>
          </a:p>
        </p:txBody>
      </p:sp>
      <p:sp>
        <p:nvSpPr>
          <p:cNvPr id="68" name="TextBox 67"/>
          <p:cNvSpPr txBox="1"/>
          <p:nvPr/>
        </p:nvSpPr>
        <p:spPr>
          <a:xfrm>
            <a:off x="8737600" y="3924300"/>
            <a:ext cx="2730500" cy="254000"/>
          </a:xfrm>
          <a:prstGeom prst="rect">
            <a:avLst/>
          </a:prstGeom>
          <a:noFill/>
        </p:spPr>
        <p:txBody>
          <a:bodyPr wrap="square" lIns="0" tIns="0" rIns="0" bIns="0">
            <a:spAutoFit/>
          </a:bodyPr>
          <a:lstStyle/>
          <a:p>
            <a:pPr algn="l">
              <a:lnSpc>
                <a:spcPct val="104000"/>
              </a:lnSpc>
              <a:spcAft>
                <a:spcPts val="200"/>
              </a:spcAft>
              <a:defRPr sz="1200" b="0">
                <a:solidFill>
                  <a:srgbClr val="202A38"/>
                </a:solidFill>
                <a:latin typeface="IBM Plex Sans"/>
              </a:defRPr>
            </a:pPr>
            <a:r>
              <a:rPr sz="1200" b="0">
                <a:solidFill>
                  <a:srgbClr val="202A38"/>
                </a:solidFill>
                <a:latin typeface="IBM Plex Sans"/>
              </a:rPr>
              <a:t>Compare against Hold</a:t>
            </a:r>
          </a:p>
        </p:txBody>
      </p:sp>
      <p:sp>
        <p:nvSpPr>
          <p:cNvPr id="69" name="Oval 68"/>
          <p:cNvSpPr/>
          <p:nvPr/>
        </p:nvSpPr>
        <p:spPr>
          <a:xfrm>
            <a:off x="8420100" y="4267200"/>
            <a:ext cx="203200" cy="2032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20100" y="4279900"/>
            <a:ext cx="203200" cy="177800"/>
          </a:xfrm>
          <a:prstGeom prst="rect">
            <a:avLst/>
          </a:prstGeom>
          <a:noFill/>
        </p:spPr>
        <p:txBody>
          <a:bodyPr wrap="square" lIns="0" tIns="0" rIns="0" bIns="0">
            <a:spAutoFit/>
          </a:bodyPr>
          <a:lstStyle/>
          <a:p>
            <a:pPr algn="ctr">
              <a:lnSpc>
                <a:spcPct val="104000"/>
              </a:lnSpc>
              <a:spcAft>
                <a:spcPts val="200"/>
              </a:spcAft>
              <a:defRPr sz="900" b="1">
                <a:solidFill>
                  <a:srgbClr val="FFFFFF"/>
                </a:solidFill>
                <a:latin typeface="IBM Plex Sans"/>
              </a:defRPr>
            </a:pPr>
            <a:r>
              <a:rPr sz="900" b="1">
                <a:solidFill>
                  <a:srgbClr val="FFFFFF"/>
                </a:solidFill>
                <a:latin typeface="IBM Plex Sans"/>
              </a:rPr>
              <a:t>2</a:t>
            </a:r>
          </a:p>
        </p:txBody>
      </p:sp>
      <p:sp>
        <p:nvSpPr>
          <p:cNvPr id="71" name="TextBox 70"/>
          <p:cNvSpPr txBox="1"/>
          <p:nvPr/>
        </p:nvSpPr>
        <p:spPr>
          <a:xfrm>
            <a:off x="8737600" y="4267200"/>
            <a:ext cx="2730500" cy="254000"/>
          </a:xfrm>
          <a:prstGeom prst="rect">
            <a:avLst/>
          </a:prstGeom>
          <a:noFill/>
        </p:spPr>
        <p:txBody>
          <a:bodyPr wrap="square" lIns="0" tIns="0" rIns="0" bIns="0">
            <a:spAutoFit/>
          </a:bodyPr>
          <a:lstStyle/>
          <a:p>
            <a:pPr algn="l">
              <a:lnSpc>
                <a:spcPct val="104000"/>
              </a:lnSpc>
              <a:spcAft>
                <a:spcPts val="200"/>
              </a:spcAft>
              <a:defRPr sz="1200" b="0">
                <a:solidFill>
                  <a:srgbClr val="202A38"/>
                </a:solidFill>
                <a:latin typeface="IBM Plex Sans"/>
              </a:defRPr>
            </a:pPr>
            <a:r>
              <a:rPr sz="1200" b="0">
                <a:solidFill>
                  <a:srgbClr val="202A38"/>
                </a:solidFill>
                <a:latin typeface="IBM Plex Sans"/>
              </a:rPr>
              <a:t>Inspect downside risk</a:t>
            </a:r>
          </a:p>
        </p:txBody>
      </p:sp>
      <p:sp>
        <p:nvSpPr>
          <p:cNvPr id="72" name="Oval 71"/>
          <p:cNvSpPr/>
          <p:nvPr/>
        </p:nvSpPr>
        <p:spPr>
          <a:xfrm>
            <a:off x="8420100" y="4610100"/>
            <a:ext cx="203200" cy="2032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420100" y="4622800"/>
            <a:ext cx="203200" cy="177800"/>
          </a:xfrm>
          <a:prstGeom prst="rect">
            <a:avLst/>
          </a:prstGeom>
          <a:noFill/>
        </p:spPr>
        <p:txBody>
          <a:bodyPr wrap="square" lIns="0" tIns="0" rIns="0" bIns="0">
            <a:spAutoFit/>
          </a:bodyPr>
          <a:lstStyle/>
          <a:p>
            <a:pPr algn="ctr">
              <a:lnSpc>
                <a:spcPct val="104000"/>
              </a:lnSpc>
              <a:spcAft>
                <a:spcPts val="200"/>
              </a:spcAft>
              <a:defRPr sz="900" b="1">
                <a:solidFill>
                  <a:srgbClr val="FFFFFF"/>
                </a:solidFill>
                <a:latin typeface="IBM Plex Sans"/>
              </a:defRPr>
            </a:pPr>
            <a:r>
              <a:rPr sz="900" b="1">
                <a:solidFill>
                  <a:srgbClr val="FFFFFF"/>
                </a:solidFill>
                <a:latin typeface="IBM Plex Sans"/>
              </a:rPr>
              <a:t>3</a:t>
            </a:r>
          </a:p>
        </p:txBody>
      </p:sp>
      <p:sp>
        <p:nvSpPr>
          <p:cNvPr id="74" name="TextBox 73"/>
          <p:cNvSpPr txBox="1"/>
          <p:nvPr/>
        </p:nvSpPr>
        <p:spPr>
          <a:xfrm>
            <a:off x="8737600" y="4610100"/>
            <a:ext cx="2730500" cy="254000"/>
          </a:xfrm>
          <a:prstGeom prst="rect">
            <a:avLst/>
          </a:prstGeom>
          <a:noFill/>
        </p:spPr>
        <p:txBody>
          <a:bodyPr wrap="square" lIns="0" tIns="0" rIns="0" bIns="0">
            <a:spAutoFit/>
          </a:bodyPr>
          <a:lstStyle/>
          <a:p>
            <a:pPr algn="l">
              <a:lnSpc>
                <a:spcPct val="104000"/>
              </a:lnSpc>
              <a:spcAft>
                <a:spcPts val="200"/>
              </a:spcAft>
              <a:defRPr sz="1200" b="0">
                <a:solidFill>
                  <a:srgbClr val="202A38"/>
                </a:solidFill>
                <a:latin typeface="IBM Plex Sans"/>
              </a:defRPr>
            </a:pPr>
            <a:r>
              <a:rPr sz="1200" b="0">
                <a:solidFill>
                  <a:srgbClr val="202A38"/>
                </a:solidFill>
                <a:latin typeface="IBM Plex Sans"/>
              </a:rPr>
              <a:t>Review missing evidence</a:t>
            </a:r>
          </a:p>
        </p:txBody>
      </p:sp>
      <p:sp>
        <p:nvSpPr>
          <p:cNvPr id="75" name="Oval 74"/>
          <p:cNvSpPr/>
          <p:nvPr/>
        </p:nvSpPr>
        <p:spPr>
          <a:xfrm>
            <a:off x="8420100" y="4953000"/>
            <a:ext cx="203200" cy="2032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420100" y="4965700"/>
            <a:ext cx="203200" cy="177800"/>
          </a:xfrm>
          <a:prstGeom prst="rect">
            <a:avLst/>
          </a:prstGeom>
          <a:noFill/>
        </p:spPr>
        <p:txBody>
          <a:bodyPr wrap="square" lIns="0" tIns="0" rIns="0" bIns="0">
            <a:spAutoFit/>
          </a:bodyPr>
          <a:lstStyle/>
          <a:p>
            <a:pPr algn="ctr">
              <a:lnSpc>
                <a:spcPct val="104000"/>
              </a:lnSpc>
              <a:spcAft>
                <a:spcPts val="200"/>
              </a:spcAft>
              <a:defRPr sz="900" b="1">
                <a:solidFill>
                  <a:srgbClr val="FFFFFF"/>
                </a:solidFill>
                <a:latin typeface="IBM Plex Sans"/>
              </a:defRPr>
            </a:pPr>
            <a:r>
              <a:rPr sz="900" b="1">
                <a:solidFill>
                  <a:srgbClr val="FFFFFF"/>
                </a:solidFill>
                <a:latin typeface="IBM Plex Sans"/>
              </a:rPr>
              <a:t>4</a:t>
            </a:r>
          </a:p>
        </p:txBody>
      </p:sp>
      <p:sp>
        <p:nvSpPr>
          <p:cNvPr id="77" name="TextBox 76"/>
          <p:cNvSpPr txBox="1"/>
          <p:nvPr/>
        </p:nvSpPr>
        <p:spPr>
          <a:xfrm>
            <a:off x="8737600" y="4953000"/>
            <a:ext cx="2730500" cy="254000"/>
          </a:xfrm>
          <a:prstGeom prst="rect">
            <a:avLst/>
          </a:prstGeom>
          <a:noFill/>
        </p:spPr>
        <p:txBody>
          <a:bodyPr wrap="square" lIns="0" tIns="0" rIns="0" bIns="0">
            <a:spAutoFit/>
          </a:bodyPr>
          <a:lstStyle/>
          <a:p>
            <a:pPr algn="l">
              <a:lnSpc>
                <a:spcPct val="104000"/>
              </a:lnSpc>
              <a:spcAft>
                <a:spcPts val="200"/>
              </a:spcAft>
              <a:defRPr sz="1200" b="0">
                <a:solidFill>
                  <a:srgbClr val="202A38"/>
                </a:solidFill>
                <a:latin typeface="IBM Plex Sans"/>
              </a:defRPr>
            </a:pPr>
            <a:r>
              <a:rPr sz="1200" b="0">
                <a:solidFill>
                  <a:srgbClr val="202A38"/>
                </a:solidFill>
                <a:latin typeface="IBM Plex Sans"/>
              </a:rPr>
              <a:t>Test the portfolio fit</a:t>
            </a:r>
          </a:p>
        </p:txBody>
      </p:sp>
      <p:sp>
        <p:nvSpPr>
          <p:cNvPr id="78" name="Rectangle 77"/>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81" name="TextBox 80"/>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A candidate for review, with its rationale and evidence status.</a:t>
            </a:r>
          </a:p>
        </p:txBody>
      </p:sp>
      <p:sp>
        <p:nvSpPr>
          <p:cNvPr id="82" name="TextBox 81"/>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Use the linked tab labels on each slide to jump into the public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Asset and evidence | establish what is known</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Choose one asset, inspect its assumptions and separate supplied information from verified evidence.</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60960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40640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Asset</a:t>
            </a:r>
          </a:p>
        </p:txBody>
      </p:sp>
      <p:sp>
        <p:nvSpPr>
          <p:cNvPr id="8" name="Rectangle 7">
            <a:hlinkClick r:id="rId4"/>
          </p:cNvPr>
          <p:cNvSpPr/>
          <p:nvPr/>
        </p:nvSpPr>
        <p:spPr>
          <a:xfrm>
            <a:off x="2133600" y="1346200"/>
            <a:ext cx="83058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235200" y="1409700"/>
            <a:ext cx="62738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Evidence</a:t>
            </a:r>
          </a:p>
        </p:txBody>
      </p:sp>
      <p:sp>
        <p:nvSpPr>
          <p:cNvPr id="10" name="TextBox 9"/>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1" name="TextBox 10"/>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03</a:t>
            </a:r>
          </a:p>
        </p:txBody>
      </p:sp>
      <p:sp>
        <p:nvSpPr>
          <p:cNvPr id="12" name="TextBox 11"/>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3" name="TextBox 12"/>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Selected asset + value and income assumptions + source records, dates and planning context.</a:t>
            </a:r>
          </a:p>
        </p:txBody>
      </p:sp>
      <p:cxnSp>
        <p:nvCxnSpPr>
          <p:cNvPr id="14" name="Connector 13"/>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5600" y="2806700"/>
            <a:ext cx="2374900" cy="7112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5600" y="2806700"/>
            <a:ext cx="50800" cy="711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8000" y="2946400"/>
            <a:ext cx="2082800" cy="279400"/>
          </a:xfrm>
          <a:prstGeom prst="rect">
            <a:avLst/>
          </a:prstGeom>
          <a:noFill/>
        </p:spPr>
        <p:txBody>
          <a:bodyPr wrap="square" lIns="0" tIns="0" rIns="0" bIns="0">
            <a:spAutoFit/>
          </a:bodyPr>
          <a:lstStyle/>
          <a:p>
            <a:pPr algn="l">
              <a:lnSpc>
                <a:spcPct val="104000"/>
              </a:lnSpc>
              <a:spcAft>
                <a:spcPts val="200"/>
              </a:spcAft>
              <a:defRPr sz="1400" b="1">
                <a:solidFill>
                  <a:srgbClr val="202A38"/>
                </a:solidFill>
                <a:latin typeface="IBM Plex Sans"/>
              </a:defRPr>
            </a:pPr>
            <a:r>
              <a:rPr sz="1400" b="1">
                <a:solidFill>
                  <a:srgbClr val="202A38"/>
                </a:solidFill>
                <a:latin typeface="IBM Plex Sans"/>
              </a:rPr>
              <a:t>Asset register</a:t>
            </a:r>
          </a:p>
        </p:txBody>
      </p:sp>
      <p:sp>
        <p:nvSpPr>
          <p:cNvPr id="18" name="TextBox 17"/>
          <p:cNvSpPr txBox="1"/>
          <p:nvPr/>
        </p:nvSpPr>
        <p:spPr>
          <a:xfrm>
            <a:off x="508000" y="3302000"/>
            <a:ext cx="2070100" cy="1651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Identity, use, location</a:t>
            </a:r>
          </a:p>
        </p:txBody>
      </p:sp>
      <p:sp>
        <p:nvSpPr>
          <p:cNvPr id="19" name="Rounded Rectangle 18"/>
          <p:cNvSpPr/>
          <p:nvPr/>
        </p:nvSpPr>
        <p:spPr>
          <a:xfrm>
            <a:off x="355600" y="3670300"/>
            <a:ext cx="2374900" cy="7112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55600" y="3670300"/>
            <a:ext cx="50800" cy="711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8000" y="3810000"/>
            <a:ext cx="2082800" cy="279400"/>
          </a:xfrm>
          <a:prstGeom prst="rect">
            <a:avLst/>
          </a:prstGeom>
          <a:noFill/>
        </p:spPr>
        <p:txBody>
          <a:bodyPr wrap="square" lIns="0" tIns="0" rIns="0" bIns="0">
            <a:spAutoFit/>
          </a:bodyPr>
          <a:lstStyle/>
          <a:p>
            <a:pPr algn="l">
              <a:lnSpc>
                <a:spcPct val="104000"/>
              </a:lnSpc>
              <a:spcAft>
                <a:spcPts val="200"/>
              </a:spcAft>
              <a:defRPr sz="1400" b="1">
                <a:solidFill>
                  <a:srgbClr val="202A38"/>
                </a:solidFill>
                <a:latin typeface="IBM Plex Sans"/>
              </a:defRPr>
            </a:pPr>
            <a:r>
              <a:rPr sz="1400" b="1">
                <a:solidFill>
                  <a:srgbClr val="202A38"/>
                </a:solidFill>
                <a:latin typeface="IBM Plex Sans"/>
              </a:rPr>
              <a:t>Financial inputs</a:t>
            </a:r>
          </a:p>
        </p:txBody>
      </p:sp>
      <p:sp>
        <p:nvSpPr>
          <p:cNvPr id="22" name="TextBox 21"/>
          <p:cNvSpPr txBox="1"/>
          <p:nvPr/>
        </p:nvSpPr>
        <p:spPr>
          <a:xfrm>
            <a:off x="508000" y="4165600"/>
            <a:ext cx="2070100" cy="1651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Value, NOI, leases, costs</a:t>
            </a:r>
          </a:p>
        </p:txBody>
      </p:sp>
      <p:sp>
        <p:nvSpPr>
          <p:cNvPr id="23" name="Rounded Rectangle 22"/>
          <p:cNvSpPr/>
          <p:nvPr/>
        </p:nvSpPr>
        <p:spPr>
          <a:xfrm>
            <a:off x="355600" y="4533900"/>
            <a:ext cx="2374900" cy="7112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55600" y="4533900"/>
            <a:ext cx="50800" cy="711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8000" y="4673600"/>
            <a:ext cx="2082800" cy="279400"/>
          </a:xfrm>
          <a:prstGeom prst="rect">
            <a:avLst/>
          </a:prstGeom>
          <a:noFill/>
        </p:spPr>
        <p:txBody>
          <a:bodyPr wrap="square" lIns="0" tIns="0" rIns="0" bIns="0">
            <a:spAutoFit/>
          </a:bodyPr>
          <a:lstStyle/>
          <a:p>
            <a:pPr algn="l">
              <a:lnSpc>
                <a:spcPct val="104000"/>
              </a:lnSpc>
              <a:spcAft>
                <a:spcPts val="200"/>
              </a:spcAft>
              <a:defRPr sz="1400" b="1">
                <a:solidFill>
                  <a:srgbClr val="202A38"/>
                </a:solidFill>
                <a:latin typeface="IBM Plex Sans"/>
              </a:defRPr>
            </a:pPr>
            <a:r>
              <a:rPr sz="1400" b="1">
                <a:solidFill>
                  <a:srgbClr val="202A38"/>
                </a:solidFill>
                <a:latin typeface="IBM Plex Sans"/>
              </a:rPr>
              <a:t>Evidence records</a:t>
            </a:r>
          </a:p>
        </p:txBody>
      </p:sp>
      <p:sp>
        <p:nvSpPr>
          <p:cNvPr id="26" name="TextBox 25"/>
          <p:cNvSpPr txBox="1"/>
          <p:nvPr/>
        </p:nvSpPr>
        <p:spPr>
          <a:xfrm>
            <a:off x="508000" y="5029200"/>
            <a:ext cx="2070100" cy="1651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Title, source, owner, date</a:t>
            </a:r>
          </a:p>
        </p:txBody>
      </p:sp>
      <p:cxnSp>
        <p:nvCxnSpPr>
          <p:cNvPr id="27" name="Connector 26"/>
          <p:cNvCxnSpPr/>
          <p:nvPr/>
        </p:nvCxnSpPr>
        <p:spPr>
          <a:xfrm>
            <a:off x="2730500" y="3162300"/>
            <a:ext cx="2540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84500" y="3162300"/>
            <a:ext cx="0" cy="8636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84500" y="4025900"/>
            <a:ext cx="342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730500" y="4025900"/>
            <a:ext cx="596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730500" y="4889500"/>
            <a:ext cx="2540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984500" y="4025900"/>
            <a:ext cx="0" cy="8636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84500" y="4025900"/>
            <a:ext cx="342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327400" y="3352800"/>
            <a:ext cx="2628900" cy="13462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327400" y="3352800"/>
            <a:ext cx="50800" cy="1346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479800" y="3492500"/>
            <a:ext cx="2336800" cy="279400"/>
          </a:xfrm>
          <a:prstGeom prst="rect">
            <a:avLst/>
          </a:prstGeom>
          <a:noFill/>
        </p:spPr>
        <p:txBody>
          <a:bodyPr wrap="square" lIns="0" tIns="0" rIns="0" bIns="0">
            <a:spAutoFit/>
          </a:bodyPr>
          <a:lstStyle/>
          <a:p>
            <a:pPr algn="l">
              <a:lnSpc>
                <a:spcPct val="104000"/>
              </a:lnSpc>
              <a:spcAft>
                <a:spcPts val="200"/>
              </a:spcAft>
              <a:defRPr sz="1700" b="1">
                <a:solidFill>
                  <a:srgbClr val="202A38"/>
                </a:solidFill>
                <a:latin typeface="IBM Plex Sans"/>
              </a:defRPr>
            </a:pPr>
            <a:r>
              <a:rPr sz="1700" b="1">
                <a:solidFill>
                  <a:srgbClr val="202A38"/>
                </a:solidFill>
                <a:latin typeface="IBM Plex Sans"/>
              </a:rPr>
              <a:t>Check and reconcile</a:t>
            </a:r>
          </a:p>
        </p:txBody>
      </p:sp>
      <p:sp>
        <p:nvSpPr>
          <p:cNvPr id="37" name="TextBox 36"/>
          <p:cNvSpPr txBox="1"/>
          <p:nvPr/>
        </p:nvSpPr>
        <p:spPr>
          <a:xfrm>
            <a:off x="3479800" y="3848100"/>
            <a:ext cx="2324100" cy="8001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Source, units, missing fields,</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freshness and verification.</a:t>
            </a:r>
          </a:p>
        </p:txBody>
      </p:sp>
      <p:cxnSp>
        <p:nvCxnSpPr>
          <p:cNvPr id="38" name="Connector 37"/>
          <p:cNvCxnSpPr/>
          <p:nvPr/>
        </p:nvCxnSpPr>
        <p:spPr>
          <a:xfrm>
            <a:off x="5956300" y="4025900"/>
            <a:ext cx="4953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6451600" y="3289300"/>
            <a:ext cx="1587500" cy="1473200"/>
          </a:xfrm>
          <a:prstGeom prst="diamond">
            <a:avLst/>
          </a:prstGeom>
          <a:solidFill>
            <a:srgbClr val="FFF1D8"/>
          </a:solidFill>
          <a:ln w="13970">
            <a:solidFill>
              <a:srgbClr val="FF8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37350" y="3820160"/>
            <a:ext cx="1016000" cy="457200"/>
          </a:xfrm>
          <a:prstGeom prst="rect">
            <a:avLst/>
          </a:prstGeom>
          <a:noFill/>
        </p:spPr>
        <p:txBody>
          <a:bodyPr wrap="square" lIns="0" tIns="0" rIns="0" bIns="0">
            <a:spAutoFit/>
          </a:bodyPr>
          <a:lstStyle/>
          <a:p>
            <a:pPr algn="ctr">
              <a:lnSpc>
                <a:spcPct val="104000"/>
              </a:lnSpc>
              <a:spcAft>
                <a:spcPts val="200"/>
              </a:spcAft>
              <a:defRPr sz="1300" b="1">
                <a:solidFill>
                  <a:srgbClr val="A65A00"/>
                </a:solidFill>
                <a:latin typeface="IBM Plex Sans"/>
              </a:defRPr>
            </a:pPr>
            <a:r>
              <a:rPr sz="1300" b="1">
                <a:solidFill>
                  <a:srgbClr val="A65A00"/>
                </a:solidFill>
                <a:latin typeface="IBM Plex Sans"/>
              </a:rPr>
              <a:t>Evidence</a:t>
            </a:r>
          </a:p>
          <a:p>
            <a:pPr algn="ctr">
              <a:lnSpc>
                <a:spcPct val="104000"/>
              </a:lnSpc>
              <a:spcAft>
                <a:spcPts val="200"/>
              </a:spcAft>
              <a:defRPr sz="1300" b="1">
                <a:solidFill>
                  <a:srgbClr val="A65A00"/>
                </a:solidFill>
                <a:latin typeface="IBM Plex Sans"/>
              </a:defRPr>
            </a:pPr>
            <a:r>
              <a:rPr sz="1300" b="1">
                <a:solidFill>
                  <a:srgbClr val="A65A00"/>
                </a:solidFill>
                <a:latin typeface="IBM Plex Sans"/>
              </a:rPr>
              <a:t>verified?</a:t>
            </a:r>
          </a:p>
        </p:txBody>
      </p:sp>
      <p:cxnSp>
        <p:nvCxnSpPr>
          <p:cNvPr id="41" name="Connector 40"/>
          <p:cNvCxnSpPr/>
          <p:nvPr/>
        </p:nvCxnSpPr>
        <p:spPr>
          <a:xfrm>
            <a:off x="8039100" y="4025900"/>
            <a:ext cx="4826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521700" y="3314700"/>
            <a:ext cx="0" cy="7112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21700" y="3314700"/>
            <a:ext cx="4318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039100" y="4025900"/>
            <a:ext cx="482600" cy="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521700" y="4025900"/>
            <a:ext cx="0" cy="76200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521700" y="4787900"/>
            <a:ext cx="431800" cy="0"/>
          </a:xfrm>
          <a:prstGeom prst="line">
            <a:avLst/>
          </a:prstGeom>
          <a:ln w="15875">
            <a:solidFill>
              <a:srgbClr val="A65A00"/>
            </a:solidFill>
            <a:tailEnd type="triangle" w="sm" len="sm"/>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267700" y="3124200"/>
            <a:ext cx="495300" cy="215900"/>
          </a:xfrm>
          <a:prstGeom prst="rect">
            <a:avLst/>
          </a:prstGeom>
          <a:noFill/>
        </p:spPr>
        <p:txBody>
          <a:bodyPr wrap="square" lIns="0" tIns="0" rIns="0" bIns="0">
            <a:spAutoFit/>
          </a:bodyPr>
          <a:lstStyle/>
          <a:p>
            <a:pPr algn="l">
              <a:lnSpc>
                <a:spcPct val="104000"/>
              </a:lnSpc>
              <a:spcAft>
                <a:spcPts val="200"/>
              </a:spcAft>
              <a:defRPr sz="1000" b="1">
                <a:solidFill>
                  <a:srgbClr val="008A80"/>
                </a:solidFill>
                <a:latin typeface="IBM Plex Sans"/>
              </a:defRPr>
            </a:pPr>
            <a:r>
              <a:rPr sz="1000" b="1">
                <a:solidFill>
                  <a:srgbClr val="008A80"/>
                </a:solidFill>
                <a:latin typeface="IBM Plex Sans"/>
              </a:rPr>
              <a:t>YES</a:t>
            </a:r>
          </a:p>
        </p:txBody>
      </p:sp>
      <p:sp>
        <p:nvSpPr>
          <p:cNvPr id="48" name="TextBox 47"/>
          <p:cNvSpPr txBox="1"/>
          <p:nvPr/>
        </p:nvSpPr>
        <p:spPr>
          <a:xfrm>
            <a:off x="8267700" y="4991100"/>
            <a:ext cx="495300" cy="215900"/>
          </a:xfrm>
          <a:prstGeom prst="rect">
            <a:avLst/>
          </a:prstGeom>
          <a:noFill/>
        </p:spPr>
        <p:txBody>
          <a:bodyPr wrap="square" lIns="0" tIns="0" rIns="0" bIns="0">
            <a:spAutoFit/>
          </a:bodyPr>
          <a:lstStyle/>
          <a:p>
            <a:pPr algn="l">
              <a:lnSpc>
                <a:spcPct val="104000"/>
              </a:lnSpc>
              <a:spcAft>
                <a:spcPts val="200"/>
              </a:spcAft>
              <a:defRPr sz="1000" b="1">
                <a:solidFill>
                  <a:srgbClr val="A65A00"/>
                </a:solidFill>
                <a:latin typeface="IBM Plex Sans"/>
              </a:defRPr>
            </a:pPr>
            <a:r>
              <a:rPr sz="1000" b="1">
                <a:solidFill>
                  <a:srgbClr val="A65A00"/>
                </a:solidFill>
                <a:latin typeface="IBM Plex Sans"/>
              </a:rPr>
              <a:t>NO</a:t>
            </a:r>
          </a:p>
        </p:txBody>
      </p:sp>
      <p:sp>
        <p:nvSpPr>
          <p:cNvPr id="49" name="Rounded Rectangle 48"/>
          <p:cNvSpPr/>
          <p:nvPr/>
        </p:nvSpPr>
        <p:spPr>
          <a:xfrm>
            <a:off x="8953500" y="2806700"/>
            <a:ext cx="2882900" cy="10033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953500" y="2806700"/>
            <a:ext cx="50800" cy="10033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105900" y="2946400"/>
            <a:ext cx="25908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Verified input status</a:t>
            </a:r>
          </a:p>
        </p:txBody>
      </p:sp>
      <p:sp>
        <p:nvSpPr>
          <p:cNvPr id="52" name="TextBox 51"/>
          <p:cNvSpPr txBox="1"/>
          <p:nvPr/>
        </p:nvSpPr>
        <p:spPr>
          <a:xfrm>
            <a:off x="9105900" y="3302000"/>
            <a:ext cx="2578100" cy="4572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Proceed with underwriting review.</a:t>
            </a:r>
          </a:p>
        </p:txBody>
      </p:sp>
      <p:sp>
        <p:nvSpPr>
          <p:cNvPr id="53" name="Rounded Rectangle 52"/>
          <p:cNvSpPr/>
          <p:nvPr/>
        </p:nvSpPr>
        <p:spPr>
          <a:xfrm>
            <a:off x="8953500" y="4305300"/>
            <a:ext cx="2882900" cy="10160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953500" y="4305300"/>
            <a:ext cx="50800" cy="10160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05900" y="4445000"/>
            <a:ext cx="25908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Provisional screen</a:t>
            </a:r>
          </a:p>
        </p:txBody>
      </p:sp>
      <p:sp>
        <p:nvSpPr>
          <p:cNvPr id="56" name="TextBox 55"/>
          <p:cNvSpPr txBox="1"/>
          <p:nvPr/>
        </p:nvSpPr>
        <p:spPr>
          <a:xfrm>
            <a:off x="9105900" y="4800600"/>
            <a:ext cx="2578100" cy="4699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Show the missing-evidence list.</a:t>
            </a:r>
          </a:p>
        </p:txBody>
      </p:sp>
      <p:sp>
        <p:nvSpPr>
          <p:cNvPr id="57" name="Rectangle 56"/>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60" name="TextBox 59"/>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An asset case with visible assumptions and a readiness status.</a:t>
            </a:r>
          </a:p>
        </p:txBody>
      </p:sp>
      <p:sp>
        <p:nvSpPr>
          <p:cNvPr id="61" name="TextBox 60"/>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The demo can continue with provisional inputs; this does not establish decision readiness.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Zoning ML | prioritise the right investigation</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The challenger checks consistency; the separate change model is a research capability.</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Zoning ML</a:t>
            </a:r>
          </a:p>
        </p:txBody>
      </p:sp>
      <p:sp>
        <p:nvSpPr>
          <p:cNvPr id="8" name="Rectangle 7">
            <a:hlinkClick r:id="rId4"/>
          </p:cNvPr>
          <p:cNvSpPr/>
          <p:nvPr/>
        </p:nvSpPr>
        <p:spPr>
          <a:xfrm>
            <a:off x="2428240" y="1346200"/>
            <a:ext cx="68326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529840" y="1409700"/>
            <a:ext cx="48005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Zoning</a:t>
            </a:r>
          </a:p>
        </p:txBody>
      </p:sp>
      <p:sp>
        <p:nvSpPr>
          <p:cNvPr id="10" name="TextBox 9"/>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1" name="TextBox 10"/>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04</a:t>
            </a:r>
          </a:p>
        </p:txBody>
      </p:sp>
      <p:sp>
        <p:nvSpPr>
          <p:cNvPr id="12" name="TextBox 11"/>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3" name="TextBox 12"/>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Planning records + asset and location features + model training and calibration evidence.</a:t>
            </a:r>
          </a:p>
        </p:txBody>
      </p:sp>
      <p:cxnSp>
        <p:nvCxnSpPr>
          <p:cNvPr id="14" name="Connector 13"/>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5600" y="3251200"/>
            <a:ext cx="2057400" cy="13970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5600" y="3251200"/>
            <a:ext cx="50800" cy="13970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8000" y="3390900"/>
            <a:ext cx="17653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Prepare context</a:t>
            </a:r>
          </a:p>
        </p:txBody>
      </p:sp>
      <p:sp>
        <p:nvSpPr>
          <p:cNvPr id="18" name="TextBox 17"/>
          <p:cNvSpPr txBox="1"/>
          <p:nvPr/>
        </p:nvSpPr>
        <p:spPr>
          <a:xfrm>
            <a:off x="508000" y="3746500"/>
            <a:ext cx="1752600" cy="8509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Compare source records</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and feature quality.</a:t>
            </a:r>
          </a:p>
        </p:txBody>
      </p:sp>
      <p:cxnSp>
        <p:nvCxnSpPr>
          <p:cNvPr id="19" name="Connector 18"/>
          <p:cNvCxnSpPr/>
          <p:nvPr/>
        </p:nvCxnSpPr>
        <p:spPr>
          <a:xfrm>
            <a:off x="2413000" y="3949700"/>
            <a:ext cx="3175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730500" y="3251200"/>
            <a:ext cx="0" cy="6985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30500" y="3251200"/>
            <a:ext cx="3810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413000" y="3949700"/>
            <a:ext cx="3175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30500" y="3949700"/>
            <a:ext cx="0" cy="7493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30500" y="4699000"/>
            <a:ext cx="3810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111500" y="2768600"/>
            <a:ext cx="2603500" cy="10287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111500" y="2768600"/>
            <a:ext cx="50800" cy="10287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63900" y="2908300"/>
            <a:ext cx="2311400" cy="279400"/>
          </a:xfrm>
          <a:prstGeom prst="rect">
            <a:avLst/>
          </a:prstGeom>
          <a:noFill/>
        </p:spPr>
        <p:txBody>
          <a:bodyPr wrap="square" lIns="0" tIns="0" rIns="0" bIns="0">
            <a:spAutoFit/>
          </a:bodyPr>
          <a:lstStyle/>
          <a:p>
            <a:pPr algn="l">
              <a:lnSpc>
                <a:spcPct val="104000"/>
              </a:lnSpc>
              <a:spcAft>
                <a:spcPts val="200"/>
              </a:spcAft>
              <a:defRPr sz="1500" b="1">
                <a:solidFill>
                  <a:srgbClr val="202A38"/>
                </a:solidFill>
                <a:latin typeface="IBM Plex Sans"/>
              </a:defRPr>
            </a:pPr>
            <a:r>
              <a:rPr sz="1500" b="1">
                <a:solidFill>
                  <a:srgbClr val="202A38"/>
                </a:solidFill>
                <a:latin typeface="IBM Plex Sans"/>
              </a:rPr>
              <a:t>Current-zoning model</a:t>
            </a:r>
          </a:p>
        </p:txBody>
      </p:sp>
      <p:sp>
        <p:nvSpPr>
          <p:cNvPr id="28" name="TextBox 27"/>
          <p:cNvSpPr txBox="1"/>
          <p:nvPr/>
        </p:nvSpPr>
        <p:spPr>
          <a:xfrm>
            <a:off x="3263900" y="3263900"/>
            <a:ext cx="2298700" cy="482600"/>
          </a:xfrm>
          <a:prstGeom prst="rect">
            <a:avLst/>
          </a:prstGeom>
          <a:noFill/>
        </p:spPr>
        <p:txBody>
          <a:bodyPr wrap="square" lIns="0" tIns="0" rIns="0" bIns="0">
            <a:spAutoFit/>
          </a:bodyPr>
          <a:lstStyle/>
          <a:p>
            <a:pPr algn="l">
              <a:lnSpc>
                <a:spcPct val="104000"/>
              </a:lnSpc>
              <a:spcAft>
                <a:spcPts val="200"/>
              </a:spcAft>
              <a:defRPr sz="1230" b="0">
                <a:solidFill>
                  <a:srgbClr val="657080"/>
                </a:solidFill>
                <a:latin typeface="IBM Plex Sans"/>
              </a:defRPr>
            </a:pPr>
            <a:r>
              <a:rPr sz="1230" b="0">
                <a:solidFill>
                  <a:srgbClr val="657080"/>
                </a:solidFill>
                <a:latin typeface="IBM Plex Sans"/>
              </a:rPr>
              <a:t>Class / GPR band, uncertainty</a:t>
            </a:r>
          </a:p>
          <a:p>
            <a:pPr algn="l">
              <a:lnSpc>
                <a:spcPct val="104000"/>
              </a:lnSpc>
              <a:spcAft>
                <a:spcPts val="200"/>
              </a:spcAft>
              <a:defRPr sz="1230" b="0">
                <a:solidFill>
                  <a:srgbClr val="657080"/>
                </a:solidFill>
                <a:latin typeface="IBM Plex Sans"/>
              </a:defRPr>
            </a:pPr>
            <a:r>
              <a:rPr sz="1230" b="0">
                <a:solidFill>
                  <a:srgbClr val="657080"/>
                </a:solidFill>
                <a:latin typeface="IBM Plex Sans"/>
              </a:rPr>
              <a:t>and mismatch checks.</a:t>
            </a:r>
          </a:p>
        </p:txBody>
      </p:sp>
      <p:sp>
        <p:nvSpPr>
          <p:cNvPr id="29" name="Rounded Rectangle 28"/>
          <p:cNvSpPr/>
          <p:nvPr/>
        </p:nvSpPr>
        <p:spPr>
          <a:xfrm>
            <a:off x="3111500" y="4191000"/>
            <a:ext cx="2603500" cy="10287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111500" y="4191000"/>
            <a:ext cx="50800" cy="10287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63900" y="4330700"/>
            <a:ext cx="2311400" cy="279400"/>
          </a:xfrm>
          <a:prstGeom prst="rect">
            <a:avLst/>
          </a:prstGeom>
          <a:noFill/>
        </p:spPr>
        <p:txBody>
          <a:bodyPr wrap="square" lIns="0" tIns="0" rIns="0" bIns="0">
            <a:spAutoFit/>
          </a:bodyPr>
          <a:lstStyle/>
          <a:p>
            <a:pPr algn="l">
              <a:lnSpc>
                <a:spcPct val="104000"/>
              </a:lnSpc>
              <a:spcAft>
                <a:spcPts val="200"/>
              </a:spcAft>
              <a:defRPr sz="1500" b="1">
                <a:solidFill>
                  <a:srgbClr val="202A38"/>
                </a:solidFill>
                <a:latin typeface="IBM Plex Sans"/>
              </a:defRPr>
            </a:pPr>
            <a:r>
              <a:rPr sz="1500" b="1">
                <a:solidFill>
                  <a:srgbClr val="202A38"/>
                </a:solidFill>
                <a:latin typeface="IBM Plex Sans"/>
              </a:rPr>
              <a:t>Future-change research</a:t>
            </a:r>
          </a:p>
        </p:txBody>
      </p:sp>
      <p:sp>
        <p:nvSpPr>
          <p:cNvPr id="32" name="TextBox 31"/>
          <p:cNvSpPr txBox="1"/>
          <p:nvPr/>
        </p:nvSpPr>
        <p:spPr>
          <a:xfrm>
            <a:off x="3263900" y="4686300"/>
            <a:ext cx="2298700" cy="482600"/>
          </a:xfrm>
          <a:prstGeom prst="rect">
            <a:avLst/>
          </a:prstGeom>
          <a:noFill/>
        </p:spPr>
        <p:txBody>
          <a:bodyPr wrap="square" lIns="0" tIns="0" rIns="0" bIns="0">
            <a:spAutoFit/>
          </a:bodyPr>
          <a:lstStyle/>
          <a:p>
            <a:pPr algn="l">
              <a:lnSpc>
                <a:spcPct val="104000"/>
              </a:lnSpc>
              <a:spcAft>
                <a:spcPts val="200"/>
              </a:spcAft>
              <a:defRPr sz="1230" b="0">
                <a:solidFill>
                  <a:srgbClr val="657080"/>
                </a:solidFill>
                <a:latin typeface="IBM Plex Sans"/>
              </a:defRPr>
            </a:pPr>
            <a:r>
              <a:rPr sz="1230" b="0">
                <a:solidFill>
                  <a:srgbClr val="657080"/>
                </a:solidFill>
                <a:latin typeface="IBM Plex Sans"/>
              </a:rPr>
              <a:t>Separate change score;</a:t>
            </a:r>
          </a:p>
          <a:p>
            <a:pPr algn="l">
              <a:lnSpc>
                <a:spcPct val="104000"/>
              </a:lnSpc>
              <a:spcAft>
                <a:spcPts val="200"/>
              </a:spcAft>
              <a:defRPr sz="1230" b="0">
                <a:solidFill>
                  <a:srgbClr val="657080"/>
                </a:solidFill>
                <a:latin typeface="IBM Plex Sans"/>
              </a:defRPr>
            </a:pPr>
            <a:r>
              <a:rPr sz="1230" b="0">
                <a:solidFill>
                  <a:srgbClr val="657080"/>
                </a:solidFill>
                <a:latin typeface="IBM Plex Sans"/>
              </a:rPr>
              <a:t>validation required.</a:t>
            </a:r>
          </a:p>
        </p:txBody>
      </p:sp>
      <p:cxnSp>
        <p:nvCxnSpPr>
          <p:cNvPr id="33" name="Connector 32"/>
          <p:cNvCxnSpPr/>
          <p:nvPr/>
        </p:nvCxnSpPr>
        <p:spPr>
          <a:xfrm>
            <a:off x="5715000" y="3289300"/>
            <a:ext cx="3683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83300" y="3289300"/>
            <a:ext cx="0" cy="6604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083300" y="3949700"/>
            <a:ext cx="4445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15000" y="4699000"/>
            <a:ext cx="3683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083300" y="3949700"/>
            <a:ext cx="0" cy="7493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83300" y="3949700"/>
            <a:ext cx="4445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Diamond 38"/>
          <p:cNvSpPr/>
          <p:nvPr/>
        </p:nvSpPr>
        <p:spPr>
          <a:xfrm>
            <a:off x="6527800" y="3213100"/>
            <a:ext cx="1612900" cy="1485900"/>
          </a:xfrm>
          <a:prstGeom prst="diamond">
            <a:avLst/>
          </a:prstGeom>
          <a:solidFill>
            <a:srgbClr val="FFF1D8"/>
          </a:solidFill>
          <a:ln w="13970">
            <a:solidFill>
              <a:srgbClr val="FF8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18122" y="3750310"/>
            <a:ext cx="1032256" cy="457200"/>
          </a:xfrm>
          <a:prstGeom prst="rect">
            <a:avLst/>
          </a:prstGeom>
          <a:noFill/>
        </p:spPr>
        <p:txBody>
          <a:bodyPr wrap="square" lIns="0" tIns="0" rIns="0" bIns="0">
            <a:spAutoFit/>
          </a:bodyPr>
          <a:lstStyle/>
          <a:p>
            <a:pPr algn="ctr">
              <a:lnSpc>
                <a:spcPct val="104000"/>
              </a:lnSpc>
              <a:spcAft>
                <a:spcPts val="200"/>
              </a:spcAft>
              <a:defRPr sz="1300" b="1">
                <a:solidFill>
                  <a:srgbClr val="A65A00"/>
                </a:solidFill>
                <a:latin typeface="IBM Plex Sans"/>
              </a:defRPr>
            </a:pPr>
            <a:r>
              <a:rPr sz="1300" b="1">
                <a:solidFill>
                  <a:srgbClr val="A65A00"/>
                </a:solidFill>
                <a:latin typeface="IBM Plex Sans"/>
              </a:rPr>
              <a:t>Eligible</a:t>
            </a:r>
          </a:p>
          <a:p>
            <a:pPr algn="ctr">
              <a:lnSpc>
                <a:spcPct val="104000"/>
              </a:lnSpc>
              <a:spcAft>
                <a:spcPts val="200"/>
              </a:spcAft>
              <a:defRPr sz="1300" b="1">
                <a:solidFill>
                  <a:srgbClr val="A65A00"/>
                </a:solidFill>
                <a:latin typeface="IBM Plex Sans"/>
              </a:defRPr>
            </a:pPr>
            <a:r>
              <a:rPr sz="1300" b="1">
                <a:solidFill>
                  <a:srgbClr val="A65A00"/>
                </a:solidFill>
                <a:latin typeface="IBM Plex Sans"/>
              </a:rPr>
              <a:t>estimate?</a:t>
            </a:r>
          </a:p>
        </p:txBody>
      </p:sp>
      <p:cxnSp>
        <p:nvCxnSpPr>
          <p:cNvPr id="41" name="Connector 40"/>
          <p:cNvCxnSpPr/>
          <p:nvPr/>
        </p:nvCxnSpPr>
        <p:spPr>
          <a:xfrm>
            <a:off x="8140700" y="3949700"/>
            <a:ext cx="4191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559800" y="3213100"/>
            <a:ext cx="0" cy="7366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59800" y="3213100"/>
            <a:ext cx="4064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140700" y="3949700"/>
            <a:ext cx="419100" cy="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559800" y="3949700"/>
            <a:ext cx="0" cy="78740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559800" y="4737100"/>
            <a:ext cx="406400" cy="0"/>
          </a:xfrm>
          <a:prstGeom prst="line">
            <a:avLst/>
          </a:prstGeom>
          <a:ln w="15875">
            <a:solidFill>
              <a:srgbClr val="A65A00"/>
            </a:solidFill>
            <a:tailEnd type="triangle" w="sm" len="sm"/>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293100" y="3009900"/>
            <a:ext cx="508000" cy="215900"/>
          </a:xfrm>
          <a:prstGeom prst="rect">
            <a:avLst/>
          </a:prstGeom>
          <a:noFill/>
        </p:spPr>
        <p:txBody>
          <a:bodyPr wrap="square" lIns="0" tIns="0" rIns="0" bIns="0">
            <a:spAutoFit/>
          </a:bodyPr>
          <a:lstStyle/>
          <a:p>
            <a:pPr algn="l">
              <a:lnSpc>
                <a:spcPct val="104000"/>
              </a:lnSpc>
              <a:spcAft>
                <a:spcPts val="200"/>
              </a:spcAft>
              <a:defRPr sz="1000" b="1">
                <a:solidFill>
                  <a:srgbClr val="008A80"/>
                </a:solidFill>
                <a:latin typeface="IBM Plex Sans"/>
              </a:defRPr>
            </a:pPr>
            <a:r>
              <a:rPr sz="1000" b="1">
                <a:solidFill>
                  <a:srgbClr val="008A80"/>
                </a:solidFill>
                <a:latin typeface="IBM Plex Sans"/>
              </a:rPr>
              <a:t>YES</a:t>
            </a:r>
          </a:p>
        </p:txBody>
      </p:sp>
      <p:sp>
        <p:nvSpPr>
          <p:cNvPr id="48" name="TextBox 47"/>
          <p:cNvSpPr txBox="1"/>
          <p:nvPr/>
        </p:nvSpPr>
        <p:spPr>
          <a:xfrm>
            <a:off x="8305800" y="4914900"/>
            <a:ext cx="508000" cy="215900"/>
          </a:xfrm>
          <a:prstGeom prst="rect">
            <a:avLst/>
          </a:prstGeom>
          <a:noFill/>
        </p:spPr>
        <p:txBody>
          <a:bodyPr wrap="square" lIns="0" tIns="0" rIns="0" bIns="0">
            <a:spAutoFit/>
          </a:bodyPr>
          <a:lstStyle/>
          <a:p>
            <a:pPr algn="l">
              <a:lnSpc>
                <a:spcPct val="104000"/>
              </a:lnSpc>
              <a:spcAft>
                <a:spcPts val="200"/>
              </a:spcAft>
              <a:defRPr sz="1000" b="1">
                <a:solidFill>
                  <a:srgbClr val="A65A00"/>
                </a:solidFill>
                <a:latin typeface="IBM Plex Sans"/>
              </a:defRPr>
            </a:pPr>
            <a:r>
              <a:rPr sz="1000" b="1">
                <a:solidFill>
                  <a:srgbClr val="A65A00"/>
                </a:solidFill>
                <a:latin typeface="IBM Plex Sans"/>
              </a:rPr>
              <a:t>NO</a:t>
            </a:r>
          </a:p>
        </p:txBody>
      </p:sp>
      <p:sp>
        <p:nvSpPr>
          <p:cNvPr id="49" name="Rounded Rectangle 48"/>
          <p:cNvSpPr/>
          <p:nvPr/>
        </p:nvSpPr>
        <p:spPr>
          <a:xfrm>
            <a:off x="8966200" y="2730500"/>
            <a:ext cx="2870200" cy="10160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966200" y="2730500"/>
            <a:ext cx="50800" cy="10160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118600" y="2870200"/>
            <a:ext cx="2578100" cy="279400"/>
          </a:xfrm>
          <a:prstGeom prst="rect">
            <a:avLst/>
          </a:prstGeom>
          <a:noFill/>
        </p:spPr>
        <p:txBody>
          <a:bodyPr wrap="square" lIns="0" tIns="0" rIns="0" bIns="0">
            <a:spAutoFit/>
          </a:bodyPr>
          <a:lstStyle/>
          <a:p>
            <a:pPr algn="l">
              <a:lnSpc>
                <a:spcPct val="104000"/>
              </a:lnSpc>
              <a:spcAft>
                <a:spcPts val="200"/>
              </a:spcAft>
              <a:defRPr sz="1500" b="1">
                <a:solidFill>
                  <a:srgbClr val="202A38"/>
                </a:solidFill>
                <a:latin typeface="IBM Plex Sans"/>
              </a:defRPr>
            </a:pPr>
            <a:r>
              <a:rPr sz="1500" b="1">
                <a:solidFill>
                  <a:srgbClr val="202A38"/>
                </a:solidFill>
                <a:latin typeface="IBM Plex Sans"/>
              </a:rPr>
              <a:t>Analyst investigation</a:t>
            </a:r>
          </a:p>
        </p:txBody>
      </p:sp>
      <p:sp>
        <p:nvSpPr>
          <p:cNvPr id="52" name="TextBox 51"/>
          <p:cNvSpPr txBox="1"/>
          <p:nvPr/>
        </p:nvSpPr>
        <p:spPr>
          <a:xfrm>
            <a:off x="9118600" y="3225800"/>
            <a:ext cx="2565400" cy="4699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Review a mismatch or</a:t>
            </a:r>
          </a:p>
          <a:p>
            <a:pPr algn="l">
              <a:lnSpc>
                <a:spcPct val="104000"/>
              </a:lnSpc>
              <a:spcAft>
                <a:spcPts val="200"/>
              </a:spcAft>
              <a:defRPr sz="1250" b="0">
                <a:solidFill>
                  <a:srgbClr val="657080"/>
                </a:solidFill>
                <a:latin typeface="IBM Plex Sans"/>
              </a:defRPr>
            </a:pPr>
            <a:r>
              <a:rPr sz="1250" b="0">
                <a:solidFill>
                  <a:srgbClr val="657080"/>
                </a:solidFill>
                <a:latin typeface="IBM Plex Sans"/>
              </a:rPr>
              <a:t>monitor a research candidate.</a:t>
            </a:r>
          </a:p>
        </p:txBody>
      </p:sp>
      <p:sp>
        <p:nvSpPr>
          <p:cNvPr id="53" name="Rounded Rectangle 52"/>
          <p:cNvSpPr/>
          <p:nvPr/>
        </p:nvSpPr>
        <p:spPr>
          <a:xfrm>
            <a:off x="8966200" y="4241800"/>
            <a:ext cx="2870200" cy="10160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966200" y="4241800"/>
            <a:ext cx="50800" cy="10160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18600" y="4381500"/>
            <a:ext cx="2578100" cy="279400"/>
          </a:xfrm>
          <a:prstGeom prst="rect">
            <a:avLst/>
          </a:prstGeom>
          <a:noFill/>
        </p:spPr>
        <p:txBody>
          <a:bodyPr wrap="square" lIns="0" tIns="0" rIns="0" bIns="0">
            <a:spAutoFit/>
          </a:bodyPr>
          <a:lstStyle/>
          <a:p>
            <a:pPr algn="l">
              <a:lnSpc>
                <a:spcPct val="104000"/>
              </a:lnSpc>
              <a:spcAft>
                <a:spcPts val="200"/>
              </a:spcAft>
              <a:defRPr sz="1500" b="1">
                <a:solidFill>
                  <a:srgbClr val="202A38"/>
                </a:solidFill>
                <a:latin typeface="IBM Plex Sans"/>
              </a:defRPr>
            </a:pPr>
            <a:r>
              <a:rPr sz="1500" b="1">
                <a:solidFill>
                  <a:srgbClr val="202A38"/>
                </a:solidFill>
                <a:latin typeface="IBM Plex Sans"/>
              </a:rPr>
              <a:t>Abstain / seek evidence</a:t>
            </a:r>
          </a:p>
        </p:txBody>
      </p:sp>
      <p:sp>
        <p:nvSpPr>
          <p:cNvPr id="56" name="TextBox 55"/>
          <p:cNvSpPr txBox="1"/>
          <p:nvPr/>
        </p:nvSpPr>
        <p:spPr>
          <a:xfrm>
            <a:off x="9118600" y="4737100"/>
            <a:ext cx="2565400" cy="4699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Do not display unsupported</a:t>
            </a:r>
          </a:p>
          <a:p>
            <a:pPr algn="l">
              <a:lnSpc>
                <a:spcPct val="104000"/>
              </a:lnSpc>
              <a:spcAft>
                <a:spcPts val="200"/>
              </a:spcAft>
              <a:defRPr sz="1250" b="0">
                <a:solidFill>
                  <a:srgbClr val="657080"/>
                </a:solidFill>
                <a:latin typeface="IBM Plex Sans"/>
              </a:defRPr>
            </a:pPr>
            <a:r>
              <a:rPr sz="1250" b="0">
                <a:solidFill>
                  <a:srgbClr val="657080"/>
                </a:solidFill>
                <a:latin typeface="IBM Plex Sans"/>
              </a:rPr>
              <a:t>probability estimates.</a:t>
            </a:r>
          </a:p>
        </p:txBody>
      </p:sp>
      <p:sp>
        <p:nvSpPr>
          <p:cNvPr id="57" name="Rectangle 56"/>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60" name="TextBox 59"/>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A review priority or an explicit lack of evidence—not a trade instruction.</a:t>
            </a:r>
          </a:p>
        </p:txBody>
      </p:sp>
      <p:sp>
        <p:nvSpPr>
          <p:cNvPr id="61" name="TextBox 60"/>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Public demo: fictional examples; ML outputs are not connected to the main ranking engine.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Zoning and development | test the physical option</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Capacity identifies what may fit; a costed development case tests whether it creates value.</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68326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48005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Zoning</a:t>
            </a:r>
          </a:p>
        </p:txBody>
      </p:sp>
      <p:sp>
        <p:nvSpPr>
          <p:cNvPr id="8" name="Rectangle 7">
            <a:hlinkClick r:id="rId4"/>
          </p:cNvPr>
          <p:cNvSpPr/>
          <p:nvPr/>
        </p:nvSpPr>
        <p:spPr>
          <a:xfrm>
            <a:off x="2207260" y="1346200"/>
            <a:ext cx="105156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308860" y="1409700"/>
            <a:ext cx="84836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Development</a:t>
            </a:r>
          </a:p>
        </p:txBody>
      </p:sp>
      <p:sp>
        <p:nvSpPr>
          <p:cNvPr id="10" name="TextBox 9"/>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1" name="TextBox 10"/>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05</a:t>
            </a:r>
          </a:p>
        </p:txBody>
      </p:sp>
      <p:sp>
        <p:nvSpPr>
          <p:cNvPr id="12" name="TextBox 11"/>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3" name="TextBox 12"/>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Site area and GPR + height, setbacks and footprint assumptions + construction and project costs.</a:t>
            </a:r>
          </a:p>
        </p:txBody>
      </p:sp>
      <p:cxnSp>
        <p:nvCxnSpPr>
          <p:cNvPr id="14" name="Connector 13"/>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5600" y="3276600"/>
            <a:ext cx="2082800" cy="13970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5600" y="3276600"/>
            <a:ext cx="50800" cy="13970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8000" y="3416300"/>
            <a:ext cx="17907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Planning inputs</a:t>
            </a:r>
          </a:p>
        </p:txBody>
      </p:sp>
      <p:sp>
        <p:nvSpPr>
          <p:cNvPr id="18" name="TextBox 17"/>
          <p:cNvSpPr txBox="1"/>
          <p:nvPr/>
        </p:nvSpPr>
        <p:spPr>
          <a:xfrm>
            <a:off x="508000" y="3771900"/>
            <a:ext cx="1778000" cy="850900"/>
          </a:xfrm>
          <a:prstGeom prst="rect">
            <a:avLst/>
          </a:prstGeom>
          <a:noFill/>
        </p:spPr>
        <p:txBody>
          <a:bodyPr wrap="square" lIns="0" tIns="0" rIns="0" bIns="0">
            <a:spAutoFit/>
          </a:bodyPr>
          <a:lstStyle/>
          <a:p>
            <a:pPr algn="l">
              <a:lnSpc>
                <a:spcPct val="104000"/>
              </a:lnSpc>
              <a:spcAft>
                <a:spcPts val="200"/>
              </a:spcAft>
              <a:defRPr sz="1230" b="0">
                <a:solidFill>
                  <a:srgbClr val="657080"/>
                </a:solidFill>
                <a:latin typeface="IBM Plex Sans"/>
              </a:defRPr>
            </a:pPr>
            <a:r>
              <a:rPr sz="1230" b="0">
                <a:solidFill>
                  <a:srgbClr val="657080"/>
                </a:solidFill>
                <a:latin typeface="IBM Plex Sans"/>
              </a:rPr>
              <a:t>Use the available controls;</a:t>
            </a:r>
          </a:p>
          <a:p>
            <a:pPr algn="l">
              <a:lnSpc>
                <a:spcPct val="104000"/>
              </a:lnSpc>
              <a:spcAft>
                <a:spcPts val="200"/>
              </a:spcAft>
              <a:defRPr sz="1230" b="0">
                <a:solidFill>
                  <a:srgbClr val="657080"/>
                </a:solidFill>
                <a:latin typeface="IBM Plex Sans"/>
              </a:defRPr>
            </a:pPr>
            <a:r>
              <a:rPr sz="1230" b="0">
                <a:solidFill>
                  <a:srgbClr val="657080"/>
                </a:solidFill>
                <a:latin typeface="IBM Plex Sans"/>
              </a:rPr>
              <a:t>flag proxies and missing data.</a:t>
            </a:r>
          </a:p>
        </p:txBody>
      </p:sp>
      <p:cxnSp>
        <p:nvCxnSpPr>
          <p:cNvPr id="19" name="Connector 18"/>
          <p:cNvCxnSpPr/>
          <p:nvPr/>
        </p:nvCxnSpPr>
        <p:spPr>
          <a:xfrm>
            <a:off x="2438400" y="3975100"/>
            <a:ext cx="5207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959100" y="3035300"/>
            <a:ext cx="2514600" cy="18923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59100" y="3035300"/>
            <a:ext cx="50800" cy="18923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11500" y="3175000"/>
            <a:ext cx="22225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Planning screens</a:t>
            </a:r>
          </a:p>
        </p:txBody>
      </p:sp>
      <p:sp>
        <p:nvSpPr>
          <p:cNvPr id="23" name="TextBox 22"/>
          <p:cNvSpPr txBox="1"/>
          <p:nvPr/>
        </p:nvSpPr>
        <p:spPr>
          <a:xfrm>
            <a:off x="3111500" y="3530600"/>
            <a:ext cx="2209800" cy="13462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Capacity and unused area</a:t>
            </a:r>
          </a:p>
          <a:p>
            <a:pPr algn="l">
              <a:lnSpc>
                <a:spcPct val="104000"/>
              </a:lnSpc>
              <a:spcAft>
                <a:spcPts val="200"/>
              </a:spcAft>
              <a:defRPr sz="1300" b="0">
                <a:solidFill>
                  <a:srgbClr val="657080"/>
                </a:solidFill>
                <a:latin typeface="IBM Plex Sans"/>
              </a:defRPr>
            </a:pPr>
            <a:endParaRPr sz="1300" b="0">
              <a:solidFill>
                <a:srgbClr val="657080"/>
              </a:solidFill>
              <a:latin typeface="IBM Plex Sans"/>
            </a:endParaRPr>
          </a:p>
          <a:p>
            <a:pPr algn="l">
              <a:lnSpc>
                <a:spcPct val="104000"/>
              </a:lnSpc>
              <a:spcAft>
                <a:spcPts val="200"/>
              </a:spcAft>
              <a:defRPr sz="1300" b="0">
                <a:solidFill>
                  <a:srgbClr val="657080"/>
                </a:solidFill>
                <a:latin typeface="IBM Plex Sans"/>
              </a:defRPr>
            </a:pPr>
            <a:r>
              <a:rPr sz="1300" b="0">
                <a:solidFill>
                  <a:srgbClr val="657080"/>
                </a:solidFill>
                <a:latin typeface="IBM Plex Sans"/>
              </a:rPr>
              <a:t>Conceptual building envelopes</a:t>
            </a:r>
          </a:p>
        </p:txBody>
      </p:sp>
      <p:cxnSp>
        <p:nvCxnSpPr>
          <p:cNvPr id="24" name="Connector 23"/>
          <p:cNvCxnSpPr/>
          <p:nvPr/>
        </p:nvCxnSpPr>
        <p:spPr>
          <a:xfrm>
            <a:off x="5473700" y="3975100"/>
            <a:ext cx="3302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803900" y="3276600"/>
            <a:ext cx="0" cy="6985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03900" y="3276600"/>
            <a:ext cx="4191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73700" y="3975100"/>
            <a:ext cx="3302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03900" y="3975100"/>
            <a:ext cx="0" cy="7874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803900" y="4762500"/>
            <a:ext cx="4191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23000" y="2768600"/>
            <a:ext cx="2565400" cy="10795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23000" y="2768600"/>
            <a:ext cx="50800" cy="10795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75400" y="2908300"/>
            <a:ext cx="22733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Redevelopment case</a:t>
            </a:r>
          </a:p>
        </p:txBody>
      </p:sp>
      <p:sp>
        <p:nvSpPr>
          <p:cNvPr id="33" name="TextBox 32"/>
          <p:cNvSpPr txBox="1"/>
          <p:nvPr/>
        </p:nvSpPr>
        <p:spPr>
          <a:xfrm>
            <a:off x="6375400" y="3263900"/>
            <a:ext cx="2260600" cy="5334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Monthly costs, income and</a:t>
            </a:r>
          </a:p>
          <a:p>
            <a:pPr algn="l">
              <a:lnSpc>
                <a:spcPct val="104000"/>
              </a:lnSpc>
              <a:spcAft>
                <a:spcPts val="200"/>
              </a:spcAft>
              <a:defRPr sz="1250" b="0">
                <a:solidFill>
                  <a:srgbClr val="657080"/>
                </a:solidFill>
                <a:latin typeface="IBM Plex Sans"/>
              </a:defRPr>
            </a:pPr>
            <a:r>
              <a:rPr sz="1250" b="0">
                <a:solidFill>
                  <a:srgbClr val="657080"/>
                </a:solidFill>
                <a:latin typeface="IBM Plex Sans"/>
              </a:rPr>
              <a:t>value versus Hold.</a:t>
            </a:r>
          </a:p>
        </p:txBody>
      </p:sp>
      <p:sp>
        <p:nvSpPr>
          <p:cNvPr id="34" name="Rounded Rectangle 33"/>
          <p:cNvSpPr/>
          <p:nvPr/>
        </p:nvSpPr>
        <p:spPr>
          <a:xfrm>
            <a:off x="6223000" y="4241800"/>
            <a:ext cx="2565400" cy="10795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23000" y="4241800"/>
            <a:ext cx="50800" cy="10795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75400" y="4381500"/>
            <a:ext cx="22733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En-bloc residual</a:t>
            </a:r>
          </a:p>
        </p:txBody>
      </p:sp>
      <p:sp>
        <p:nvSpPr>
          <p:cNvPr id="37" name="TextBox 36"/>
          <p:cNvSpPr txBox="1"/>
          <p:nvPr/>
        </p:nvSpPr>
        <p:spPr>
          <a:xfrm>
            <a:off x="6375400" y="4737100"/>
            <a:ext cx="2260600" cy="5334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Land value after development</a:t>
            </a:r>
          </a:p>
          <a:p>
            <a:pPr algn="l">
              <a:lnSpc>
                <a:spcPct val="104000"/>
              </a:lnSpc>
              <a:spcAft>
                <a:spcPts val="200"/>
              </a:spcAft>
              <a:defRPr sz="1250" b="0">
                <a:solidFill>
                  <a:srgbClr val="657080"/>
                </a:solidFill>
                <a:latin typeface="IBM Plex Sans"/>
              </a:defRPr>
            </a:pPr>
            <a:r>
              <a:rPr sz="1250" b="0">
                <a:solidFill>
                  <a:srgbClr val="657080"/>
                </a:solidFill>
                <a:latin typeface="IBM Plex Sans"/>
              </a:rPr>
              <a:t>costs and required margin.</a:t>
            </a:r>
          </a:p>
        </p:txBody>
      </p:sp>
      <p:cxnSp>
        <p:nvCxnSpPr>
          <p:cNvPr id="38" name="Connector 37"/>
          <p:cNvCxnSpPr/>
          <p:nvPr/>
        </p:nvCxnSpPr>
        <p:spPr>
          <a:xfrm>
            <a:off x="8788400" y="3314700"/>
            <a:ext cx="3429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31300" y="3314700"/>
            <a:ext cx="0" cy="6604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31300" y="3975100"/>
            <a:ext cx="4064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788400" y="4787900"/>
            <a:ext cx="3429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131300" y="3975100"/>
            <a:ext cx="0" cy="8128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31300" y="3975100"/>
            <a:ext cx="4064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537700" y="3175000"/>
            <a:ext cx="2298700" cy="16129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37700" y="3175000"/>
            <a:ext cx="50800" cy="16129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690100" y="3314700"/>
            <a:ext cx="20066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Feasibility review</a:t>
            </a:r>
          </a:p>
        </p:txBody>
      </p:sp>
      <p:sp>
        <p:nvSpPr>
          <p:cNvPr id="47" name="TextBox 46"/>
          <p:cNvSpPr txBox="1"/>
          <p:nvPr/>
        </p:nvSpPr>
        <p:spPr>
          <a:xfrm>
            <a:off x="9690100" y="3670300"/>
            <a:ext cx="1993900" cy="10668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Incremental NPV</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Residual value</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Unresolved evidence</a:t>
            </a:r>
          </a:p>
        </p:txBody>
      </p:sp>
      <p:sp>
        <p:nvSpPr>
          <p:cNvPr id="48" name="Rectangle 47"/>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51" name="TextBox 50"/>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DEMO-001: 2,184 sqm headroom; redevelopment NPV −S$37.02m versus Hold.</a:t>
            </a:r>
          </a:p>
        </p:txBody>
      </p:sp>
      <p:sp>
        <p:nvSpPr>
          <p:cNvPr id="52" name="TextBox 51"/>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Separate feasibility screen. These detailed values do not feed the main action rankings.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Valuation and actions | make alternatives comparable</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Each action is valued against retaining the same property, using the main annual model.</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Valuation</a:t>
            </a:r>
          </a:p>
        </p:txBody>
      </p:sp>
      <p:sp>
        <p:nvSpPr>
          <p:cNvPr id="8" name="Rectangle 7">
            <a:hlinkClick r:id="rId4"/>
          </p:cNvPr>
          <p:cNvSpPr/>
          <p:nvPr/>
        </p:nvSpPr>
        <p:spPr>
          <a:xfrm>
            <a:off x="2428240" y="1346200"/>
            <a:ext cx="75692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529840" y="1409700"/>
            <a:ext cx="55372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Actions</a:t>
            </a:r>
          </a:p>
        </p:txBody>
      </p:sp>
      <p:sp>
        <p:nvSpPr>
          <p:cNvPr id="10" name="TextBox 9"/>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1" name="TextBox 10"/>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06</a:t>
            </a:r>
          </a:p>
        </p:txBody>
      </p:sp>
      <p:sp>
        <p:nvSpPr>
          <p:cNvPr id="12" name="TextBox 11"/>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3" name="TextBox 12"/>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Current value and net operating income + rent, vacancy, cap rate, costs and timing assumptions.</a:t>
            </a:r>
          </a:p>
        </p:txBody>
      </p:sp>
      <p:cxnSp>
        <p:nvCxnSpPr>
          <p:cNvPr id="14" name="Connector 13"/>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5600" y="3441700"/>
            <a:ext cx="2222500" cy="13208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5600" y="3441700"/>
            <a:ext cx="50800" cy="13208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8000" y="3581400"/>
            <a:ext cx="1930400" cy="279400"/>
          </a:xfrm>
          <a:prstGeom prst="rect">
            <a:avLst/>
          </a:prstGeom>
          <a:noFill/>
        </p:spPr>
        <p:txBody>
          <a:bodyPr wrap="square" lIns="0" tIns="0" rIns="0" bIns="0">
            <a:spAutoFit/>
          </a:bodyPr>
          <a:lstStyle/>
          <a:p>
            <a:pPr algn="l">
              <a:lnSpc>
                <a:spcPct val="104000"/>
              </a:lnSpc>
              <a:spcAft>
                <a:spcPts val="200"/>
              </a:spcAft>
              <a:defRPr sz="1700" b="1">
                <a:solidFill>
                  <a:srgbClr val="202A38"/>
                </a:solidFill>
                <a:latin typeface="IBM Plex Sans"/>
              </a:defRPr>
            </a:pPr>
            <a:r>
              <a:rPr sz="1700" b="1">
                <a:solidFill>
                  <a:srgbClr val="202A38"/>
                </a:solidFill>
                <a:latin typeface="IBM Plex Sans"/>
              </a:rPr>
              <a:t>Hold baseline</a:t>
            </a:r>
          </a:p>
        </p:txBody>
      </p:sp>
      <p:sp>
        <p:nvSpPr>
          <p:cNvPr id="18" name="TextBox 17"/>
          <p:cNvSpPr txBox="1"/>
          <p:nvPr/>
        </p:nvSpPr>
        <p:spPr>
          <a:xfrm>
            <a:off x="508000" y="3937000"/>
            <a:ext cx="1917700" cy="7747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Retain income and</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remaining asset value.</a:t>
            </a:r>
          </a:p>
        </p:txBody>
      </p:sp>
      <p:cxnSp>
        <p:nvCxnSpPr>
          <p:cNvPr id="19" name="Connector 18"/>
          <p:cNvCxnSpPr/>
          <p:nvPr/>
        </p:nvCxnSpPr>
        <p:spPr>
          <a:xfrm>
            <a:off x="2578100" y="4102100"/>
            <a:ext cx="457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035300" y="2755900"/>
            <a:ext cx="3124200" cy="2667000"/>
          </a:xfrm>
          <a:prstGeom prst="rect">
            <a:avLst/>
          </a:prstGeom>
          <a:solidFill>
            <a:srgbClr val="F7F9FC"/>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0" y="2870200"/>
            <a:ext cx="2794000" cy="3048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Build five action cases</a:t>
            </a:r>
          </a:p>
        </p:txBody>
      </p:sp>
      <p:sp>
        <p:nvSpPr>
          <p:cNvPr id="22" name="Rectangle 21"/>
          <p:cNvSpPr/>
          <p:nvPr/>
        </p:nvSpPr>
        <p:spPr>
          <a:xfrm>
            <a:off x="3200400" y="3276600"/>
            <a:ext cx="2794000" cy="3175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40100" y="3340100"/>
            <a:ext cx="1282700" cy="254000"/>
          </a:xfrm>
          <a:prstGeom prst="rect">
            <a:avLst/>
          </a:prstGeom>
          <a:noFill/>
        </p:spPr>
        <p:txBody>
          <a:bodyPr wrap="square" lIns="0" tIns="0" rIns="0" bIns="0">
            <a:spAutoFit/>
          </a:bodyPr>
          <a:lstStyle/>
          <a:p>
            <a:pPr algn="l">
              <a:lnSpc>
                <a:spcPct val="104000"/>
              </a:lnSpc>
              <a:spcAft>
                <a:spcPts val="200"/>
              </a:spcAft>
              <a:defRPr sz="1250" b="1">
                <a:solidFill>
                  <a:srgbClr val="0F62FE"/>
                </a:solidFill>
                <a:latin typeface="IBM Plex Sans"/>
              </a:defRPr>
            </a:pPr>
            <a:r>
              <a:rPr sz="1250" b="1">
                <a:solidFill>
                  <a:srgbClr val="0F62FE"/>
                </a:solidFill>
                <a:latin typeface="IBM Plex Sans"/>
              </a:rPr>
              <a:t>Hold</a:t>
            </a:r>
          </a:p>
        </p:txBody>
      </p:sp>
      <p:sp>
        <p:nvSpPr>
          <p:cNvPr id="24" name="TextBox 23"/>
          <p:cNvSpPr txBox="1"/>
          <p:nvPr/>
        </p:nvSpPr>
        <p:spPr>
          <a:xfrm>
            <a:off x="4610100" y="3340100"/>
            <a:ext cx="1270000" cy="2540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Retain</a:t>
            </a:r>
          </a:p>
        </p:txBody>
      </p:sp>
      <p:sp>
        <p:nvSpPr>
          <p:cNvPr id="25" name="Rectangle 24"/>
          <p:cNvSpPr/>
          <p:nvPr/>
        </p:nvSpPr>
        <p:spPr>
          <a:xfrm>
            <a:off x="3200400" y="3670300"/>
            <a:ext cx="2794000" cy="3175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40100" y="3733800"/>
            <a:ext cx="1282700" cy="254000"/>
          </a:xfrm>
          <a:prstGeom prst="rect">
            <a:avLst/>
          </a:prstGeom>
          <a:noFill/>
        </p:spPr>
        <p:txBody>
          <a:bodyPr wrap="square" lIns="0" tIns="0" rIns="0" bIns="0">
            <a:spAutoFit/>
          </a:bodyPr>
          <a:lstStyle/>
          <a:p>
            <a:pPr algn="l">
              <a:lnSpc>
                <a:spcPct val="104000"/>
              </a:lnSpc>
              <a:spcAft>
                <a:spcPts val="200"/>
              </a:spcAft>
              <a:defRPr sz="1250" b="1">
                <a:solidFill>
                  <a:srgbClr val="0F62FE"/>
                </a:solidFill>
                <a:latin typeface="IBM Plex Sans"/>
              </a:defRPr>
            </a:pPr>
            <a:r>
              <a:rPr sz="1250" b="1">
                <a:solidFill>
                  <a:srgbClr val="0F62FE"/>
                </a:solidFill>
                <a:latin typeface="IBM Plex Sans"/>
              </a:rPr>
              <a:t>Retrofit</a:t>
            </a:r>
          </a:p>
        </p:txBody>
      </p:sp>
      <p:sp>
        <p:nvSpPr>
          <p:cNvPr id="27" name="TextBox 26"/>
          <p:cNvSpPr txBox="1"/>
          <p:nvPr/>
        </p:nvSpPr>
        <p:spPr>
          <a:xfrm>
            <a:off x="4610100" y="3733800"/>
            <a:ext cx="1270000" cy="2540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Improve</a:t>
            </a:r>
          </a:p>
        </p:txBody>
      </p:sp>
      <p:sp>
        <p:nvSpPr>
          <p:cNvPr id="28" name="Rectangle 27"/>
          <p:cNvSpPr/>
          <p:nvPr/>
        </p:nvSpPr>
        <p:spPr>
          <a:xfrm>
            <a:off x="3200400" y="4064000"/>
            <a:ext cx="2794000" cy="3175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340100" y="4127500"/>
            <a:ext cx="1282700" cy="254000"/>
          </a:xfrm>
          <a:prstGeom prst="rect">
            <a:avLst/>
          </a:prstGeom>
          <a:noFill/>
        </p:spPr>
        <p:txBody>
          <a:bodyPr wrap="square" lIns="0" tIns="0" rIns="0" bIns="0">
            <a:spAutoFit/>
          </a:bodyPr>
          <a:lstStyle/>
          <a:p>
            <a:pPr algn="l">
              <a:lnSpc>
                <a:spcPct val="104000"/>
              </a:lnSpc>
              <a:spcAft>
                <a:spcPts val="200"/>
              </a:spcAft>
              <a:defRPr sz="1250" b="1">
                <a:solidFill>
                  <a:srgbClr val="0F62FE"/>
                </a:solidFill>
                <a:latin typeface="IBM Plex Sans"/>
              </a:defRPr>
            </a:pPr>
            <a:r>
              <a:rPr sz="1250" b="1">
                <a:solidFill>
                  <a:srgbClr val="0F62FE"/>
                </a:solidFill>
                <a:latin typeface="IBM Plex Sans"/>
              </a:rPr>
              <a:t>Repurpose</a:t>
            </a:r>
          </a:p>
        </p:txBody>
      </p:sp>
      <p:sp>
        <p:nvSpPr>
          <p:cNvPr id="30" name="TextBox 29"/>
          <p:cNvSpPr txBox="1"/>
          <p:nvPr/>
        </p:nvSpPr>
        <p:spPr>
          <a:xfrm>
            <a:off x="4610100" y="4127500"/>
            <a:ext cx="1270000" cy="2540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Change use</a:t>
            </a:r>
          </a:p>
        </p:txBody>
      </p:sp>
      <p:sp>
        <p:nvSpPr>
          <p:cNvPr id="31" name="Rectangle 30"/>
          <p:cNvSpPr/>
          <p:nvPr/>
        </p:nvSpPr>
        <p:spPr>
          <a:xfrm>
            <a:off x="3200400" y="4457700"/>
            <a:ext cx="2794000" cy="3175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40100" y="4521200"/>
            <a:ext cx="1282700" cy="254000"/>
          </a:xfrm>
          <a:prstGeom prst="rect">
            <a:avLst/>
          </a:prstGeom>
          <a:noFill/>
        </p:spPr>
        <p:txBody>
          <a:bodyPr wrap="square" lIns="0" tIns="0" rIns="0" bIns="0">
            <a:spAutoFit/>
          </a:bodyPr>
          <a:lstStyle/>
          <a:p>
            <a:pPr algn="l">
              <a:lnSpc>
                <a:spcPct val="104000"/>
              </a:lnSpc>
              <a:spcAft>
                <a:spcPts val="200"/>
              </a:spcAft>
              <a:defRPr sz="1250" b="1">
                <a:solidFill>
                  <a:srgbClr val="0F62FE"/>
                </a:solidFill>
                <a:latin typeface="IBM Plex Sans"/>
              </a:defRPr>
            </a:pPr>
            <a:r>
              <a:rPr sz="1250" b="1">
                <a:solidFill>
                  <a:srgbClr val="0F62FE"/>
                </a:solidFill>
                <a:latin typeface="IBM Plex Sans"/>
              </a:rPr>
              <a:t>Redevelop</a:t>
            </a:r>
          </a:p>
        </p:txBody>
      </p:sp>
      <p:sp>
        <p:nvSpPr>
          <p:cNvPr id="33" name="TextBox 32"/>
          <p:cNvSpPr txBox="1"/>
          <p:nvPr/>
        </p:nvSpPr>
        <p:spPr>
          <a:xfrm>
            <a:off x="4610100" y="4521200"/>
            <a:ext cx="1270000" cy="2540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Rebuild</a:t>
            </a:r>
          </a:p>
        </p:txBody>
      </p:sp>
      <p:sp>
        <p:nvSpPr>
          <p:cNvPr id="34" name="Rectangle 33"/>
          <p:cNvSpPr/>
          <p:nvPr/>
        </p:nvSpPr>
        <p:spPr>
          <a:xfrm>
            <a:off x="3200400" y="4851400"/>
            <a:ext cx="2794000" cy="3175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40100" y="4914900"/>
            <a:ext cx="1282700" cy="254000"/>
          </a:xfrm>
          <a:prstGeom prst="rect">
            <a:avLst/>
          </a:prstGeom>
          <a:noFill/>
        </p:spPr>
        <p:txBody>
          <a:bodyPr wrap="square" lIns="0" tIns="0" rIns="0" bIns="0">
            <a:spAutoFit/>
          </a:bodyPr>
          <a:lstStyle/>
          <a:p>
            <a:pPr algn="l">
              <a:lnSpc>
                <a:spcPct val="104000"/>
              </a:lnSpc>
              <a:spcAft>
                <a:spcPts val="200"/>
              </a:spcAft>
              <a:defRPr sz="1250" b="1">
                <a:solidFill>
                  <a:srgbClr val="0F62FE"/>
                </a:solidFill>
                <a:latin typeface="IBM Plex Sans"/>
              </a:defRPr>
            </a:pPr>
            <a:r>
              <a:rPr sz="1250" b="1">
                <a:solidFill>
                  <a:srgbClr val="0F62FE"/>
                </a:solidFill>
                <a:latin typeface="IBM Plex Sans"/>
              </a:rPr>
              <a:t>Sell</a:t>
            </a:r>
          </a:p>
        </p:txBody>
      </p:sp>
      <p:sp>
        <p:nvSpPr>
          <p:cNvPr id="36" name="TextBox 35"/>
          <p:cNvSpPr txBox="1"/>
          <p:nvPr/>
        </p:nvSpPr>
        <p:spPr>
          <a:xfrm>
            <a:off x="4610100" y="4914900"/>
            <a:ext cx="1270000" cy="2540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Dispose</a:t>
            </a:r>
          </a:p>
        </p:txBody>
      </p:sp>
      <p:cxnSp>
        <p:nvCxnSpPr>
          <p:cNvPr id="37" name="Connector 36"/>
          <p:cNvCxnSpPr/>
          <p:nvPr/>
        </p:nvCxnSpPr>
        <p:spPr>
          <a:xfrm>
            <a:off x="6159500" y="4102100"/>
            <a:ext cx="4445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604000" y="3314700"/>
            <a:ext cx="2362200" cy="15621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04000" y="3314700"/>
            <a:ext cx="50800" cy="15621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56400" y="3454400"/>
            <a:ext cx="20701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Value the cash flows</a:t>
            </a:r>
          </a:p>
        </p:txBody>
      </p:sp>
      <p:sp>
        <p:nvSpPr>
          <p:cNvPr id="41" name="TextBox 40"/>
          <p:cNvSpPr txBox="1"/>
          <p:nvPr/>
        </p:nvSpPr>
        <p:spPr>
          <a:xfrm>
            <a:off x="6756400" y="3810000"/>
            <a:ext cx="2057400" cy="10160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Costs and benefits</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over time, discounted</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on a consistent basis.</a:t>
            </a:r>
          </a:p>
        </p:txBody>
      </p:sp>
      <p:cxnSp>
        <p:nvCxnSpPr>
          <p:cNvPr id="42" name="Connector 41"/>
          <p:cNvCxnSpPr/>
          <p:nvPr/>
        </p:nvCxnSpPr>
        <p:spPr>
          <a:xfrm>
            <a:off x="8966200" y="4102100"/>
            <a:ext cx="4826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448800" y="3314700"/>
            <a:ext cx="2387600" cy="15621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448800" y="3314700"/>
            <a:ext cx="50800" cy="15621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601200" y="3454400"/>
            <a:ext cx="20955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Incremental value</a:t>
            </a:r>
          </a:p>
        </p:txBody>
      </p:sp>
      <p:sp>
        <p:nvSpPr>
          <p:cNvPr id="46" name="TextBox 45"/>
          <p:cNvSpPr txBox="1"/>
          <p:nvPr/>
        </p:nvSpPr>
        <p:spPr>
          <a:xfrm>
            <a:off x="9601200" y="3810000"/>
            <a:ext cx="2082800" cy="1016000"/>
          </a:xfrm>
          <a:prstGeom prst="rect">
            <a:avLst/>
          </a:prstGeom>
          <a:noFill/>
        </p:spPr>
        <p:txBody>
          <a:bodyPr wrap="square" lIns="0" tIns="0" rIns="0" bIns="0">
            <a:spAutoFit/>
          </a:bodyPr>
          <a:lstStyle/>
          <a:p>
            <a:pPr algn="l">
              <a:lnSpc>
                <a:spcPct val="104000"/>
              </a:lnSpc>
              <a:spcAft>
                <a:spcPts val="200"/>
              </a:spcAft>
              <a:defRPr sz="1400" b="0">
                <a:solidFill>
                  <a:srgbClr val="657080"/>
                </a:solidFill>
                <a:latin typeface="IBM Plex Sans"/>
              </a:defRPr>
            </a:pPr>
            <a:r>
              <a:rPr sz="1400" b="0">
                <a:solidFill>
                  <a:srgbClr val="657080"/>
                </a:solidFill>
                <a:latin typeface="IBM Plex Sans"/>
              </a:rPr>
              <a:t>Action NPV</a:t>
            </a:r>
          </a:p>
          <a:p>
            <a:pPr algn="l">
              <a:lnSpc>
                <a:spcPct val="104000"/>
              </a:lnSpc>
              <a:spcAft>
                <a:spcPts val="200"/>
              </a:spcAft>
              <a:defRPr sz="1400" b="0">
                <a:solidFill>
                  <a:srgbClr val="657080"/>
                </a:solidFill>
                <a:latin typeface="IBM Plex Sans"/>
              </a:defRPr>
            </a:pPr>
            <a:r>
              <a:rPr sz="1400" b="0">
                <a:solidFill>
                  <a:srgbClr val="657080"/>
                </a:solidFill>
                <a:latin typeface="IBM Plex Sans"/>
              </a:rPr>
              <a:t>minus</a:t>
            </a:r>
          </a:p>
          <a:p>
            <a:pPr algn="l">
              <a:lnSpc>
                <a:spcPct val="104000"/>
              </a:lnSpc>
              <a:spcAft>
                <a:spcPts val="200"/>
              </a:spcAft>
              <a:defRPr sz="1400" b="0">
                <a:solidFill>
                  <a:srgbClr val="657080"/>
                </a:solidFill>
                <a:latin typeface="IBM Plex Sans"/>
              </a:defRPr>
            </a:pPr>
            <a:r>
              <a:rPr sz="1400" b="0">
                <a:solidFill>
                  <a:srgbClr val="657080"/>
                </a:solidFill>
                <a:latin typeface="IBM Plex Sans"/>
              </a:rPr>
              <a:t>Hold NPV</a:t>
            </a:r>
          </a:p>
        </p:txBody>
      </p:sp>
      <p:sp>
        <p:nvSpPr>
          <p:cNvPr id="47" name="Rectangle 46"/>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50" name="TextBox 49"/>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Five comparable action values, before scenario and portfolio decisions.</a:t>
            </a:r>
          </a:p>
        </p:txBody>
      </p:sp>
      <p:sp>
        <p:nvSpPr>
          <p:cNvPr id="51" name="TextBox 50"/>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Hold is the zero incremental baseline; Buy is not part of the implemented action 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Scenario analysis | show the range around the value</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Expected value is one outcome measure; downside determines how much uncertainty accompanies it.</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83058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62738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Scenario</a:t>
            </a:r>
          </a:p>
        </p:txBody>
      </p:sp>
      <p:sp>
        <p:nvSpPr>
          <p:cNvPr id="8" name="TextBox 7"/>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9" name="TextBox 8"/>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07</a:t>
            </a:r>
          </a:p>
        </p:txBody>
      </p:sp>
      <p:sp>
        <p:nvSpPr>
          <p:cNvPr id="10" name="TextBox 9"/>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1" name="TextBox 10"/>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Action cash flows + shared market, approval and cost assumptions + asset-specific uncertainty.</a:t>
            </a:r>
          </a:p>
        </p:txBody>
      </p:sp>
      <p:cxnSp>
        <p:nvCxnSpPr>
          <p:cNvPr id="12" name="Connector 11"/>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5600" y="3429000"/>
            <a:ext cx="2209800" cy="1384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600" y="3429000"/>
            <a:ext cx="50800" cy="1384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000" y="3568700"/>
            <a:ext cx="19177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Set uncertainty</a:t>
            </a:r>
          </a:p>
        </p:txBody>
      </p:sp>
      <p:sp>
        <p:nvSpPr>
          <p:cNvPr id="16" name="TextBox 15"/>
          <p:cNvSpPr txBox="1"/>
          <p:nvPr/>
        </p:nvSpPr>
        <p:spPr>
          <a:xfrm>
            <a:off x="508000" y="3924300"/>
            <a:ext cx="1905000" cy="838200"/>
          </a:xfrm>
          <a:prstGeom prst="rect">
            <a:avLst/>
          </a:prstGeom>
          <a:noFill/>
        </p:spPr>
        <p:txBody>
          <a:bodyPr wrap="square" lIns="0" tIns="0" rIns="0" bIns="0">
            <a:spAutoFit/>
          </a:bodyPr>
          <a:lstStyle/>
          <a:p>
            <a:pPr algn="l">
              <a:lnSpc>
                <a:spcPct val="104000"/>
              </a:lnSpc>
              <a:spcAft>
                <a:spcPts val="200"/>
              </a:spcAft>
              <a:defRPr sz="1320" b="0">
                <a:solidFill>
                  <a:srgbClr val="657080"/>
                </a:solidFill>
                <a:latin typeface="IBM Plex Sans"/>
              </a:defRPr>
            </a:pPr>
            <a:r>
              <a:rPr sz="1320" b="0">
                <a:solidFill>
                  <a:srgbClr val="657080"/>
                </a:solidFill>
                <a:latin typeface="IBM Plex Sans"/>
              </a:rPr>
              <a:t>Shared factors and</a:t>
            </a:r>
          </a:p>
          <a:p>
            <a:pPr algn="l">
              <a:lnSpc>
                <a:spcPct val="104000"/>
              </a:lnSpc>
              <a:spcAft>
                <a:spcPts val="200"/>
              </a:spcAft>
              <a:defRPr sz="1320" b="0">
                <a:solidFill>
                  <a:srgbClr val="657080"/>
                </a:solidFill>
                <a:latin typeface="IBM Plex Sans"/>
              </a:defRPr>
            </a:pPr>
            <a:r>
              <a:rPr sz="1320" b="0">
                <a:solidFill>
                  <a:srgbClr val="657080"/>
                </a:solidFill>
                <a:latin typeface="IBM Plex Sans"/>
              </a:rPr>
              <a:t>asset-specific variation.</a:t>
            </a:r>
          </a:p>
        </p:txBody>
      </p:sp>
      <p:cxnSp>
        <p:nvCxnSpPr>
          <p:cNvPr id="17" name="Connector 16"/>
          <p:cNvCxnSpPr/>
          <p:nvPr/>
        </p:nvCxnSpPr>
        <p:spPr>
          <a:xfrm>
            <a:off x="2565400" y="4114800"/>
            <a:ext cx="5080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73400" y="3429000"/>
            <a:ext cx="2209800" cy="1384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073400" y="3429000"/>
            <a:ext cx="50800" cy="1384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25800" y="3568700"/>
            <a:ext cx="19177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Simulate outcomes</a:t>
            </a:r>
          </a:p>
        </p:txBody>
      </p:sp>
      <p:sp>
        <p:nvSpPr>
          <p:cNvPr id="21" name="TextBox 20"/>
          <p:cNvSpPr txBox="1"/>
          <p:nvPr/>
        </p:nvSpPr>
        <p:spPr>
          <a:xfrm>
            <a:off x="3225800" y="3924300"/>
            <a:ext cx="1905000" cy="838200"/>
          </a:xfrm>
          <a:prstGeom prst="rect">
            <a:avLst/>
          </a:prstGeom>
          <a:noFill/>
        </p:spPr>
        <p:txBody>
          <a:bodyPr wrap="square" lIns="0" tIns="0" rIns="0" bIns="0">
            <a:spAutoFit/>
          </a:bodyPr>
          <a:lstStyle/>
          <a:p>
            <a:pPr algn="l">
              <a:lnSpc>
                <a:spcPct val="104000"/>
              </a:lnSpc>
              <a:spcAft>
                <a:spcPts val="200"/>
              </a:spcAft>
              <a:defRPr sz="1320" b="0">
                <a:solidFill>
                  <a:srgbClr val="657080"/>
                </a:solidFill>
                <a:latin typeface="IBM Plex Sans"/>
              </a:defRPr>
            </a:pPr>
            <a:r>
              <a:rPr sz="1320" b="0">
                <a:solidFill>
                  <a:srgbClr val="657080"/>
                </a:solidFill>
                <a:latin typeface="IBM Plex Sans"/>
              </a:rPr>
              <a:t>Generate a distribution</a:t>
            </a:r>
          </a:p>
          <a:p>
            <a:pPr algn="l">
              <a:lnSpc>
                <a:spcPct val="104000"/>
              </a:lnSpc>
              <a:spcAft>
                <a:spcPts val="200"/>
              </a:spcAft>
              <a:defRPr sz="1320" b="0">
                <a:solidFill>
                  <a:srgbClr val="657080"/>
                </a:solidFill>
                <a:latin typeface="IBM Plex Sans"/>
              </a:defRPr>
            </a:pPr>
            <a:r>
              <a:rPr sz="1320" b="0">
                <a:solidFill>
                  <a:srgbClr val="657080"/>
                </a:solidFill>
                <a:latin typeface="IBM Plex Sans"/>
              </a:rPr>
              <a:t>for every action.</a:t>
            </a:r>
          </a:p>
        </p:txBody>
      </p:sp>
      <p:cxnSp>
        <p:nvCxnSpPr>
          <p:cNvPr id="22" name="Connector 21"/>
          <p:cNvCxnSpPr/>
          <p:nvPr/>
        </p:nvCxnSpPr>
        <p:spPr>
          <a:xfrm>
            <a:off x="5283200" y="4114800"/>
            <a:ext cx="3302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13400" y="3098800"/>
            <a:ext cx="0" cy="10160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13400" y="3098800"/>
            <a:ext cx="4064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283200" y="4114800"/>
            <a:ext cx="3302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613400" y="4114800"/>
            <a:ext cx="0" cy="12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13400" y="4127500"/>
            <a:ext cx="4064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283200" y="4114800"/>
            <a:ext cx="3302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13400" y="4114800"/>
            <a:ext cx="0" cy="1028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613400" y="5143500"/>
            <a:ext cx="4064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019800" y="2717800"/>
            <a:ext cx="2984500" cy="749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019800" y="2717800"/>
            <a:ext cx="50800" cy="749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72200" y="2857500"/>
            <a:ext cx="26924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Expected value</a:t>
            </a:r>
          </a:p>
        </p:txBody>
      </p:sp>
      <p:sp>
        <p:nvSpPr>
          <p:cNvPr id="34" name="TextBox 33"/>
          <p:cNvSpPr txBox="1"/>
          <p:nvPr/>
        </p:nvSpPr>
        <p:spPr>
          <a:xfrm>
            <a:off x="6172200" y="3213100"/>
            <a:ext cx="2679700" cy="2032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Average incremental NPV</a:t>
            </a:r>
          </a:p>
        </p:txBody>
      </p:sp>
      <p:sp>
        <p:nvSpPr>
          <p:cNvPr id="35" name="Rounded Rectangle 34"/>
          <p:cNvSpPr/>
          <p:nvPr/>
        </p:nvSpPr>
        <p:spPr>
          <a:xfrm>
            <a:off x="6019800" y="3746500"/>
            <a:ext cx="2984500" cy="749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019800" y="3746500"/>
            <a:ext cx="50800" cy="749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72200" y="3886200"/>
            <a:ext cx="26924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Outcome range</a:t>
            </a:r>
          </a:p>
        </p:txBody>
      </p:sp>
      <p:sp>
        <p:nvSpPr>
          <p:cNvPr id="38" name="TextBox 37"/>
          <p:cNvSpPr txBox="1"/>
          <p:nvPr/>
        </p:nvSpPr>
        <p:spPr>
          <a:xfrm>
            <a:off x="6172200" y="4241800"/>
            <a:ext cx="2679700" cy="2032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P10 / P50 / P90</a:t>
            </a:r>
          </a:p>
        </p:txBody>
      </p:sp>
      <p:sp>
        <p:nvSpPr>
          <p:cNvPr id="39" name="Rounded Rectangle 38"/>
          <p:cNvSpPr/>
          <p:nvPr/>
        </p:nvSpPr>
        <p:spPr>
          <a:xfrm>
            <a:off x="6019800" y="4762500"/>
            <a:ext cx="2984500" cy="749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019800" y="4762500"/>
            <a:ext cx="50800" cy="749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72200" y="4902200"/>
            <a:ext cx="26924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Downside</a:t>
            </a:r>
          </a:p>
        </p:txBody>
      </p:sp>
      <p:sp>
        <p:nvSpPr>
          <p:cNvPr id="42" name="TextBox 41"/>
          <p:cNvSpPr txBox="1"/>
          <p:nvPr/>
        </p:nvSpPr>
        <p:spPr>
          <a:xfrm>
            <a:off x="6172200" y="5257800"/>
            <a:ext cx="2679700" cy="2032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Loss probability and loss CVaR</a:t>
            </a:r>
          </a:p>
        </p:txBody>
      </p:sp>
      <p:cxnSp>
        <p:nvCxnSpPr>
          <p:cNvPr id="43" name="Connector 42"/>
          <p:cNvCxnSpPr/>
          <p:nvPr/>
        </p:nvCxnSpPr>
        <p:spPr>
          <a:xfrm>
            <a:off x="9004300" y="3098800"/>
            <a:ext cx="2921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296400" y="3098800"/>
            <a:ext cx="0" cy="10160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296400" y="4114800"/>
            <a:ext cx="342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004300" y="4127500"/>
            <a:ext cx="2921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9296400" y="4114800"/>
            <a:ext cx="0" cy="12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296400" y="4114800"/>
            <a:ext cx="342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004300" y="5143500"/>
            <a:ext cx="2921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296400" y="4114800"/>
            <a:ext cx="0" cy="1028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296400" y="4114800"/>
            <a:ext cx="342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9639300" y="3251200"/>
            <a:ext cx="2197100" cy="17145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639300" y="3251200"/>
            <a:ext cx="50800" cy="17145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791700" y="3390900"/>
            <a:ext cx="19050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Read the trade-off</a:t>
            </a:r>
          </a:p>
        </p:txBody>
      </p:sp>
      <p:sp>
        <p:nvSpPr>
          <p:cNvPr id="55" name="TextBox 54"/>
          <p:cNvSpPr txBox="1"/>
          <p:nvPr/>
        </p:nvSpPr>
        <p:spPr>
          <a:xfrm>
            <a:off x="9791700" y="3746500"/>
            <a:ext cx="1892300" cy="1168400"/>
          </a:xfrm>
          <a:prstGeom prst="rect">
            <a:avLst/>
          </a:prstGeom>
          <a:noFill/>
        </p:spPr>
        <p:txBody>
          <a:bodyPr wrap="square" lIns="0" tIns="0" rIns="0" bIns="0">
            <a:spAutoFit/>
          </a:bodyPr>
          <a:lstStyle/>
          <a:p>
            <a:pPr algn="l">
              <a:lnSpc>
                <a:spcPct val="104000"/>
              </a:lnSpc>
              <a:spcAft>
                <a:spcPts val="200"/>
              </a:spcAft>
              <a:defRPr sz="1400" b="0">
                <a:solidFill>
                  <a:srgbClr val="657080"/>
                </a:solidFill>
                <a:latin typeface="IBM Plex Sans"/>
              </a:defRPr>
            </a:pPr>
            <a:r>
              <a:rPr sz="1400" b="0">
                <a:solidFill>
                  <a:srgbClr val="657080"/>
                </a:solidFill>
                <a:latin typeface="IBM Plex Sans"/>
              </a:rPr>
              <a:t>Does the expected gain</a:t>
            </a:r>
          </a:p>
          <a:p>
            <a:pPr algn="l">
              <a:lnSpc>
                <a:spcPct val="104000"/>
              </a:lnSpc>
              <a:spcAft>
                <a:spcPts val="200"/>
              </a:spcAft>
              <a:defRPr sz="1400" b="0">
                <a:solidFill>
                  <a:srgbClr val="657080"/>
                </a:solidFill>
                <a:latin typeface="IBM Plex Sans"/>
              </a:defRPr>
            </a:pPr>
            <a:r>
              <a:rPr sz="1400" b="0">
                <a:solidFill>
                  <a:srgbClr val="657080"/>
                </a:solidFill>
                <a:latin typeface="IBM Plex Sans"/>
              </a:rPr>
              <a:t>justify the modelled</a:t>
            </a:r>
          </a:p>
          <a:p>
            <a:pPr algn="l">
              <a:lnSpc>
                <a:spcPct val="104000"/>
              </a:lnSpc>
              <a:spcAft>
                <a:spcPts val="200"/>
              </a:spcAft>
              <a:defRPr sz="1400" b="0">
                <a:solidFill>
                  <a:srgbClr val="657080"/>
                </a:solidFill>
                <a:latin typeface="IBM Plex Sans"/>
              </a:defRPr>
            </a:pPr>
            <a:r>
              <a:rPr sz="1400" b="0">
                <a:solidFill>
                  <a:srgbClr val="657080"/>
                </a:solidFill>
                <a:latin typeface="IBM Plex Sans"/>
              </a:rPr>
              <a:t>downside?</a:t>
            </a:r>
          </a:p>
        </p:txBody>
      </p:sp>
      <p:sp>
        <p:nvSpPr>
          <p:cNvPr id="56" name="Rectangle 55"/>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59" name="TextBox 58"/>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DEMO-001 Sell: +S$3.76m expected NPV; 24.4% loss probability; S$7.21m CVaR.</a:t>
            </a:r>
          </a:p>
        </p:txBody>
      </p:sp>
      <p:sp>
        <p:nvSpPr>
          <p:cNvPr id="60" name="TextBox 59"/>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CVaR describes the average loss in the worst 5% of simulated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Selection | rank the action, then test readiness</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The preferred financial action and the operational evidence status answer different questions.</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Selection</a:t>
            </a:r>
          </a:p>
        </p:txBody>
      </p:sp>
      <p:sp>
        <p:nvSpPr>
          <p:cNvPr id="8" name="Rectangle 7">
            <a:hlinkClick r:id="rId4"/>
          </p:cNvPr>
          <p:cNvSpPr/>
          <p:nvPr/>
        </p:nvSpPr>
        <p:spPr>
          <a:xfrm>
            <a:off x="2428240" y="1346200"/>
            <a:ext cx="75692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529840" y="1409700"/>
            <a:ext cx="55372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Actions</a:t>
            </a:r>
          </a:p>
        </p:txBody>
      </p:sp>
      <p:sp>
        <p:nvSpPr>
          <p:cNvPr id="10" name="TextBox 9"/>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1" name="TextBox 10"/>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08</a:t>
            </a:r>
          </a:p>
        </p:txBody>
      </p:sp>
      <p:sp>
        <p:nvSpPr>
          <p:cNvPr id="12" name="TextBox 11"/>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3" name="TextBox 12"/>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Hold · Retrofit · Repurpose · Redevelop · Sell, each with expected NPV and downside estimates.</a:t>
            </a:r>
          </a:p>
        </p:txBody>
      </p:sp>
      <p:cxnSp>
        <p:nvCxnSpPr>
          <p:cNvPr id="14" name="Connector 13"/>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5600" y="3365500"/>
            <a:ext cx="2590800" cy="15748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5600" y="3365500"/>
            <a:ext cx="50800" cy="15748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8000" y="3505200"/>
            <a:ext cx="22987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Risk-adjusted ranking</a:t>
            </a:r>
          </a:p>
        </p:txBody>
      </p:sp>
      <p:sp>
        <p:nvSpPr>
          <p:cNvPr id="18" name="TextBox 17"/>
          <p:cNvSpPr txBox="1"/>
          <p:nvPr/>
        </p:nvSpPr>
        <p:spPr>
          <a:xfrm>
            <a:off x="508000" y="3860800"/>
            <a:ext cx="2286000" cy="10287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Expected NPV</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− 0.3 × loss CVaR</a:t>
            </a:r>
          </a:p>
          <a:p>
            <a:pPr algn="l">
              <a:lnSpc>
                <a:spcPct val="104000"/>
              </a:lnSpc>
              <a:spcAft>
                <a:spcPts val="200"/>
              </a:spcAft>
              <a:defRPr sz="1350" b="0">
                <a:solidFill>
                  <a:srgbClr val="657080"/>
                </a:solidFill>
                <a:latin typeface="IBM Plex Sans"/>
              </a:defRPr>
            </a:pPr>
            <a:endParaRPr sz="1350" b="0">
              <a:solidFill>
                <a:srgbClr val="657080"/>
              </a:solidFill>
              <a:latin typeface="IBM Plex Sans"/>
            </a:endParaRPr>
          </a:p>
          <a:p>
            <a:pPr algn="l">
              <a:lnSpc>
                <a:spcPct val="104000"/>
              </a:lnSpc>
              <a:spcAft>
                <a:spcPts val="200"/>
              </a:spcAft>
              <a:defRPr sz="1350" b="0">
                <a:solidFill>
                  <a:srgbClr val="657080"/>
                </a:solidFill>
                <a:latin typeface="IBM Plex Sans"/>
              </a:defRPr>
            </a:pPr>
            <a:r>
              <a:rPr sz="1350" b="0">
                <a:solidFill>
                  <a:srgbClr val="657080"/>
                </a:solidFill>
                <a:latin typeface="IBM Plex Sans"/>
              </a:rPr>
              <a:t>Compare with Hold.</a:t>
            </a:r>
          </a:p>
        </p:txBody>
      </p:sp>
      <p:cxnSp>
        <p:nvCxnSpPr>
          <p:cNvPr id="19" name="Connector 18"/>
          <p:cNvCxnSpPr/>
          <p:nvPr/>
        </p:nvCxnSpPr>
        <p:spPr>
          <a:xfrm>
            <a:off x="2946400" y="4152900"/>
            <a:ext cx="457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403600" y="3517900"/>
            <a:ext cx="2298700" cy="12827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03600" y="3517900"/>
            <a:ext cx="50800" cy="12827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56000" y="3657600"/>
            <a:ext cx="20066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Preferred action</a:t>
            </a:r>
          </a:p>
        </p:txBody>
      </p:sp>
      <p:sp>
        <p:nvSpPr>
          <p:cNvPr id="23" name="TextBox 22"/>
          <p:cNvSpPr txBox="1"/>
          <p:nvPr/>
        </p:nvSpPr>
        <p:spPr>
          <a:xfrm>
            <a:off x="3556000" y="4013200"/>
            <a:ext cx="1993900" cy="7366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Keep the economic</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candidate visible.</a:t>
            </a:r>
          </a:p>
        </p:txBody>
      </p:sp>
      <p:cxnSp>
        <p:nvCxnSpPr>
          <p:cNvPr id="24" name="Connector 23"/>
          <p:cNvCxnSpPr/>
          <p:nvPr/>
        </p:nvCxnSpPr>
        <p:spPr>
          <a:xfrm>
            <a:off x="5702300" y="4152900"/>
            <a:ext cx="4826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Diamond 24"/>
          <p:cNvSpPr/>
          <p:nvPr/>
        </p:nvSpPr>
        <p:spPr>
          <a:xfrm>
            <a:off x="6184900" y="3429000"/>
            <a:ext cx="1689100" cy="1447800"/>
          </a:xfrm>
          <a:prstGeom prst="diamond">
            <a:avLst/>
          </a:prstGeom>
          <a:solidFill>
            <a:srgbClr val="FFF1D8"/>
          </a:solidFill>
          <a:ln w="13970">
            <a:solidFill>
              <a:srgbClr val="FF8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88938" y="3947160"/>
            <a:ext cx="1081024" cy="457200"/>
          </a:xfrm>
          <a:prstGeom prst="rect">
            <a:avLst/>
          </a:prstGeom>
          <a:noFill/>
        </p:spPr>
        <p:txBody>
          <a:bodyPr wrap="square" lIns="0" tIns="0" rIns="0" bIns="0">
            <a:spAutoFit/>
          </a:bodyPr>
          <a:lstStyle/>
          <a:p>
            <a:pPr algn="ctr">
              <a:lnSpc>
                <a:spcPct val="104000"/>
              </a:lnSpc>
              <a:spcAft>
                <a:spcPts val="200"/>
              </a:spcAft>
              <a:defRPr sz="1300" b="1">
                <a:solidFill>
                  <a:srgbClr val="A65A00"/>
                </a:solidFill>
                <a:latin typeface="IBM Plex Sans"/>
              </a:defRPr>
            </a:pPr>
            <a:r>
              <a:rPr sz="1300" b="1">
                <a:solidFill>
                  <a:srgbClr val="A65A00"/>
                </a:solidFill>
                <a:latin typeface="IBM Plex Sans"/>
              </a:rPr>
              <a:t>Evidence</a:t>
            </a:r>
          </a:p>
          <a:p>
            <a:pPr algn="ctr">
              <a:lnSpc>
                <a:spcPct val="104000"/>
              </a:lnSpc>
              <a:spcAft>
                <a:spcPts val="200"/>
              </a:spcAft>
              <a:defRPr sz="1300" b="1">
                <a:solidFill>
                  <a:srgbClr val="A65A00"/>
                </a:solidFill>
                <a:latin typeface="IBM Plex Sans"/>
              </a:defRPr>
            </a:pPr>
            <a:r>
              <a:rPr sz="1300" b="1">
                <a:solidFill>
                  <a:srgbClr val="A65A00"/>
                </a:solidFill>
                <a:latin typeface="IBM Plex Sans"/>
              </a:rPr>
              <a:t>ready?</a:t>
            </a:r>
          </a:p>
        </p:txBody>
      </p:sp>
      <p:cxnSp>
        <p:nvCxnSpPr>
          <p:cNvPr id="27" name="Connector 26"/>
          <p:cNvCxnSpPr/>
          <p:nvPr/>
        </p:nvCxnSpPr>
        <p:spPr>
          <a:xfrm>
            <a:off x="7874000" y="4152900"/>
            <a:ext cx="5715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445500" y="3238500"/>
            <a:ext cx="0" cy="9144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5500" y="3238500"/>
            <a:ext cx="5207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874000" y="4152900"/>
            <a:ext cx="571500" cy="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5500" y="4152900"/>
            <a:ext cx="0" cy="76200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5500" y="4914900"/>
            <a:ext cx="520700" cy="0"/>
          </a:xfrm>
          <a:prstGeom prst="line">
            <a:avLst/>
          </a:prstGeom>
          <a:ln w="15875">
            <a:solidFill>
              <a:srgbClr val="A65A00"/>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53400" y="3048000"/>
            <a:ext cx="508000" cy="228600"/>
          </a:xfrm>
          <a:prstGeom prst="rect">
            <a:avLst/>
          </a:prstGeom>
          <a:noFill/>
        </p:spPr>
        <p:txBody>
          <a:bodyPr wrap="square" lIns="0" tIns="0" rIns="0" bIns="0">
            <a:spAutoFit/>
          </a:bodyPr>
          <a:lstStyle/>
          <a:p>
            <a:pPr algn="l">
              <a:lnSpc>
                <a:spcPct val="104000"/>
              </a:lnSpc>
              <a:spcAft>
                <a:spcPts val="200"/>
              </a:spcAft>
              <a:defRPr sz="1000" b="1">
                <a:solidFill>
                  <a:srgbClr val="008A80"/>
                </a:solidFill>
                <a:latin typeface="IBM Plex Sans"/>
              </a:defRPr>
            </a:pPr>
            <a:r>
              <a:rPr sz="1000" b="1">
                <a:solidFill>
                  <a:srgbClr val="008A80"/>
                </a:solidFill>
                <a:latin typeface="IBM Plex Sans"/>
              </a:rPr>
              <a:t>YES</a:t>
            </a:r>
          </a:p>
        </p:txBody>
      </p:sp>
      <p:sp>
        <p:nvSpPr>
          <p:cNvPr id="34" name="TextBox 33"/>
          <p:cNvSpPr txBox="1"/>
          <p:nvPr/>
        </p:nvSpPr>
        <p:spPr>
          <a:xfrm>
            <a:off x="8153400" y="5105400"/>
            <a:ext cx="508000" cy="228600"/>
          </a:xfrm>
          <a:prstGeom prst="rect">
            <a:avLst/>
          </a:prstGeom>
          <a:noFill/>
        </p:spPr>
        <p:txBody>
          <a:bodyPr wrap="square" lIns="0" tIns="0" rIns="0" bIns="0">
            <a:spAutoFit/>
          </a:bodyPr>
          <a:lstStyle/>
          <a:p>
            <a:pPr algn="l">
              <a:lnSpc>
                <a:spcPct val="104000"/>
              </a:lnSpc>
              <a:spcAft>
                <a:spcPts val="200"/>
              </a:spcAft>
              <a:defRPr sz="1000" b="1">
                <a:solidFill>
                  <a:srgbClr val="A65A00"/>
                </a:solidFill>
                <a:latin typeface="IBM Plex Sans"/>
              </a:defRPr>
            </a:pPr>
            <a:r>
              <a:rPr sz="1000" b="1">
                <a:solidFill>
                  <a:srgbClr val="A65A00"/>
                </a:solidFill>
                <a:latin typeface="IBM Plex Sans"/>
              </a:rPr>
              <a:t>NO</a:t>
            </a:r>
          </a:p>
        </p:txBody>
      </p:sp>
      <p:sp>
        <p:nvSpPr>
          <p:cNvPr id="35" name="Rounded Rectangle 34"/>
          <p:cNvSpPr/>
          <p:nvPr/>
        </p:nvSpPr>
        <p:spPr>
          <a:xfrm>
            <a:off x="8966200" y="2755900"/>
            <a:ext cx="2870200" cy="10033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966200" y="2755900"/>
            <a:ext cx="50800" cy="10033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18600" y="2895600"/>
            <a:ext cx="25781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Candidate for review</a:t>
            </a:r>
          </a:p>
        </p:txBody>
      </p:sp>
      <p:sp>
        <p:nvSpPr>
          <p:cNvPr id="38" name="TextBox 37"/>
          <p:cNvSpPr txBox="1"/>
          <p:nvPr/>
        </p:nvSpPr>
        <p:spPr>
          <a:xfrm>
            <a:off x="9118600" y="3251200"/>
            <a:ext cx="2565400" cy="4572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Check the portfolio fit</a:t>
            </a:r>
          </a:p>
          <a:p>
            <a:pPr algn="l">
              <a:lnSpc>
                <a:spcPct val="104000"/>
              </a:lnSpc>
              <a:spcAft>
                <a:spcPts val="200"/>
              </a:spcAft>
              <a:defRPr sz="1250" b="0">
                <a:solidFill>
                  <a:srgbClr val="657080"/>
                </a:solidFill>
                <a:latin typeface="IBM Plex Sans"/>
              </a:defRPr>
            </a:pPr>
            <a:r>
              <a:rPr sz="1250" b="0">
                <a:solidFill>
                  <a:srgbClr val="657080"/>
                </a:solidFill>
                <a:latin typeface="IBM Plex Sans"/>
              </a:rPr>
              <a:t>and investment rationale.</a:t>
            </a:r>
          </a:p>
        </p:txBody>
      </p:sp>
      <p:sp>
        <p:nvSpPr>
          <p:cNvPr id="39" name="Rounded Rectangle 38"/>
          <p:cNvSpPr/>
          <p:nvPr/>
        </p:nvSpPr>
        <p:spPr>
          <a:xfrm>
            <a:off x="8966200" y="4419600"/>
            <a:ext cx="2870200" cy="10033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966200" y="4419600"/>
            <a:ext cx="50800" cy="10033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18600" y="4559300"/>
            <a:ext cx="25781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Data Required / Monitor</a:t>
            </a:r>
          </a:p>
        </p:txBody>
      </p:sp>
      <p:sp>
        <p:nvSpPr>
          <p:cNvPr id="42" name="TextBox 41"/>
          <p:cNvSpPr txBox="1"/>
          <p:nvPr/>
        </p:nvSpPr>
        <p:spPr>
          <a:xfrm>
            <a:off x="9118600" y="4914900"/>
            <a:ext cx="2565400" cy="457200"/>
          </a:xfrm>
          <a:prstGeom prst="rect">
            <a:avLst/>
          </a:prstGeom>
          <a:noFill/>
        </p:spPr>
        <p:txBody>
          <a:bodyPr wrap="square" lIns="0" tIns="0" rIns="0" bIns="0">
            <a:spAutoFit/>
          </a:bodyPr>
          <a:lstStyle/>
          <a:p>
            <a:pPr algn="l">
              <a:lnSpc>
                <a:spcPct val="104000"/>
              </a:lnSpc>
              <a:spcAft>
                <a:spcPts val="200"/>
              </a:spcAft>
              <a:defRPr sz="1250" b="0">
                <a:solidFill>
                  <a:srgbClr val="657080"/>
                </a:solidFill>
                <a:latin typeface="IBM Plex Sans"/>
              </a:defRPr>
            </a:pPr>
            <a:r>
              <a:rPr sz="1250" b="0">
                <a:solidFill>
                  <a:srgbClr val="657080"/>
                </a:solidFill>
                <a:latin typeface="IBM Plex Sans"/>
              </a:rPr>
              <a:t>Resolve the evidence gaps</a:t>
            </a:r>
          </a:p>
          <a:p>
            <a:pPr algn="l">
              <a:lnSpc>
                <a:spcPct val="104000"/>
              </a:lnSpc>
              <a:spcAft>
                <a:spcPts val="200"/>
              </a:spcAft>
              <a:defRPr sz="1250" b="0">
                <a:solidFill>
                  <a:srgbClr val="657080"/>
                </a:solidFill>
                <a:latin typeface="IBM Plex Sans"/>
              </a:defRPr>
            </a:pPr>
            <a:r>
              <a:rPr sz="1250" b="0">
                <a:solidFill>
                  <a:srgbClr val="657080"/>
                </a:solidFill>
                <a:latin typeface="IBM Plex Sans"/>
              </a:rPr>
              <a:t>before acting.</a:t>
            </a:r>
          </a:p>
        </p:txBody>
      </p:sp>
      <p:sp>
        <p:nvSpPr>
          <p:cNvPr id="43" name="Rectangle 42"/>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46" name="TextBox 45"/>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DEMO-001: Sell scores +S$1.59m; the evidence status remains Data Required.</a:t>
            </a:r>
          </a:p>
        </p:txBody>
      </p:sp>
      <p:sp>
        <p:nvSpPr>
          <p:cNvPr id="47" name="TextBox 46"/>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Data Required / Monitor does not mean that Hold wins the economic comparison.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Optimiser | choose a plan that fits the portfolio</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An attractive standalone action may change once funding, retained income and execution limits apply.</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904239"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70103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Optimiser</a:t>
            </a:r>
          </a:p>
        </p:txBody>
      </p:sp>
      <p:sp>
        <p:nvSpPr>
          <p:cNvPr id="8" name="TextBox 7"/>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9" name="TextBox 8"/>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09</a:t>
            </a:r>
          </a:p>
        </p:txBody>
      </p:sp>
      <p:sp>
        <p:nvSpPr>
          <p:cNvPr id="10" name="TextBox 9"/>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1" name="TextBox 10"/>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All asset alternatives + capital and liquidity budgets + income, project and development limits.</a:t>
            </a:r>
          </a:p>
        </p:txBody>
      </p:sp>
      <p:cxnSp>
        <p:nvCxnSpPr>
          <p:cNvPr id="12" name="Connector 11"/>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5600" y="3352800"/>
            <a:ext cx="2387600" cy="14097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600" y="3352800"/>
            <a:ext cx="50800" cy="14097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000" y="3492500"/>
            <a:ext cx="20955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Portfolio alternatives</a:t>
            </a:r>
          </a:p>
        </p:txBody>
      </p:sp>
      <p:sp>
        <p:nvSpPr>
          <p:cNvPr id="16" name="TextBox 15"/>
          <p:cNvSpPr txBox="1"/>
          <p:nvPr/>
        </p:nvSpPr>
        <p:spPr>
          <a:xfrm>
            <a:off x="508000" y="3848100"/>
            <a:ext cx="2082800" cy="8636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Value and risk for</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each action and asset.</a:t>
            </a:r>
          </a:p>
        </p:txBody>
      </p:sp>
      <p:cxnSp>
        <p:nvCxnSpPr>
          <p:cNvPr id="17" name="Connector 16"/>
          <p:cNvCxnSpPr/>
          <p:nvPr/>
        </p:nvCxnSpPr>
        <p:spPr>
          <a:xfrm>
            <a:off x="2743200" y="4051300"/>
            <a:ext cx="4572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00400" y="3352800"/>
            <a:ext cx="2438400" cy="14097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00400" y="3352800"/>
            <a:ext cx="50800" cy="14097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52800" y="3492500"/>
            <a:ext cx="21463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Choose action + year</a:t>
            </a:r>
          </a:p>
        </p:txBody>
      </p:sp>
      <p:sp>
        <p:nvSpPr>
          <p:cNvPr id="21" name="TextBox 20"/>
          <p:cNvSpPr txBox="1"/>
          <p:nvPr/>
        </p:nvSpPr>
        <p:spPr>
          <a:xfrm>
            <a:off x="3352800" y="3848100"/>
            <a:ext cx="2133600" cy="8636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Optimise value subject</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to shared constraints</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and joint downside.</a:t>
            </a:r>
          </a:p>
        </p:txBody>
      </p:sp>
      <p:cxnSp>
        <p:nvCxnSpPr>
          <p:cNvPr id="22" name="Connector 21"/>
          <p:cNvCxnSpPr/>
          <p:nvPr/>
        </p:nvCxnSpPr>
        <p:spPr>
          <a:xfrm>
            <a:off x="5638800" y="4051300"/>
            <a:ext cx="4826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Diamond 22"/>
          <p:cNvSpPr/>
          <p:nvPr/>
        </p:nvSpPr>
        <p:spPr>
          <a:xfrm>
            <a:off x="6121400" y="3289300"/>
            <a:ext cx="1651000" cy="1524000"/>
          </a:xfrm>
          <a:prstGeom prst="diamond">
            <a:avLst/>
          </a:prstGeom>
          <a:solidFill>
            <a:srgbClr val="FFF1D8"/>
          </a:solidFill>
          <a:ln w="13970">
            <a:solidFill>
              <a:srgbClr val="FF8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8580" y="3742690"/>
            <a:ext cx="1056640" cy="685800"/>
          </a:xfrm>
          <a:prstGeom prst="rect">
            <a:avLst/>
          </a:prstGeom>
          <a:noFill/>
        </p:spPr>
        <p:txBody>
          <a:bodyPr wrap="square" lIns="0" tIns="0" rIns="0" bIns="0">
            <a:spAutoFit/>
          </a:bodyPr>
          <a:lstStyle/>
          <a:p>
            <a:pPr algn="ctr">
              <a:lnSpc>
                <a:spcPct val="104000"/>
              </a:lnSpc>
              <a:spcAft>
                <a:spcPts val="200"/>
              </a:spcAft>
              <a:defRPr sz="1300" b="1">
                <a:solidFill>
                  <a:srgbClr val="A65A00"/>
                </a:solidFill>
                <a:latin typeface="IBM Plex Sans"/>
              </a:defRPr>
            </a:pPr>
            <a:r>
              <a:rPr sz="1300" b="1">
                <a:solidFill>
                  <a:srgbClr val="A65A00"/>
                </a:solidFill>
                <a:latin typeface="IBM Plex Sans"/>
              </a:rPr>
              <a:t>Constraint</a:t>
            </a:r>
          </a:p>
          <a:p>
            <a:pPr algn="ctr">
              <a:lnSpc>
                <a:spcPct val="104000"/>
              </a:lnSpc>
              <a:spcAft>
                <a:spcPts val="200"/>
              </a:spcAft>
              <a:defRPr sz="1300" b="1">
                <a:solidFill>
                  <a:srgbClr val="A65A00"/>
                </a:solidFill>
                <a:latin typeface="IBM Plex Sans"/>
              </a:defRPr>
            </a:pPr>
            <a:r>
              <a:rPr sz="1300" b="1">
                <a:solidFill>
                  <a:srgbClr val="A65A00"/>
                </a:solidFill>
                <a:latin typeface="IBM Plex Sans"/>
              </a:rPr>
              <a:t>checks</a:t>
            </a:r>
          </a:p>
          <a:p>
            <a:pPr algn="ctr">
              <a:lnSpc>
                <a:spcPct val="104000"/>
              </a:lnSpc>
              <a:spcAft>
                <a:spcPts val="200"/>
              </a:spcAft>
              <a:defRPr sz="1300" b="1">
                <a:solidFill>
                  <a:srgbClr val="A65A00"/>
                </a:solidFill>
                <a:latin typeface="IBM Plex Sans"/>
              </a:defRPr>
            </a:pPr>
            <a:r>
              <a:rPr sz="1300" b="1">
                <a:solidFill>
                  <a:srgbClr val="A65A00"/>
                </a:solidFill>
                <a:latin typeface="IBM Plex Sans"/>
              </a:rPr>
              <a:t>pass?</a:t>
            </a:r>
          </a:p>
        </p:txBody>
      </p:sp>
      <p:cxnSp>
        <p:nvCxnSpPr>
          <p:cNvPr id="25" name="Connector 24"/>
          <p:cNvCxnSpPr/>
          <p:nvPr/>
        </p:nvCxnSpPr>
        <p:spPr>
          <a:xfrm>
            <a:off x="7772400" y="4051300"/>
            <a:ext cx="533400" cy="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305800" y="3213100"/>
            <a:ext cx="0" cy="838200"/>
          </a:xfrm>
          <a:prstGeom prst="line">
            <a:avLst/>
          </a:prstGeom>
          <a:ln w="15875">
            <a:solidFill>
              <a:srgbClr val="008A8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305800" y="3213100"/>
            <a:ext cx="584200" cy="0"/>
          </a:xfrm>
          <a:prstGeom prst="line">
            <a:avLst/>
          </a:prstGeom>
          <a:ln w="15875">
            <a:solidFill>
              <a:srgbClr val="008A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0" y="4051300"/>
            <a:ext cx="533400" cy="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05800" y="4051300"/>
            <a:ext cx="0" cy="762000"/>
          </a:xfrm>
          <a:prstGeom prst="line">
            <a:avLst/>
          </a:prstGeom>
          <a:ln w="15875">
            <a:solidFill>
              <a:srgbClr val="A65A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305800" y="4813300"/>
            <a:ext cx="584200" cy="0"/>
          </a:xfrm>
          <a:prstGeom prst="line">
            <a:avLst/>
          </a:prstGeom>
          <a:ln w="15875">
            <a:solidFill>
              <a:srgbClr val="A65A00"/>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001000" y="3009900"/>
            <a:ext cx="558800" cy="215900"/>
          </a:xfrm>
          <a:prstGeom prst="rect">
            <a:avLst/>
          </a:prstGeom>
          <a:noFill/>
        </p:spPr>
        <p:txBody>
          <a:bodyPr wrap="square" lIns="0" tIns="0" rIns="0" bIns="0">
            <a:spAutoFit/>
          </a:bodyPr>
          <a:lstStyle/>
          <a:p>
            <a:pPr algn="l">
              <a:lnSpc>
                <a:spcPct val="104000"/>
              </a:lnSpc>
              <a:spcAft>
                <a:spcPts val="200"/>
              </a:spcAft>
              <a:defRPr sz="1000" b="1">
                <a:solidFill>
                  <a:srgbClr val="008A80"/>
                </a:solidFill>
                <a:latin typeface="IBM Plex Sans"/>
              </a:defRPr>
            </a:pPr>
            <a:r>
              <a:rPr sz="1000" b="1">
                <a:solidFill>
                  <a:srgbClr val="008A80"/>
                </a:solidFill>
                <a:latin typeface="IBM Plex Sans"/>
              </a:rPr>
              <a:t>YES</a:t>
            </a:r>
          </a:p>
        </p:txBody>
      </p:sp>
      <p:sp>
        <p:nvSpPr>
          <p:cNvPr id="32" name="TextBox 31"/>
          <p:cNvSpPr txBox="1"/>
          <p:nvPr/>
        </p:nvSpPr>
        <p:spPr>
          <a:xfrm>
            <a:off x="8001000" y="5016500"/>
            <a:ext cx="558800" cy="215900"/>
          </a:xfrm>
          <a:prstGeom prst="rect">
            <a:avLst/>
          </a:prstGeom>
          <a:noFill/>
        </p:spPr>
        <p:txBody>
          <a:bodyPr wrap="square" lIns="0" tIns="0" rIns="0" bIns="0">
            <a:spAutoFit/>
          </a:bodyPr>
          <a:lstStyle/>
          <a:p>
            <a:pPr algn="l">
              <a:lnSpc>
                <a:spcPct val="104000"/>
              </a:lnSpc>
              <a:spcAft>
                <a:spcPts val="200"/>
              </a:spcAft>
              <a:defRPr sz="1000" b="1">
                <a:solidFill>
                  <a:srgbClr val="A65A00"/>
                </a:solidFill>
                <a:latin typeface="IBM Plex Sans"/>
              </a:defRPr>
            </a:pPr>
            <a:r>
              <a:rPr sz="1000" b="1">
                <a:solidFill>
                  <a:srgbClr val="A65A00"/>
                </a:solidFill>
                <a:latin typeface="IBM Plex Sans"/>
              </a:rPr>
              <a:t>NO</a:t>
            </a:r>
          </a:p>
        </p:txBody>
      </p:sp>
      <p:sp>
        <p:nvSpPr>
          <p:cNvPr id="33" name="Rounded Rectangle 32"/>
          <p:cNvSpPr/>
          <p:nvPr/>
        </p:nvSpPr>
        <p:spPr>
          <a:xfrm>
            <a:off x="8890000" y="2730500"/>
            <a:ext cx="2946400" cy="10160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890000" y="2730500"/>
            <a:ext cx="50800" cy="10160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42400" y="2870200"/>
            <a:ext cx="26543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Allocation + annual plan</a:t>
            </a:r>
          </a:p>
        </p:txBody>
      </p:sp>
      <p:sp>
        <p:nvSpPr>
          <p:cNvPr id="36" name="TextBox 35"/>
          <p:cNvSpPr txBox="1"/>
          <p:nvPr/>
        </p:nvSpPr>
        <p:spPr>
          <a:xfrm>
            <a:off x="9042400" y="3225800"/>
            <a:ext cx="2641600" cy="469900"/>
          </a:xfrm>
          <a:prstGeom prst="rect">
            <a:avLst/>
          </a:prstGeom>
          <a:noFill/>
        </p:spPr>
        <p:txBody>
          <a:bodyPr wrap="square" lIns="0" tIns="0" rIns="0" bIns="0">
            <a:spAutoFit/>
          </a:bodyPr>
          <a:lstStyle/>
          <a:p>
            <a:pPr algn="l">
              <a:lnSpc>
                <a:spcPct val="104000"/>
              </a:lnSpc>
              <a:spcAft>
                <a:spcPts val="200"/>
              </a:spcAft>
              <a:defRPr sz="1230" b="0">
                <a:solidFill>
                  <a:srgbClr val="657080"/>
                </a:solidFill>
                <a:latin typeface="IBM Plex Sans"/>
              </a:defRPr>
            </a:pPr>
            <a:r>
              <a:rPr sz="1230" b="0">
                <a:solidFill>
                  <a:srgbClr val="657080"/>
                </a:solidFill>
                <a:latin typeface="IBM Plex Sans"/>
              </a:rPr>
              <a:t>Actions, start years, capital,</a:t>
            </a:r>
          </a:p>
          <a:p>
            <a:pPr algn="l">
              <a:lnSpc>
                <a:spcPct val="104000"/>
              </a:lnSpc>
              <a:spcAft>
                <a:spcPts val="200"/>
              </a:spcAft>
              <a:defRPr sz="1230" b="0">
                <a:solidFill>
                  <a:srgbClr val="657080"/>
                </a:solidFill>
                <a:latin typeface="IBM Plex Sans"/>
              </a:defRPr>
            </a:pPr>
            <a:r>
              <a:rPr sz="1230" b="0">
                <a:solidFill>
                  <a:srgbClr val="657080"/>
                </a:solidFill>
                <a:latin typeface="IBM Plex Sans"/>
              </a:rPr>
              <a:t>remaining liquidity and income.</a:t>
            </a:r>
          </a:p>
        </p:txBody>
      </p:sp>
      <p:sp>
        <p:nvSpPr>
          <p:cNvPr id="37" name="Rounded Rectangle 36"/>
          <p:cNvSpPr/>
          <p:nvPr/>
        </p:nvSpPr>
        <p:spPr>
          <a:xfrm>
            <a:off x="8890000" y="4292600"/>
            <a:ext cx="2946400" cy="10160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890000" y="4292600"/>
            <a:ext cx="50800" cy="10160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42400" y="4432300"/>
            <a:ext cx="26543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Revise and rerun</a:t>
            </a:r>
          </a:p>
        </p:txBody>
      </p:sp>
      <p:sp>
        <p:nvSpPr>
          <p:cNvPr id="40" name="TextBox 39"/>
          <p:cNvSpPr txBox="1"/>
          <p:nvPr/>
        </p:nvSpPr>
        <p:spPr>
          <a:xfrm>
            <a:off x="9042400" y="4787900"/>
            <a:ext cx="2641600" cy="469900"/>
          </a:xfrm>
          <a:prstGeom prst="rect">
            <a:avLst/>
          </a:prstGeom>
          <a:noFill/>
        </p:spPr>
        <p:txBody>
          <a:bodyPr wrap="square" lIns="0" tIns="0" rIns="0" bIns="0">
            <a:spAutoFit/>
          </a:bodyPr>
          <a:lstStyle/>
          <a:p>
            <a:pPr algn="l">
              <a:lnSpc>
                <a:spcPct val="104000"/>
              </a:lnSpc>
              <a:spcAft>
                <a:spcPts val="200"/>
              </a:spcAft>
              <a:defRPr sz="1230" b="0">
                <a:solidFill>
                  <a:srgbClr val="657080"/>
                </a:solidFill>
                <a:latin typeface="IBM Plex Sans"/>
              </a:defRPr>
            </a:pPr>
            <a:r>
              <a:rPr sz="1230" b="0">
                <a:solidFill>
                  <a:srgbClr val="657080"/>
                </a:solidFill>
                <a:latin typeface="IBM Plex Sans"/>
              </a:rPr>
              <a:t>Review the failed constraint</a:t>
            </a:r>
          </a:p>
          <a:p>
            <a:pPr algn="l">
              <a:lnSpc>
                <a:spcPct val="104000"/>
              </a:lnSpc>
              <a:spcAft>
                <a:spcPts val="200"/>
              </a:spcAft>
              <a:defRPr sz="1230" b="0">
                <a:solidFill>
                  <a:srgbClr val="657080"/>
                </a:solidFill>
                <a:latin typeface="IBM Plex Sans"/>
              </a:defRPr>
            </a:pPr>
            <a:r>
              <a:rPr sz="1230" b="0">
                <a:solidFill>
                  <a:srgbClr val="657080"/>
                </a:solidFill>
                <a:latin typeface="IBM Plex Sans"/>
              </a:rPr>
              <a:t>and adjust the proposed plan.</a:t>
            </a:r>
          </a:p>
        </p:txBody>
      </p:sp>
      <p:sp>
        <p:nvSpPr>
          <p:cNvPr id="41" name="TextBox 40"/>
          <p:cNvSpPr txBox="1"/>
          <p:nvPr/>
        </p:nvSpPr>
        <p:spPr>
          <a:xfrm>
            <a:off x="368300" y="5359400"/>
            <a:ext cx="7747000" cy="342900"/>
          </a:xfrm>
          <a:prstGeom prst="rect">
            <a:avLst/>
          </a:prstGeom>
          <a:noFill/>
        </p:spPr>
        <p:txBody>
          <a:bodyPr wrap="square" lIns="0" tIns="0" rIns="0" bIns="0">
            <a:spAutoFit/>
          </a:bodyPr>
          <a:lstStyle/>
          <a:p>
            <a:pPr algn="l">
              <a:lnSpc>
                <a:spcPct val="104000"/>
              </a:lnSpc>
              <a:spcAft>
                <a:spcPts val="200"/>
              </a:spcAft>
              <a:defRPr sz="1150" b="0">
                <a:solidFill>
                  <a:srgbClr val="657080"/>
                </a:solidFill>
                <a:latin typeface="IBM Plex Sans"/>
              </a:defRPr>
            </a:pPr>
            <a:r>
              <a:rPr sz="1150" b="0">
                <a:solidFill>
                  <a:srgbClr val="657080"/>
                </a:solidFill>
                <a:latin typeface="IBM Plex Sans"/>
              </a:rPr>
              <a:t>Other views: two-stage contingent plans and assumption-sensitivity checks.</a:t>
            </a:r>
          </a:p>
        </p:txBody>
      </p:sp>
      <p:sp>
        <p:nvSpPr>
          <p:cNvPr id="42" name="Rectangle 41"/>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45" name="TextBox 44"/>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A feasible model schedule with explicit constraints and funding requirements.</a:t>
            </a:r>
          </a:p>
        </p:txBody>
      </p:sp>
      <p:sp>
        <p:nvSpPr>
          <p:cNvPr id="46" name="TextBox 45"/>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Public demo displays saved plans; new calculations require the backend.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Digital twins | compare decisions across environments</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Explore a separate synthetic population and see which choices change when assumptions move.</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119888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99567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Digital Twins</a:t>
            </a:r>
          </a:p>
        </p:txBody>
      </p:sp>
      <p:sp>
        <p:nvSpPr>
          <p:cNvPr id="8" name="TextBox 7"/>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9" name="TextBox 8"/>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10</a:t>
            </a:r>
          </a:p>
        </p:txBody>
      </p:sp>
      <p:sp>
        <p:nvSpPr>
          <p:cNvPr id="10" name="TextBox 9"/>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1" name="TextBox 10"/>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Choose an environment, then filter the synthetic assets whose decisions you want to inspect.</a:t>
            </a:r>
          </a:p>
        </p:txBody>
      </p:sp>
      <p:cxnSp>
        <p:nvCxnSpPr>
          <p:cNvPr id="12" name="Connector 11"/>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5600" y="3378200"/>
            <a:ext cx="2184400" cy="12700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600" y="3378200"/>
            <a:ext cx="50800" cy="12700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000" y="3517900"/>
            <a:ext cx="18923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Select environment</a:t>
            </a:r>
          </a:p>
        </p:txBody>
      </p:sp>
      <p:sp>
        <p:nvSpPr>
          <p:cNvPr id="16" name="TextBox 15"/>
          <p:cNvSpPr txBox="1"/>
          <p:nvPr/>
        </p:nvSpPr>
        <p:spPr>
          <a:xfrm>
            <a:off x="508000" y="3873500"/>
            <a:ext cx="1879600" cy="7239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Load the saved</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assumption case.</a:t>
            </a:r>
          </a:p>
        </p:txBody>
      </p:sp>
      <p:cxnSp>
        <p:nvCxnSpPr>
          <p:cNvPr id="17" name="Connector 16"/>
          <p:cNvCxnSpPr/>
          <p:nvPr/>
        </p:nvCxnSpPr>
        <p:spPr>
          <a:xfrm>
            <a:off x="2540000" y="4013200"/>
            <a:ext cx="3556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895600" y="3175000"/>
            <a:ext cx="0" cy="8382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95600" y="3175000"/>
            <a:ext cx="4318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40000" y="4013200"/>
            <a:ext cx="3556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95600" y="4013200"/>
            <a:ext cx="0" cy="774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895600" y="4787900"/>
            <a:ext cx="4318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327400" y="2667000"/>
            <a:ext cx="3124200" cy="10287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27400" y="2667000"/>
            <a:ext cx="50800" cy="10287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9800" y="2806700"/>
            <a:ext cx="28321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Independent asset choices</a:t>
            </a:r>
          </a:p>
        </p:txBody>
      </p:sp>
      <p:sp>
        <p:nvSpPr>
          <p:cNvPr id="26" name="TextBox 25"/>
          <p:cNvSpPr txBox="1"/>
          <p:nvPr/>
        </p:nvSpPr>
        <p:spPr>
          <a:xfrm>
            <a:off x="3479800" y="3162300"/>
            <a:ext cx="2819400" cy="4826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Preferred action, NPV range</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and probability of loss.</a:t>
            </a:r>
          </a:p>
        </p:txBody>
      </p:sp>
      <p:sp>
        <p:nvSpPr>
          <p:cNvPr id="27" name="Rounded Rectangle 26"/>
          <p:cNvSpPr/>
          <p:nvPr/>
        </p:nvSpPr>
        <p:spPr>
          <a:xfrm>
            <a:off x="3327400" y="4279900"/>
            <a:ext cx="3124200" cy="10287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27400" y="4279900"/>
            <a:ext cx="50800" cy="10287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9800" y="4419600"/>
            <a:ext cx="2832100" cy="279400"/>
          </a:xfrm>
          <a:prstGeom prst="rect">
            <a:avLst/>
          </a:prstGeom>
          <a:noFill/>
        </p:spPr>
        <p:txBody>
          <a:bodyPr wrap="square" lIns="0" tIns="0" rIns="0" bIns="0">
            <a:spAutoFit/>
          </a:bodyPr>
          <a:lstStyle/>
          <a:p>
            <a:pPr algn="l">
              <a:lnSpc>
                <a:spcPct val="104000"/>
              </a:lnSpc>
              <a:spcAft>
                <a:spcPts val="200"/>
              </a:spcAft>
              <a:defRPr sz="1550" b="1">
                <a:solidFill>
                  <a:srgbClr val="202A38"/>
                </a:solidFill>
                <a:latin typeface="IBM Plex Sans"/>
              </a:defRPr>
            </a:pPr>
            <a:r>
              <a:rPr sz="1550" b="1">
                <a:solidFill>
                  <a:srgbClr val="202A38"/>
                </a:solidFill>
                <a:latin typeface="IBM Plex Sans"/>
              </a:rPr>
              <a:t>Full portfolio allocation</a:t>
            </a:r>
          </a:p>
        </p:txBody>
      </p:sp>
      <p:sp>
        <p:nvSpPr>
          <p:cNvPr id="30" name="TextBox 29"/>
          <p:cNvSpPr txBox="1"/>
          <p:nvPr/>
        </p:nvSpPr>
        <p:spPr>
          <a:xfrm>
            <a:off x="3479800" y="4775200"/>
            <a:ext cx="2819400" cy="4826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Constrained action and start year</a:t>
            </a:r>
          </a:p>
          <a:p>
            <a:pPr algn="l">
              <a:lnSpc>
                <a:spcPct val="104000"/>
              </a:lnSpc>
              <a:spcAft>
                <a:spcPts val="200"/>
              </a:spcAft>
              <a:defRPr sz="1300" b="0">
                <a:solidFill>
                  <a:srgbClr val="657080"/>
                </a:solidFill>
                <a:latin typeface="IBM Plex Sans"/>
              </a:defRPr>
            </a:pPr>
            <a:r>
              <a:rPr sz="1300" b="0">
                <a:solidFill>
                  <a:srgbClr val="657080"/>
                </a:solidFill>
                <a:latin typeface="IBM Plex Sans"/>
              </a:rPr>
              <a:t>for the whole population.</a:t>
            </a:r>
          </a:p>
        </p:txBody>
      </p:sp>
      <p:cxnSp>
        <p:nvCxnSpPr>
          <p:cNvPr id="31" name="Connector 30"/>
          <p:cNvCxnSpPr/>
          <p:nvPr/>
        </p:nvCxnSpPr>
        <p:spPr>
          <a:xfrm>
            <a:off x="6451600" y="3187700"/>
            <a:ext cx="4953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946900" y="3187700"/>
            <a:ext cx="0" cy="8255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46900" y="4013200"/>
            <a:ext cx="5080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451600" y="4800600"/>
            <a:ext cx="4953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946900" y="4013200"/>
            <a:ext cx="0" cy="7874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946900" y="4013200"/>
            <a:ext cx="5080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454900" y="3187700"/>
            <a:ext cx="4381500" cy="1663700"/>
          </a:xfrm>
          <a:prstGeom prst="roundRect">
            <a:avLst>
              <a:gd name="adj" fmla="val 8000"/>
            </a:avLst>
          </a:prstGeom>
          <a:solidFill>
            <a:srgbClr val="E9F6F3"/>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454900" y="3187700"/>
            <a:ext cx="50800" cy="1663700"/>
          </a:xfrm>
          <a:prstGeom prst="rect">
            <a:avLst/>
          </a:prstGeom>
          <a:solidFill>
            <a:srgbClr val="00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07300" y="3327400"/>
            <a:ext cx="4089400" cy="279400"/>
          </a:xfrm>
          <a:prstGeom prst="rect">
            <a:avLst/>
          </a:prstGeom>
          <a:noFill/>
        </p:spPr>
        <p:txBody>
          <a:bodyPr wrap="square" lIns="0" tIns="0" rIns="0" bIns="0">
            <a:spAutoFit/>
          </a:bodyPr>
          <a:lstStyle/>
          <a:p>
            <a:pPr algn="l">
              <a:lnSpc>
                <a:spcPct val="104000"/>
              </a:lnSpc>
              <a:spcAft>
                <a:spcPts val="200"/>
              </a:spcAft>
              <a:defRPr sz="1700" b="1">
                <a:solidFill>
                  <a:srgbClr val="202A38"/>
                </a:solidFill>
                <a:latin typeface="IBM Plex Sans"/>
              </a:defRPr>
            </a:pPr>
            <a:r>
              <a:rPr sz="1700" b="1">
                <a:solidFill>
                  <a:srgbClr val="202A38"/>
                </a:solidFill>
                <a:latin typeface="IBM Plex Sans"/>
              </a:rPr>
              <a:t>Compare what changes</a:t>
            </a:r>
          </a:p>
        </p:txBody>
      </p:sp>
      <p:sp>
        <p:nvSpPr>
          <p:cNvPr id="40" name="TextBox 39"/>
          <p:cNvSpPr txBox="1"/>
          <p:nvPr/>
        </p:nvSpPr>
        <p:spPr>
          <a:xfrm>
            <a:off x="7607300" y="3683000"/>
            <a:ext cx="4076700" cy="11176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Which assets change action?</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Where does the portfolio choose differently?</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Which assumptions drive the difference?</a:t>
            </a:r>
          </a:p>
        </p:txBody>
      </p:sp>
      <p:sp>
        <p:nvSpPr>
          <p:cNvPr id="41" name="Rectangle 40"/>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44" name="TextBox 43"/>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A sensitivity view of asset choices, portfolio choices and their differences.</a:t>
            </a:r>
          </a:p>
        </p:txBody>
      </p:sp>
      <p:sp>
        <p:nvSpPr>
          <p:cNvPr id="45" name="TextBox 44"/>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Filtering the asset table does not rerun the full portfolio plan. Results are synthetic experiments.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55600" y="215900"/>
            <a:ext cx="11506200" cy="546100"/>
          </a:xfrm>
          <a:prstGeom prst="rect">
            <a:avLst/>
          </a:prstGeom>
          <a:noFill/>
        </p:spPr>
        <p:txBody>
          <a:bodyPr wrap="square" lIns="0" tIns="0" rIns="0" bIns="0">
            <a:spAutoFit/>
          </a:bodyPr>
          <a:lstStyle/>
          <a:p>
            <a:pPr algn="l">
              <a:lnSpc>
                <a:spcPct val="104000"/>
              </a:lnSpc>
              <a:spcAft>
                <a:spcPts val="200"/>
              </a:spcAft>
              <a:defRPr sz="2900" b="0">
                <a:solidFill>
                  <a:srgbClr val="202A38"/>
                </a:solidFill>
                <a:latin typeface="IBM Plex Sans Light"/>
              </a:defRPr>
            </a:pPr>
            <a:r>
              <a:rPr sz="2900" b="0">
                <a:solidFill>
                  <a:srgbClr val="202A38"/>
                </a:solidFill>
                <a:latin typeface="IBM Plex Sans Light"/>
              </a:rPr>
              <a:t>Review segments | explain the result before acting</a:t>
            </a:r>
          </a:p>
        </p:txBody>
      </p:sp>
      <p:sp>
        <p:nvSpPr>
          <p:cNvPr id="3" name="TextBox 2"/>
          <p:cNvSpPr txBox="1"/>
          <p:nvPr/>
        </p:nvSpPr>
        <p:spPr>
          <a:xfrm>
            <a:off x="368300" y="812800"/>
            <a:ext cx="11430000" cy="381000"/>
          </a:xfrm>
          <a:prstGeom prst="rect">
            <a:avLst/>
          </a:prstGeom>
          <a:noFill/>
        </p:spPr>
        <p:txBody>
          <a:bodyPr wrap="square" lIns="0" tIns="0" rIns="0" bIns="0">
            <a:spAutoFit/>
          </a:bodyPr>
          <a:lstStyle/>
          <a:p>
            <a:pPr algn="l">
              <a:lnSpc>
                <a:spcPct val="104000"/>
              </a:lnSpc>
              <a:spcAft>
                <a:spcPts val="200"/>
              </a:spcAft>
              <a:defRPr sz="1300" b="0">
                <a:solidFill>
                  <a:srgbClr val="657080"/>
                </a:solidFill>
                <a:latin typeface="IBM Plex Sans"/>
              </a:defRPr>
            </a:pPr>
            <a:r>
              <a:rPr sz="1300" b="0">
                <a:solidFill>
                  <a:srgbClr val="657080"/>
                </a:solidFill>
                <a:latin typeface="IBM Plex Sans"/>
              </a:rPr>
              <a:t>Use diagnostics, the model map and the evidence trail to explain the recommendation and its limits.</a:t>
            </a:r>
          </a:p>
        </p:txBody>
      </p:sp>
      <p:cxnSp>
        <p:nvCxnSpPr>
          <p:cNvPr id="4" name="Connector 3"/>
          <p:cNvCxnSpPr/>
          <p:nvPr/>
        </p:nvCxnSpPr>
        <p:spPr>
          <a:xfrm>
            <a:off x="355600" y="1257300"/>
            <a:ext cx="11480800" cy="0"/>
          </a:xfrm>
          <a:prstGeom prst="line">
            <a:avLst/>
          </a:prstGeom>
          <a:ln w="127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8300" y="1422400"/>
            <a:ext cx="1016000" cy="215900"/>
          </a:xfrm>
          <a:prstGeom prst="rect">
            <a:avLst/>
          </a:prstGeom>
          <a:noFill/>
        </p:spPr>
        <p:txBody>
          <a:bodyPr wrap="square" lIns="0" tIns="0" rIns="0" bIns="0">
            <a:spAutoFit/>
          </a:bodyPr>
          <a:lstStyle/>
          <a:p>
            <a:pPr algn="l">
              <a:lnSpc>
                <a:spcPct val="104000"/>
              </a:lnSpc>
              <a:spcAft>
                <a:spcPts val="200"/>
              </a:spcAft>
              <a:defRPr sz="950" b="1">
                <a:solidFill>
                  <a:srgbClr val="657080"/>
                </a:solidFill>
                <a:latin typeface="IBM Plex Sans"/>
              </a:defRPr>
            </a:pPr>
            <a:r>
              <a:rPr sz="950" b="1">
                <a:solidFill>
                  <a:srgbClr val="657080"/>
                </a:solidFill>
                <a:latin typeface="IBM Plex Sans"/>
              </a:rPr>
              <a:t>OPEN TABS</a:t>
            </a:r>
          </a:p>
        </p:txBody>
      </p:sp>
      <p:sp>
        <p:nvSpPr>
          <p:cNvPr id="6" name="Rectangle 5">
            <a:hlinkClick r:id="rId3"/>
          </p:cNvPr>
          <p:cNvSpPr/>
          <p:nvPr/>
        </p:nvSpPr>
        <p:spPr>
          <a:xfrm>
            <a:off x="1435100" y="1346200"/>
            <a:ext cx="68326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hlinkClick r:id="rId3"/>
          </p:cNvPr>
          <p:cNvSpPr txBox="1"/>
          <p:nvPr/>
        </p:nvSpPr>
        <p:spPr>
          <a:xfrm>
            <a:off x="1536700" y="1409700"/>
            <a:ext cx="48005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Models</a:t>
            </a:r>
          </a:p>
        </p:txBody>
      </p:sp>
      <p:sp>
        <p:nvSpPr>
          <p:cNvPr id="8" name="Rectangle 7">
            <a:hlinkClick r:id="rId4"/>
          </p:cNvPr>
          <p:cNvSpPr/>
          <p:nvPr/>
        </p:nvSpPr>
        <p:spPr>
          <a:xfrm>
            <a:off x="2207260" y="1346200"/>
            <a:ext cx="112522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p:cNvPr>
          <p:cNvSpPr txBox="1"/>
          <p:nvPr/>
        </p:nvSpPr>
        <p:spPr>
          <a:xfrm>
            <a:off x="2308860" y="1409700"/>
            <a:ext cx="922019"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Architecture</a:t>
            </a:r>
          </a:p>
        </p:txBody>
      </p:sp>
      <p:sp>
        <p:nvSpPr>
          <p:cNvPr id="10" name="Rectangle 9">
            <a:hlinkClick r:id="rId5"/>
          </p:cNvPr>
          <p:cNvSpPr/>
          <p:nvPr/>
        </p:nvSpPr>
        <p:spPr>
          <a:xfrm>
            <a:off x="3421379" y="1346200"/>
            <a:ext cx="609600" cy="2794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hlinkClick r:id="rId5"/>
          </p:cNvPr>
          <p:cNvSpPr txBox="1"/>
          <p:nvPr/>
        </p:nvSpPr>
        <p:spPr>
          <a:xfrm>
            <a:off x="3522979" y="1409700"/>
            <a:ext cx="406400" cy="203200"/>
          </a:xfrm>
          <a:prstGeom prst="rect">
            <a:avLst/>
          </a:prstGeom>
          <a:noFill/>
        </p:spPr>
        <p:txBody>
          <a:bodyPr wrap="square" lIns="0" tIns="0" rIns="0" bIns="0">
            <a:spAutoFit/>
          </a:bodyPr>
          <a:lstStyle/>
          <a:p>
            <a:pPr algn="l">
              <a:lnSpc>
                <a:spcPct val="104000"/>
              </a:lnSpc>
              <a:spcAft>
                <a:spcPts val="200"/>
              </a:spcAft>
              <a:defRPr sz="1030" b="1">
                <a:solidFill>
                  <a:srgbClr val="0F62FE"/>
                </a:solidFill>
                <a:latin typeface="IBM Plex Sans"/>
              </a:defRPr>
            </a:pPr>
            <a:r>
              <a:rPr sz="1030" b="1">
                <a:solidFill>
                  <a:srgbClr val="0F62FE"/>
                </a:solidFill>
                <a:latin typeface="IBM Plex Sans"/>
              </a:rPr>
              <a:t>Audit</a:t>
            </a:r>
          </a:p>
        </p:txBody>
      </p:sp>
      <p:sp>
        <p:nvSpPr>
          <p:cNvPr id="12" name="TextBox 11"/>
          <p:cNvSpPr txBox="1"/>
          <p:nvPr/>
        </p:nvSpPr>
        <p:spPr>
          <a:xfrm>
            <a:off x="368300" y="6642100"/>
            <a:ext cx="11049000" cy="165100"/>
          </a:xfrm>
          <a:prstGeom prst="rect">
            <a:avLst/>
          </a:prstGeom>
          <a:noFill/>
        </p:spPr>
        <p:txBody>
          <a:bodyPr wrap="square" lIns="0" tIns="0" rIns="0" bIns="0">
            <a:spAutoFit/>
          </a:bodyPr>
          <a:lstStyle/>
          <a:p>
            <a:pPr algn="l">
              <a:lnSpc>
                <a:spcPct val="104000"/>
              </a:lnSpc>
              <a:spcAft>
                <a:spcPts val="200"/>
              </a:spcAft>
              <a:defRPr sz="850" b="0">
                <a:solidFill>
                  <a:srgbClr val="657080"/>
                </a:solidFill>
                <a:latin typeface="IBM Plex Sans"/>
              </a:defRPr>
            </a:pPr>
            <a:r>
              <a:rPr sz="850" b="0">
                <a:solidFill>
                  <a:srgbClr val="657080"/>
                </a:solidFill>
                <a:latin typeface="IBM Plex Sans"/>
              </a:rPr>
              <a:t>Demo overview  |  Fictional assets and saved results  |  25 September 2026</a:t>
            </a:r>
          </a:p>
        </p:txBody>
      </p:sp>
      <p:sp>
        <p:nvSpPr>
          <p:cNvPr id="13" name="TextBox 12"/>
          <p:cNvSpPr txBox="1"/>
          <p:nvPr/>
        </p:nvSpPr>
        <p:spPr>
          <a:xfrm>
            <a:off x="11493500" y="6616700"/>
            <a:ext cx="355600" cy="190500"/>
          </a:xfrm>
          <a:prstGeom prst="rect">
            <a:avLst/>
          </a:prstGeom>
          <a:noFill/>
        </p:spPr>
        <p:txBody>
          <a:bodyPr wrap="square" lIns="0" tIns="0" rIns="0" bIns="0">
            <a:spAutoFit/>
          </a:bodyPr>
          <a:lstStyle/>
          <a:p>
            <a:pPr algn="ctr">
              <a:lnSpc>
                <a:spcPct val="104000"/>
              </a:lnSpc>
              <a:spcAft>
                <a:spcPts val="200"/>
              </a:spcAft>
              <a:defRPr sz="1000" b="0">
                <a:solidFill>
                  <a:srgbClr val="657080"/>
                </a:solidFill>
                <a:latin typeface="IBM Plex Sans"/>
              </a:defRPr>
            </a:pPr>
            <a:r>
              <a:rPr sz="1000" b="0">
                <a:solidFill>
                  <a:srgbClr val="657080"/>
                </a:solidFill>
                <a:latin typeface="IBM Plex Sans"/>
              </a:rPr>
              <a:t>11</a:t>
            </a:r>
          </a:p>
        </p:txBody>
      </p:sp>
      <p:sp>
        <p:nvSpPr>
          <p:cNvPr id="14" name="TextBox 13"/>
          <p:cNvSpPr txBox="1"/>
          <p:nvPr/>
        </p:nvSpPr>
        <p:spPr>
          <a:xfrm>
            <a:off x="355600" y="1930400"/>
            <a:ext cx="863600" cy="2540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INPUT</a:t>
            </a:r>
          </a:p>
        </p:txBody>
      </p:sp>
      <p:sp>
        <p:nvSpPr>
          <p:cNvPr id="15" name="TextBox 14"/>
          <p:cNvSpPr txBox="1"/>
          <p:nvPr/>
        </p:nvSpPr>
        <p:spPr>
          <a:xfrm>
            <a:off x="1422400" y="1866900"/>
            <a:ext cx="10299700" cy="546100"/>
          </a:xfrm>
          <a:prstGeom prst="rect">
            <a:avLst/>
          </a:prstGeom>
          <a:noFill/>
        </p:spPr>
        <p:txBody>
          <a:bodyPr wrap="square" lIns="0" tIns="0" rIns="0" bIns="0">
            <a:spAutoFit/>
          </a:bodyPr>
          <a:lstStyle/>
          <a:p>
            <a:pPr algn="l">
              <a:lnSpc>
                <a:spcPct val="104000"/>
              </a:lnSpc>
              <a:spcAft>
                <a:spcPts val="200"/>
              </a:spcAft>
              <a:defRPr sz="1500" b="0">
                <a:solidFill>
                  <a:srgbClr val="657080"/>
                </a:solidFill>
                <a:latin typeface="IBM Plex Sans"/>
              </a:defRPr>
            </a:pPr>
            <a:r>
              <a:rPr sz="1500" b="0">
                <a:solidFill>
                  <a:srgbClr val="657080"/>
                </a:solidFill>
                <a:latin typeface="IBM Plex Sans"/>
              </a:rPr>
              <a:t>The candidate action and portfolio plan + diagnostic results + assumptions and source information.</a:t>
            </a:r>
          </a:p>
        </p:txBody>
      </p:sp>
      <p:cxnSp>
        <p:nvCxnSpPr>
          <p:cNvPr id="16" name="Connector 15"/>
          <p:cNvCxnSpPr/>
          <p:nvPr/>
        </p:nvCxnSpPr>
        <p:spPr>
          <a:xfrm>
            <a:off x="355600" y="2514600"/>
            <a:ext cx="11480800" cy="0"/>
          </a:xfrm>
          <a:prstGeom prst="line">
            <a:avLst/>
          </a:prstGeom>
          <a:ln w="8255">
            <a:solidFill>
              <a:srgbClr val="D5DFE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5600" y="2730500"/>
            <a:ext cx="3441700" cy="749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55600" y="2730500"/>
            <a:ext cx="50800" cy="749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8000" y="2870200"/>
            <a:ext cx="31496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Models</a:t>
            </a:r>
          </a:p>
        </p:txBody>
      </p:sp>
      <p:sp>
        <p:nvSpPr>
          <p:cNvPr id="20" name="TextBox 19"/>
          <p:cNvSpPr txBox="1"/>
          <p:nvPr/>
        </p:nvSpPr>
        <p:spPr>
          <a:xfrm>
            <a:off x="508000" y="3225800"/>
            <a:ext cx="3136900" cy="203200"/>
          </a:xfrm>
          <a:prstGeom prst="rect">
            <a:avLst/>
          </a:prstGeom>
          <a:noFill/>
        </p:spPr>
        <p:txBody>
          <a:bodyPr wrap="square" lIns="0" tIns="0" rIns="0" bIns="0">
            <a:spAutoFit/>
          </a:bodyPr>
          <a:lstStyle/>
          <a:p>
            <a:pPr algn="l">
              <a:lnSpc>
                <a:spcPct val="104000"/>
              </a:lnSpc>
              <a:spcAft>
                <a:spcPts val="200"/>
              </a:spcAft>
              <a:defRPr sz="1200" b="0">
                <a:solidFill>
                  <a:srgbClr val="657080"/>
                </a:solidFill>
                <a:latin typeface="IBM Plex Sans"/>
              </a:defRPr>
            </a:pPr>
            <a:r>
              <a:rPr sz="1200" b="0">
                <a:solidFill>
                  <a:srgbClr val="657080"/>
                </a:solidFill>
                <a:latin typeface="IBM Plex Sans"/>
              </a:rPr>
              <a:t>Inspect diagnostics and data status.</a:t>
            </a:r>
          </a:p>
        </p:txBody>
      </p:sp>
      <p:sp>
        <p:nvSpPr>
          <p:cNvPr id="21" name="Rounded Rectangle 20"/>
          <p:cNvSpPr/>
          <p:nvPr/>
        </p:nvSpPr>
        <p:spPr>
          <a:xfrm>
            <a:off x="355600" y="3759200"/>
            <a:ext cx="3441700" cy="749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55600" y="3759200"/>
            <a:ext cx="50800" cy="749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8000" y="3898900"/>
            <a:ext cx="31496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Architecture</a:t>
            </a:r>
          </a:p>
        </p:txBody>
      </p:sp>
      <p:sp>
        <p:nvSpPr>
          <p:cNvPr id="24" name="TextBox 23"/>
          <p:cNvSpPr txBox="1"/>
          <p:nvPr/>
        </p:nvSpPr>
        <p:spPr>
          <a:xfrm>
            <a:off x="508000" y="4254500"/>
            <a:ext cx="3136900" cy="203200"/>
          </a:xfrm>
          <a:prstGeom prst="rect">
            <a:avLst/>
          </a:prstGeom>
          <a:noFill/>
        </p:spPr>
        <p:txBody>
          <a:bodyPr wrap="square" lIns="0" tIns="0" rIns="0" bIns="0">
            <a:spAutoFit/>
          </a:bodyPr>
          <a:lstStyle/>
          <a:p>
            <a:pPr algn="l">
              <a:lnSpc>
                <a:spcPct val="104000"/>
              </a:lnSpc>
              <a:spcAft>
                <a:spcPts val="200"/>
              </a:spcAft>
              <a:defRPr sz="1200" b="0">
                <a:solidFill>
                  <a:srgbClr val="657080"/>
                </a:solidFill>
                <a:latin typeface="IBM Plex Sans"/>
              </a:defRPr>
            </a:pPr>
            <a:r>
              <a:rPr sz="1200" b="0">
                <a:solidFill>
                  <a:srgbClr val="657080"/>
                </a:solidFill>
                <a:latin typeface="IBM Plex Sans"/>
              </a:rPr>
              <a:t>Understand the calculation path.</a:t>
            </a:r>
          </a:p>
        </p:txBody>
      </p:sp>
      <p:sp>
        <p:nvSpPr>
          <p:cNvPr id="25" name="Rounded Rectangle 24"/>
          <p:cNvSpPr/>
          <p:nvPr/>
        </p:nvSpPr>
        <p:spPr>
          <a:xfrm>
            <a:off x="355600" y="4787900"/>
            <a:ext cx="3441700" cy="7493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55600" y="4787900"/>
            <a:ext cx="50800" cy="7493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8000" y="4927600"/>
            <a:ext cx="3149600" cy="279400"/>
          </a:xfrm>
          <a:prstGeom prst="rect">
            <a:avLst/>
          </a:prstGeom>
          <a:noFill/>
        </p:spPr>
        <p:txBody>
          <a:bodyPr wrap="square" lIns="0" tIns="0" rIns="0" bIns="0">
            <a:spAutoFit/>
          </a:bodyPr>
          <a:lstStyle/>
          <a:p>
            <a:pPr algn="l">
              <a:lnSpc>
                <a:spcPct val="104000"/>
              </a:lnSpc>
              <a:spcAft>
                <a:spcPts val="200"/>
              </a:spcAft>
              <a:defRPr sz="1450" b="1">
                <a:solidFill>
                  <a:srgbClr val="202A38"/>
                </a:solidFill>
                <a:latin typeface="IBM Plex Sans"/>
              </a:defRPr>
            </a:pPr>
            <a:r>
              <a:rPr sz="1450" b="1">
                <a:solidFill>
                  <a:srgbClr val="202A38"/>
                </a:solidFill>
                <a:latin typeface="IBM Plex Sans"/>
              </a:rPr>
              <a:t>Audit</a:t>
            </a:r>
          </a:p>
        </p:txBody>
      </p:sp>
      <p:sp>
        <p:nvSpPr>
          <p:cNvPr id="28" name="TextBox 27"/>
          <p:cNvSpPr txBox="1"/>
          <p:nvPr/>
        </p:nvSpPr>
        <p:spPr>
          <a:xfrm>
            <a:off x="508000" y="5283200"/>
            <a:ext cx="3136900" cy="203200"/>
          </a:xfrm>
          <a:prstGeom prst="rect">
            <a:avLst/>
          </a:prstGeom>
          <a:noFill/>
        </p:spPr>
        <p:txBody>
          <a:bodyPr wrap="square" lIns="0" tIns="0" rIns="0" bIns="0">
            <a:spAutoFit/>
          </a:bodyPr>
          <a:lstStyle/>
          <a:p>
            <a:pPr algn="l">
              <a:lnSpc>
                <a:spcPct val="104000"/>
              </a:lnSpc>
              <a:spcAft>
                <a:spcPts val="200"/>
              </a:spcAft>
              <a:defRPr sz="1200" b="0">
                <a:solidFill>
                  <a:srgbClr val="657080"/>
                </a:solidFill>
                <a:latin typeface="IBM Plex Sans"/>
              </a:defRPr>
            </a:pPr>
            <a:r>
              <a:rPr sz="1200" b="0">
                <a:solidFill>
                  <a:srgbClr val="657080"/>
                </a:solidFill>
                <a:latin typeface="IBM Plex Sans"/>
              </a:rPr>
              <a:t>Review input readiness and gaps.</a:t>
            </a:r>
          </a:p>
        </p:txBody>
      </p:sp>
      <p:cxnSp>
        <p:nvCxnSpPr>
          <p:cNvPr id="29" name="Connector 28"/>
          <p:cNvCxnSpPr/>
          <p:nvPr/>
        </p:nvCxnSpPr>
        <p:spPr>
          <a:xfrm>
            <a:off x="3797300" y="3111500"/>
            <a:ext cx="3937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191000" y="3111500"/>
            <a:ext cx="0" cy="1028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191000" y="4140200"/>
            <a:ext cx="469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797300" y="4140200"/>
            <a:ext cx="3937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91000" y="4140200"/>
            <a:ext cx="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91000" y="4140200"/>
            <a:ext cx="469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797300" y="5168900"/>
            <a:ext cx="393700" cy="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91000" y="4140200"/>
            <a:ext cx="0" cy="1028700"/>
          </a:xfrm>
          <a:prstGeom prst="line">
            <a:avLst/>
          </a:prstGeom>
          <a:ln w="15875">
            <a:solidFill>
              <a:srgbClr val="0F62F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191000" y="4140200"/>
            <a:ext cx="469900" cy="0"/>
          </a:xfrm>
          <a:prstGeom prst="line">
            <a:avLst/>
          </a:prstGeom>
          <a:ln w="15875">
            <a:solidFill>
              <a:srgbClr val="0F62FE"/>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660900" y="3251200"/>
            <a:ext cx="3175000" cy="1778000"/>
          </a:xfrm>
          <a:prstGeom prst="roundRect">
            <a:avLst>
              <a:gd name="adj" fmla="val 8000"/>
            </a:avLst>
          </a:prstGeom>
          <a:solidFill>
            <a:srgbClr val="EDF5FF"/>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660900" y="3251200"/>
            <a:ext cx="50800" cy="17780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13300" y="3390900"/>
            <a:ext cx="2882900" cy="279400"/>
          </a:xfrm>
          <a:prstGeom prst="rect">
            <a:avLst/>
          </a:prstGeom>
          <a:noFill/>
        </p:spPr>
        <p:txBody>
          <a:bodyPr wrap="square" lIns="0" tIns="0" rIns="0" bIns="0">
            <a:spAutoFit/>
          </a:bodyPr>
          <a:lstStyle/>
          <a:p>
            <a:pPr algn="l">
              <a:lnSpc>
                <a:spcPct val="104000"/>
              </a:lnSpc>
              <a:spcAft>
                <a:spcPts val="200"/>
              </a:spcAft>
              <a:defRPr sz="1700" b="1">
                <a:solidFill>
                  <a:srgbClr val="202A38"/>
                </a:solidFill>
                <a:latin typeface="IBM Plex Sans"/>
              </a:defRPr>
            </a:pPr>
            <a:r>
              <a:rPr sz="1700" b="1">
                <a:solidFill>
                  <a:srgbClr val="202A38"/>
                </a:solidFill>
                <a:latin typeface="IBM Plex Sans"/>
              </a:rPr>
              <a:t>Explain the decision</a:t>
            </a:r>
          </a:p>
        </p:txBody>
      </p:sp>
      <p:sp>
        <p:nvSpPr>
          <p:cNvPr id="41" name="TextBox 40"/>
          <p:cNvSpPr txBox="1"/>
          <p:nvPr/>
        </p:nvSpPr>
        <p:spPr>
          <a:xfrm>
            <a:off x="4813300" y="3746500"/>
            <a:ext cx="2870200" cy="12319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Why this candidate?</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What could make it wrong?</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Which inputs need verification?</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What changes the portfolio fit?</a:t>
            </a:r>
          </a:p>
        </p:txBody>
      </p:sp>
      <p:cxnSp>
        <p:nvCxnSpPr>
          <p:cNvPr id="42" name="Connector 41"/>
          <p:cNvCxnSpPr/>
          <p:nvPr/>
        </p:nvCxnSpPr>
        <p:spPr>
          <a:xfrm>
            <a:off x="7835900" y="4140200"/>
            <a:ext cx="622300" cy="0"/>
          </a:xfrm>
          <a:prstGeom prst="line">
            <a:avLst/>
          </a:prstGeom>
          <a:ln w="15875">
            <a:solidFill>
              <a:srgbClr val="A65A00"/>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458200" y="4140200"/>
            <a:ext cx="0" cy="0"/>
          </a:xfrm>
          <a:prstGeom prst="line">
            <a:avLst/>
          </a:prstGeom>
          <a:ln w="15875">
            <a:solidFill>
              <a:srgbClr val="A65A00"/>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58200" y="4140200"/>
            <a:ext cx="533400" cy="0"/>
          </a:xfrm>
          <a:prstGeom prst="line">
            <a:avLst/>
          </a:prstGeom>
          <a:ln w="15875">
            <a:solidFill>
              <a:srgbClr val="A65A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991600" y="3352800"/>
            <a:ext cx="2844800" cy="1562100"/>
          </a:xfrm>
          <a:prstGeom prst="roundRect">
            <a:avLst>
              <a:gd name="adj" fmla="val 8000"/>
            </a:avLst>
          </a:prstGeom>
          <a:solidFill>
            <a:srgbClr val="FFF1D8"/>
          </a:solidFill>
          <a:ln w="952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991600" y="3352800"/>
            <a:ext cx="50800" cy="1562100"/>
          </a:xfrm>
          <a:prstGeom prst="rect">
            <a:avLst/>
          </a:prstGeom>
          <a:solidFill>
            <a:srgbClr val="A6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144000" y="3492500"/>
            <a:ext cx="2552700" cy="279400"/>
          </a:xfrm>
          <a:prstGeom prst="rect">
            <a:avLst/>
          </a:prstGeom>
          <a:noFill/>
        </p:spPr>
        <p:txBody>
          <a:bodyPr wrap="square" lIns="0" tIns="0" rIns="0" bIns="0">
            <a:spAutoFit/>
          </a:bodyPr>
          <a:lstStyle/>
          <a:p>
            <a:pPr algn="l">
              <a:lnSpc>
                <a:spcPct val="104000"/>
              </a:lnSpc>
              <a:spcAft>
                <a:spcPts val="200"/>
              </a:spcAft>
              <a:defRPr sz="1600" b="1">
                <a:solidFill>
                  <a:srgbClr val="202A38"/>
                </a:solidFill>
                <a:latin typeface="IBM Plex Sans"/>
              </a:defRPr>
            </a:pPr>
            <a:r>
              <a:rPr sz="1600" b="1">
                <a:solidFill>
                  <a:srgbClr val="202A38"/>
                </a:solidFill>
                <a:latin typeface="IBM Plex Sans"/>
              </a:rPr>
              <a:t>Human investment review</a:t>
            </a:r>
          </a:p>
        </p:txBody>
      </p:sp>
      <p:sp>
        <p:nvSpPr>
          <p:cNvPr id="48" name="TextBox 47"/>
          <p:cNvSpPr txBox="1"/>
          <p:nvPr/>
        </p:nvSpPr>
        <p:spPr>
          <a:xfrm>
            <a:off x="9144000" y="3848100"/>
            <a:ext cx="2540000" cy="1016000"/>
          </a:xfrm>
          <a:prstGeom prst="rect">
            <a:avLst/>
          </a:prstGeom>
          <a:noFill/>
        </p:spPr>
        <p:txBody>
          <a:bodyPr wrap="square" lIns="0" tIns="0" rIns="0" bIns="0">
            <a:spAutoFit/>
          </a:bodyPr>
          <a:lstStyle/>
          <a:p>
            <a:pPr algn="l">
              <a:lnSpc>
                <a:spcPct val="104000"/>
              </a:lnSpc>
              <a:spcAft>
                <a:spcPts val="200"/>
              </a:spcAft>
              <a:defRPr sz="1350" b="0">
                <a:solidFill>
                  <a:srgbClr val="657080"/>
                </a:solidFill>
                <a:latin typeface="IBM Plex Sans"/>
              </a:defRPr>
            </a:pPr>
            <a:r>
              <a:rPr sz="1350" b="0">
                <a:solidFill>
                  <a:srgbClr val="657080"/>
                </a:solidFill>
                <a:latin typeface="IBM Plex Sans"/>
              </a:rPr>
              <a:t>Proceed to underwriting,</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request more evidence,</a:t>
            </a:r>
          </a:p>
          <a:p>
            <a:pPr algn="l">
              <a:lnSpc>
                <a:spcPct val="104000"/>
              </a:lnSpc>
              <a:spcAft>
                <a:spcPts val="200"/>
              </a:spcAft>
              <a:defRPr sz="1350" b="0">
                <a:solidFill>
                  <a:srgbClr val="657080"/>
                </a:solidFill>
                <a:latin typeface="IBM Plex Sans"/>
              </a:defRPr>
            </a:pPr>
            <a:r>
              <a:rPr sz="1350" b="0">
                <a:solidFill>
                  <a:srgbClr val="657080"/>
                </a:solidFill>
                <a:latin typeface="IBM Plex Sans"/>
              </a:rPr>
              <a:t>or revise the proposal.</a:t>
            </a:r>
          </a:p>
        </p:txBody>
      </p:sp>
      <p:sp>
        <p:nvSpPr>
          <p:cNvPr id="49" name="Rectangle 48"/>
          <p:cNvSpPr/>
          <p:nvPr/>
        </p:nvSpPr>
        <p:spPr>
          <a:xfrm>
            <a:off x="355600" y="5892800"/>
            <a:ext cx="11480800" cy="6096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355600" y="5892800"/>
            <a:ext cx="50800" cy="6096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0700" y="6032500"/>
            <a:ext cx="889000" cy="279400"/>
          </a:xfrm>
          <a:prstGeom prst="rect">
            <a:avLst/>
          </a:prstGeom>
          <a:noFill/>
        </p:spPr>
        <p:txBody>
          <a:bodyPr wrap="square" lIns="0" tIns="0" rIns="0" bIns="0">
            <a:spAutoFit/>
          </a:bodyPr>
          <a:lstStyle/>
          <a:p>
            <a:pPr algn="l">
              <a:lnSpc>
                <a:spcPct val="104000"/>
              </a:lnSpc>
              <a:spcAft>
                <a:spcPts val="200"/>
              </a:spcAft>
              <a:defRPr sz="1100" b="1">
                <a:solidFill>
                  <a:srgbClr val="0F62FE"/>
                </a:solidFill>
                <a:latin typeface="IBM Plex Sans"/>
              </a:defRPr>
            </a:pPr>
            <a:r>
              <a:rPr sz="1100" b="1">
                <a:solidFill>
                  <a:srgbClr val="0F62FE"/>
                </a:solidFill>
                <a:latin typeface="IBM Plex Sans"/>
              </a:rPr>
              <a:t>OUTPUT</a:t>
            </a:r>
          </a:p>
        </p:txBody>
      </p:sp>
      <p:sp>
        <p:nvSpPr>
          <p:cNvPr id="52" name="TextBox 51"/>
          <p:cNvSpPr txBox="1"/>
          <p:nvPr/>
        </p:nvSpPr>
        <p:spPr>
          <a:xfrm>
            <a:off x="1485900" y="6007100"/>
            <a:ext cx="10147300" cy="304800"/>
          </a:xfrm>
          <a:prstGeom prst="rect">
            <a:avLst/>
          </a:prstGeom>
          <a:noFill/>
        </p:spPr>
        <p:txBody>
          <a:bodyPr wrap="square" lIns="0" tIns="0" rIns="0" bIns="0">
            <a:spAutoFit/>
          </a:bodyPr>
          <a:lstStyle/>
          <a:p>
            <a:pPr algn="l">
              <a:lnSpc>
                <a:spcPct val="104000"/>
              </a:lnSpc>
              <a:spcAft>
                <a:spcPts val="200"/>
              </a:spcAft>
              <a:defRPr sz="1500" b="1">
                <a:solidFill>
                  <a:srgbClr val="0F62FE"/>
                </a:solidFill>
                <a:latin typeface="IBM Plex Sans"/>
              </a:defRPr>
            </a:pPr>
            <a:r>
              <a:rPr sz="1500" b="1">
                <a:solidFill>
                  <a:srgbClr val="0F62FE"/>
                </a:solidFill>
                <a:latin typeface="IBM Plex Sans"/>
              </a:rPr>
              <a:t>An understandable decision brief and a clear next review step.</a:t>
            </a:r>
          </a:p>
        </p:txBody>
      </p:sp>
      <p:sp>
        <p:nvSpPr>
          <p:cNvPr id="53" name="TextBox 52"/>
          <p:cNvSpPr txBox="1"/>
          <p:nvPr/>
        </p:nvSpPr>
        <p:spPr>
          <a:xfrm>
            <a:off x="1485900" y="6286500"/>
            <a:ext cx="10147300" cy="177800"/>
          </a:xfrm>
          <a:prstGeom prst="rect">
            <a:avLst/>
          </a:prstGeom>
          <a:noFill/>
        </p:spPr>
        <p:txBody>
          <a:bodyPr wrap="square" lIns="0" tIns="0" rIns="0" bIns="0">
            <a:spAutoFit/>
          </a:bodyPr>
          <a:lstStyle/>
          <a:p>
            <a:pPr algn="l">
              <a:lnSpc>
                <a:spcPct val="104000"/>
              </a:lnSpc>
              <a:spcAft>
                <a:spcPts val="200"/>
              </a:spcAft>
              <a:defRPr sz="1030" b="0">
                <a:solidFill>
                  <a:srgbClr val="657080"/>
                </a:solidFill>
                <a:latin typeface="IBM Plex Sans"/>
              </a:defRPr>
            </a:pPr>
            <a:r>
              <a:rPr sz="1030" b="0">
                <a:solidFill>
                  <a:srgbClr val="657080"/>
                </a:solidFill>
                <a:latin typeface="IBM Plex Sans"/>
              </a:rPr>
              <a:t>The dashboard supports analysis; investment approval and execution happen outside the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3002</Words>
  <Application>Microsoft Office PowerPoint</Application>
  <PresentationFormat>Widescreen</PresentationFormat>
  <Paragraphs>375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IBM Plex Sans</vt:lpstr>
      <vt:lpstr>Arial</vt:lpstr>
      <vt:lpstr>IBM Plex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Intelligence | Demo Workflows</dc:title>
  <dc:subject>Overall workflow, selection process and dashboard segments</dc:subject>
  <dc:creator>Portfolio Intelligence</dc:creator>
  <cp:keywords/>
  <dc:description>generated using python-pptx</dc:description>
  <cp:lastModifiedBy>Rohen Veera</cp:lastModifiedBy>
  <cp:revision>2</cp:revision>
  <dcterms:created xsi:type="dcterms:W3CDTF">2013-01-27T09:14:16Z</dcterms:created>
  <dcterms:modified xsi:type="dcterms:W3CDTF">2026-09-25T06:32:31Z</dcterms:modified>
  <cp:category/>
</cp:coreProperties>
</file>